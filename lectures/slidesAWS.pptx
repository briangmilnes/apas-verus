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2" Type="http://schemas.openxmlformats.org/officeDocument/2006/relationships/viewProps" Target="viewProps.xml" /><Relationship Id="rId6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4" Type="http://schemas.openxmlformats.org/officeDocument/2006/relationships/tableStyles" Target="tableStyles.xml" /><Relationship Id="rId6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AI Paired Proof Engineering Techniques and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Brian G. Milnes </a:t>
            </a:r>
            <a:r>
              <a:rPr>
                <a:hlinkClick r:id="rId2"/>
              </a:rPr>
              <a:t>briangmilnes@gmail.com</a:t>
            </a:r>
          </a:p>
          <a:p>
            <a:pPr lvl="0"/>
            <a:r>
              <a:rPr lang="en-US" sz="1800"/>
              <a:t>Experience, Results and Techniques in building</a:t>
            </a:r>
          </a:p>
          <a:p>
            <a:pPr lvl="0"/>
            <a:r>
              <a:rPr lang="en-US" sz="1800"/>
              <a:t>Algorithms Parallel and Sequential by Acar and Blelloch</a:t>
            </a:r>
          </a:p>
          <a:p>
            <a:pPr lvl="0"/>
            <a:r>
              <a:rPr lang="en-US" sz="1800"/>
              <a:t>in Rust</a:t>
            </a:r>
          </a:p>
          <a:p>
            <a:pPr lvl="0"/>
            <a:r>
              <a:rPr lang="en-US" sz="1800"/>
              <a:t>and then proving it in Verus.</a:t>
            </a:r>
          </a:p>
          <a:p>
            <a:pPr lvl="0"/>
            <a:r>
              <a:rPr lang="en-US" sz="1800"/>
              <a:t>Or </a:t>
            </a:r>
            <a:r>
              <a:rPr lang="en-US" sz="1800" b="1"/>
              <a:t>What Can We Prove Today and for How Much?</a:t>
            </a:r>
          </a:p>
          <a:p>
            <a:pPr lvl="0"/>
            <a:r>
              <a:rPr lang="en-US" sz="1800"/>
              <a:t>https://github.com/briangmilnes/{APAS-VERUS,APAS-AI}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Its a pleasure to speak here at the AWS Institute.</a:t>
            </a:r>
          </a:p>
          <a:p>
            <a:pPr lvl="0"/>
            <a:r>
              <a:rPr lang="en-US" sz="1800"/>
              <a:t>My Background</a:t>
            </a:r>
          </a:p>
          <a:p>
            <a:pPr lvl="0"/>
            <a:r>
              <a:rPr lang="en-US" sz="1800"/>
              <a:t>Algorithms Parallel and Sequential (APAS)</a:t>
            </a:r>
          </a:p>
          <a:p>
            <a:pPr lvl="0"/>
            <a:r>
              <a:rPr lang="en-US" sz="1800"/>
              <a:t>Rust - The Good, The Bad and the Ugly</a:t>
            </a:r>
          </a:p>
          <a:p>
            <a:pPr lvl="0"/>
            <a:r>
              <a:rPr lang="en-US" sz="1800"/>
              <a:t>APAS-AI - AI Paired Programming APAS in Rust</a:t>
            </a:r>
          </a:p>
          <a:p>
            <a:pPr lvl="0"/>
            <a:r>
              <a:rPr lang="en-US" sz="1800"/>
              <a:t>Verus - Proving Rust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 - AI Paired Proving APAS in Verus</a:t>
            </a:r>
          </a:p>
          <a:p>
            <a:pPr lvl="0"/>
            <a:r>
              <a:rPr lang="en-US" sz="1800"/>
              <a:t>Rusticate and Veracity - Software Engineering AI Paired Proving</a:t>
            </a:r>
          </a:p>
          <a:p>
            <a:pPr lvl="0"/>
            <a:r>
              <a:rPr lang="en-US" sz="1800"/>
              <a:t>Software Engineering in AI Paired Proving</a:t>
            </a:r>
          </a:p>
          <a:p>
            <a:pPr lvl="0"/>
            <a:r>
              <a:rPr lang="en-US" sz="1800"/>
              <a:t>CPR$ - how to measure costs and my costs</a:t>
            </a:r>
          </a:p>
          <a:p>
            <a:pPr lvl="0"/>
            <a:r>
              <a:rPr lang="en-US" sz="1800"/>
              <a:t>How Bad is Our Computer Security?</a:t>
            </a:r>
          </a:p>
          <a:p>
            <a:pPr lvl="0"/>
            <a:r>
              <a:rPr lang="en-US" sz="1800"/>
              <a:t>How much Proof do we need to save computer security?</a:t>
            </a:r>
          </a:p>
          <a:p>
            <a:pPr lvl="0"/>
            <a:r>
              <a:rPr lang="en-US" sz="1800"/>
              <a:t>Review of the Talk</a:t>
            </a:r>
          </a:p>
          <a:p>
            <a:pPr lvl="0"/>
            <a:r>
              <a:rPr lang="en-US" sz="1800"/>
              <a:t>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B.Sc. Applied Math (Computer Science), Carnegie Mellon</a:t>
            </a:r>
          </a:p>
          <a:p>
            <a:pPr lvl="0"/>
            <a:r>
              <a:rPr lang="en-US" sz="1800"/>
              <a:t>2 years of AI PL development (Carnegie Group), my first startup.</a:t>
            </a:r>
          </a:p>
          <a:p>
            <a:pPr lvl="0"/>
            <a:r>
              <a:rPr lang="en-US" sz="1800"/>
              <a:t>7 years of (symbolic) AI Research (Soar Group, CMU CS)</a:t>
            </a:r>
          </a:p>
          <a:p>
            <a:pPr lvl="0"/>
            <a:r>
              <a:rPr lang="en-US" sz="1800"/>
              <a:t>2 years of PL research (Fox Group, CMU CS) aimed at making type safe languages work in systems and networking.</a:t>
            </a:r>
          </a:p>
          <a:p>
            <a:pPr lvl="0"/>
            <a:r>
              <a:rPr lang="en-US" sz="1800"/>
              <a:t>Founding member of Lycos - systems, performance, ran operations</a:t>
            </a:r>
          </a:p>
          <a:p>
            <a:pPr lvl="0"/>
            <a:r>
              <a:rPr lang="en-US" sz="1800"/>
              <a:t>Early Amazon - systems, performance, operations</a:t>
            </a:r>
          </a:p>
          <a:p>
            <a:pPr lvl="0"/>
            <a:r>
              <a:rPr lang="en-US" sz="1800"/>
              <a:t>M.Sc. Computer Science, University of Washington</a:t>
            </a:r>
          </a:p>
          <a:p>
            <a:pPr lvl="0"/>
            <a:r>
              <a:rPr lang="en-US" sz="1800"/>
              <a:t>Early Zillow - 6th engineer, ran operations, systems, performance</a:t>
            </a:r>
          </a:p>
          <a:p>
            <a:pPr lvl="0"/>
            <a:r>
              <a:rPr lang="en-US" sz="1800"/>
              <a:t>A general love of proving programs with Rocq, F* and now Verus.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chose to implement: Algorithms Parallel and Sequential (APAS) in Verus.</a:t>
            </a:r>
          </a:p>
          <a:p>
            <a:pPr lvl="0"/>
            <a:r>
              <a:rPr lang="en-US" sz="1800"/>
              <a:t>Umut Acar and Guy Blelloch 2022</a:t>
            </a:r>
          </a:p>
          <a:p>
            <a:pPr lvl="1"/>
            <a:r>
              <a:rPr lang="en-US" sz="1800"/>
              <a:t>121 algorithms!</a:t>
            </a:r>
          </a:p>
          <a:p>
            <a:pPr lvl="1"/>
            <a:r>
              <a:rPr lang="en-US" sz="1800"/>
              <a:t>81 of which can be parallel.</a:t>
            </a:r>
          </a:p>
          <a:p>
            <a:pPr lvl="1"/>
            <a:r>
              <a:rPr lang="en-US" sz="1800"/>
              <a:t>740 concepts.</a:t>
            </a:r>
          </a:p>
          <a:p>
            <a:pPr lvl="0"/>
            <a:r>
              <a:rPr lang="en-US" sz="1800"/>
              <a:t>Not only is it a great textbook but it proved with very few changes needed!</a:t>
            </a:r>
          </a:p>
          <a:p>
            <a:pPr lvl="0"/>
            <a:r>
              <a:rPr lang="en-US" sz="1800"/>
              <a:t>A few months ago Zach Tatlock was on a call with Sandia National labs.</a:t>
            </a:r>
          </a:p>
          <a:p>
            <a:pPr lvl="0"/>
            <a:r>
              <a:rPr lang="en-US" sz="1800"/>
              <a:t>They said: “You can’t prove algorithms like that!”</a:t>
            </a:r>
          </a:p>
          <a:p>
            <a:pPr lvl="0"/>
            <a:r>
              <a:rPr lang="en-US" sz="1800"/>
              <a:t>He pointed them to APAS-VERUS and my linkedin racked up 1200 views.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20 year old PL</a:t>
            </a:r>
          </a:p>
          <a:p>
            <a:pPr lvl="0"/>
            <a:r>
              <a:rPr lang="en-US" sz="1800"/>
              <a:t>Fast compilation, code.</a:t>
            </a:r>
          </a:p>
          <a:p>
            <a:pPr lvl="0"/>
            <a:r>
              <a:rPr lang="en-US" sz="1800"/>
              <a:t>Industrial acceptance: AWS, Google, Huawei, Microsoft, and Mozilla.</a:t>
            </a:r>
          </a:p>
          <a:p>
            <a:pPr lvl="0"/>
            <a:r>
              <a:rPr lang="en-US" sz="1800"/>
              <a:t>Linux Kernel now uses it!</a:t>
            </a:r>
          </a:p>
          <a:p>
            <a:pPr lvl="0"/>
            <a:r>
              <a:rPr lang="en-US" sz="1800"/>
              <a:t>Linear typing plus borrowing! No GC!</a:t>
            </a:r>
          </a:p>
          <a:p>
            <a:pPr lvl="0"/>
            <a:r>
              <a:rPr lang="en-US" sz="1800"/>
              <a:t>Clear mutability, algebraic data types.</a:t>
            </a:r>
          </a:p>
          <a:p>
            <a:pPr lvl="0"/>
            <a:r>
              <a:rPr lang="en-US" sz="1800"/>
              <a:t>Slicing! with ownership and borrow.</a:t>
            </a:r>
          </a:p>
          <a:p>
            <a:pPr lvl="0"/>
            <a:r>
              <a:rPr lang="en-US" sz="1800"/>
              <a:t>Their ‘cargo’ package system works rather well.</a:t>
            </a:r>
          </a:p>
          <a:p>
            <a:pPr lvl="0"/>
            <a:r>
              <a:rPr lang="en-US" sz="1800"/>
              <a:t>No objects for modularity! Good.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No GC! Circular structures require GC and why not have it!</a:t>
            </a:r>
          </a:p>
          <a:p>
            <a:pPr lvl="0"/>
            <a:r>
              <a:rPr lang="en-US" sz="1800"/>
              <a:t>No regions, just lifetime with end of scope deallocation which is slower.</a:t>
            </a:r>
          </a:p>
          <a:p>
            <a:pPr lvl="0"/>
            <a:r>
              <a:rPr lang="en-US" sz="1800"/>
              <a:t>Translating C to Rust is hard to get it into linear logic + borrowing.</a:t>
            </a:r>
          </a:p>
          <a:p>
            <a:pPr lvl="0"/>
            <a:r>
              <a:rPr lang="en-US" sz="1800"/>
              <a:t>However, you can (and I have) rewritten algorithms with a free list (that are right).</a:t>
            </a:r>
          </a:p>
          <a:p>
            <a:pPr lvl="0"/>
            <a:r>
              <a:rPr lang="en-US" sz="1800"/>
              <a:t>Macros, with typing checked at use, which is not so good.</a:t>
            </a:r>
          </a:p>
          <a:p>
            <a:pPr lvl="0"/>
            <a:r>
              <a:rPr lang="en-US" sz="1800"/>
              <a:t>Rust terminology is random.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You get basic module with pub/pub(crate) and no-pub.</a:t>
            </a:r>
          </a:p>
          <a:p>
            <a:pPr lvl="0"/>
            <a:r>
              <a:rPr lang="en-US" sz="1800"/>
              <a:t>You get typeclasses which MUST be implemented at type.</a:t>
            </a:r>
          </a:p>
          <a:p>
            <a:pPr lvl="0"/>
            <a:r>
              <a:rPr lang="en-US" sz="1800"/>
              <a:t>The Rustaceans have decided that unless their module implements a typeclass at multiple types, they won’t use it.</a:t>
            </a:r>
          </a:p>
          <a:p>
            <a:pPr lvl="0"/>
            <a:r>
              <a:rPr lang="en-US" sz="1800"/>
              <a:t>So reading Rust is every bit as scattered as reading C.</a:t>
            </a:r>
          </a:p>
          <a:p>
            <a:pPr lvl="0"/>
            <a:r>
              <a:rPr lang="en-US" sz="1800"/>
              <a:t>Verus is now doing this also, but I ABUSE the notation to put all the specs together in APAS-VERUS for readability.</a:t>
            </a:r>
          </a:p>
          <a:p>
            <a:pPr lvl="0"/>
            <a:r>
              <a:rPr lang="en-US" sz="1800"/>
              <a:t>You may pine for ML modules!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Ugly — Equality and Ordering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 on leq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Consistent w/ 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Ugly -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Rust decided that they needed =, &lt;, … to work in all cases including floating point.</a:t>
            </a:r>
          </a:p>
          <a:p>
            <a:pPr lvl="0"/>
            <a:r>
              <a:rPr lang="en-US" sz="1800"/>
              <a:t>So they threw out basic properties to make IEEE NaN work.</a:t>
            </a:r>
          </a:p>
          <a:p>
            <a:pPr lvl="0"/>
            <a:r>
              <a:rPr lang="en-US" sz="1800"/>
              <a:t>And ended up complicating proof in Verus.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‘unsafe’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In theory Rust marks unsafe code with ‘unsafe’ and allows ptr arithmetic and other unsafe operations only inside this.</a:t>
            </a:r>
          </a:p>
          <a:p>
            <a:pPr lvl="0"/>
            <a:r>
              <a:rPr lang="en-US" sz="1800"/>
              <a:t>In practice Rust allows at least 10 unsafe operations in ‘safe’ code.</a:t>
            </a:r>
          </a:p>
          <a:p>
            <a:pPr lvl="0"/>
            <a:r>
              <a:rPr lang="en-US" sz="1800"/>
              <a:t>The most mind boggling attitude is that basic data structures can be considered ‘safe’ and LOSE YOUR DATA.</a:t>
            </a:r>
          </a:p>
          <a:p>
            <a:pPr lvl="0"/>
            <a:r>
              <a:rPr lang="en-US" sz="1800"/>
              <a:t>Vec, VecDeque and BinaryHeap amongst others.</a:t>
            </a:r>
          </a:p>
          <a:p>
            <a:pPr lvl="0"/>
            <a:r>
              <a:rPr lang="en-US" sz="1800"/>
              <a:t>To emphasize this I wrote ‘Rust Seal’ which did a lazy repair on these cases for a few percent costs on Rust’s own benchmarks.</a:t>
            </a:r>
          </a:p>
          <a:p>
            <a:pPr lvl="0"/>
            <a:r>
              <a:rPr lang="en-US" sz="1800"/>
              <a:t>https://github.com/briangmilnes/RustSeal</a:t>
            </a:r>
          </a:p>
          <a:p>
            <a:pPr lvl="0"/>
            <a:r>
              <a:rPr lang="en-US" sz="1800"/>
              <a:t>It is RATHER hard to prove your algorithm if it’s allowed to drop all your data.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State of the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Rust jumped ahead of any languages formal semantics with linear semantics of ownership, borrowing and re-borrowing.</a:t>
            </a:r>
          </a:p>
          <a:p>
            <a:pPr lvl="0"/>
            <a:r>
              <a:rPr lang="en-US" sz="1800"/>
              <a:t>They felt this was required for low-level systems and it is nice and fast.</a:t>
            </a:r>
          </a:p>
          <a:p>
            <a:pPr lvl="0"/>
            <a:r>
              <a:rPr lang="en-US" sz="1800"/>
              <a:t>But that left us with formal semantics now playing catch-up.</a:t>
            </a:r>
          </a:p>
          <a:p>
            <a:pPr lvl="0"/>
            <a:r>
              <a:rPr lang="en-US" sz="1800"/>
              <a:t>And we almost have:</a:t>
            </a:r>
          </a:p>
          <a:p>
            <a:pPr lvl="1"/>
            <a:r>
              <a:rPr lang="en-US" sz="1800"/>
              <a:t>Timany, Amin, et al. “A logical approach to type soundness.” Journal of the ACM 71.6 (2024): 1-75.</a:t>
            </a:r>
          </a:p>
          <a:p>
            <a:pPr lvl="1"/>
            <a:r>
              <a:rPr lang="en-US" sz="1800"/>
              <a:t>Jung, Ralf, et al. “RustBelt: Securing the foundations of the Rust programming language.” 45th ACM POPL 2018</a:t>
            </a:r>
          </a:p>
          <a:p>
            <a:pPr lvl="1"/>
            <a:r>
              <a:rPr lang="en-US" sz="1800"/>
              <a:t>Hance, Travis, et al. “VerusBelt: A Semantic Foundation for Verus’s Proof-Oriented Extensions to the Rust Type System.” PLDI (2026): 1962-1986.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APAS-AI is a nearly complete, idiomatic Rust implementation of the algorithms from Acar and Blelloch.</a:t>
            </a:r>
          </a:p>
          <a:p>
            <a:pPr lvl="0"/>
            <a:r>
              <a:rPr lang="en-US" sz="1800"/>
              <a:t>Sequential and parallel variants throughout.</a:t>
            </a:r>
          </a:p>
          <a:p>
            <a:pPr lvl="0"/>
            <a:r>
              <a:rPr lang="en-US" sz="1800"/>
              <a:t>Timeline: 347 commits over 88 calendar days (Aug–Oct 2025).</a:t>
            </a:r>
          </a:p>
          <a:p>
            <a:pPr lvl="0"/>
            <a:r>
              <a:rPr lang="en-US" sz="1800"/>
              <a:t>59 days of active development; 8 residual commits in November.</a:t>
            </a:r>
          </a:p>
          <a:p>
            <a:pPr lvl="0"/>
            <a:r>
              <a:rPr lang="en-US" sz="1800"/>
              <a:t>I knew no AI paired programming when I started.</a:t>
            </a:r>
          </a:p>
          <a:p>
            <a:pPr lvl="0"/>
            <a:r>
              <a:rPr lang="en-US" sz="1800"/>
              <a:t>I knew no Rust when I started.</a:t>
            </a:r>
          </a:p>
          <a:p>
            <a:pPr lvl="0"/>
            <a:r>
              <a:rPr lang="en-US" sz="1800"/>
              <a:t>My AI had to teach it to me, which was harder than I thought as of the 94 terms used in the Rust language and docs, only 4 are real PL terms!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</a:t>
            </a:r>
          </a:p>
          <a:p>
            <a:pPr lvl="1"/>
            <a:r>
              <a:rPr lang="en-US" sz="1800"/>
              <a:t>42 chapters</a:t>
            </a:r>
          </a:p>
          <a:p>
            <a:pPr lvl="1"/>
            <a:r>
              <a:rPr lang="en-US" sz="1800"/>
              <a:t>238 source files</a:t>
            </a:r>
          </a:p>
          <a:p>
            <a:pPr lvl="1"/>
            <a:r>
              <a:rPr lang="en-US" sz="1800"/>
              <a:t>45,485 source LOC.</a:t>
            </a:r>
          </a:p>
          <a:p>
            <a:pPr lvl="0"/>
            <a:r>
              <a:rPr lang="en-US" sz="1800"/>
              <a:t>Tests:</a:t>
            </a:r>
          </a:p>
          <a:p>
            <a:pPr lvl="1"/>
            <a:r>
              <a:rPr lang="en-US" sz="1800"/>
              <a:t>246 files</a:t>
            </a:r>
          </a:p>
          <a:p>
            <a:pPr lvl="1"/>
            <a:r>
              <a:rPr lang="en-US" sz="1800"/>
              <a:t>55,223 LOC</a:t>
            </a:r>
          </a:p>
          <a:p>
            <a:pPr lvl="1"/>
            <a:r>
              <a:rPr lang="en-US" sz="1800"/>
              <a:t>3,923 test functions</a:t>
            </a:r>
          </a:p>
          <a:p>
            <a:pPr lvl="1"/>
            <a:r>
              <a:rPr lang="en-US" sz="1800"/>
              <a:t>Tests are now so cheap and automated, I generally don’t count them.</a:t>
            </a:r>
          </a:p>
          <a:p>
            <a:pPr lvl="0"/>
            <a:r>
              <a:rPr lang="en-US" sz="1800"/>
              <a:t>Benchmarks: 171 files, 13,890 LOC, 360 benchmark functions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Verus is a tool for formally verifying Rust, developed at MSFT Research, VMware Research and Carnegie Mellon University.</a:t>
            </a:r>
          </a:p>
          <a:p>
            <a:pPr lvl="0"/>
            <a:r>
              <a:rPr lang="en-US" sz="1800"/>
              <a:t>Team: Andrea Lattuada, Travis Hance, Chris Hawblitzel, Jay Lorch, Matthias Brun, Chanhee Park, Yi Zhou, Jon Howell, Bryan Parno.</a:t>
            </a:r>
          </a:p>
          <a:p>
            <a:pPr lvl="0"/>
            <a:r>
              <a:rPr lang="en-US" sz="1800"/>
              <a:t>Goals: bring machine-checked proof to systems software written in Rust.</a:t>
            </a:r>
          </a:p>
          <a:p>
            <a:pPr lvl="0"/>
            <a:r>
              <a:rPr lang="en-US" sz="1800"/>
              <a:t>Goals: </a:t>
            </a:r>
            <a:r>
              <a:rPr lang="en-US" sz="1800" i="1"/>
              <a:t>tight integration with the programming language</a:t>
            </a:r>
            <a:r>
              <a:rPr lang="en-US" sz="1800"/>
              <a:t>.</a:t>
            </a:r>
          </a:p>
          <a:p>
            <a:pPr lvl="0"/>
            <a:r>
              <a:rPr lang="en-US" sz="1800"/>
              <a:t>Goals: easier faster proof.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“Verus: Verifying Rust Programs using Linear Ghost Types” Lattuada, Hance, Cho, Brun, Subasinghe, Zhou, Howell, Parno, Hawblitzel</a:t>
            </a:r>
          </a:p>
          <a:p>
            <a:pPr lvl="0"/>
            <a:r>
              <a:rPr lang="en-US" sz="1800"/>
              <a:t>“Verus: A Practical Foundation for Systems Verification” Lattuada, Hance, Bosamiya, Brun, Cho, LeBlanc, Srinivasan, Achermann, Chajed, Hawblitzel, Howell, Lorch, Padon, Parno</a:t>
            </a:r>
          </a:p>
          <a:p>
            <a:pPr lvl="0"/>
            <a:r>
              <a:rPr lang="en-US" sz="1800"/>
              <a:t>“Verifying Concurrent Systems Code” Travis Hance — PhD Thesis, Carnegie Mellon University, 2024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Specifications are written in a pure </a:t>
            </a:r>
            <a:r>
              <a:rPr lang="en-US" sz="1800" b="1"/>
              <a:t>First Order Logic</a:t>
            </a:r>
            <a:r>
              <a:rPr lang="en-US" sz="1800"/>
              <a:t>.</a:t>
            </a:r>
          </a:p>
          <a:p>
            <a:pPr lvl="0"/>
            <a:r>
              <a:rPr lang="en-US" sz="1800"/>
              <a:t>Spec functions, forall/exists, arithmetic, sets, sequences.</a:t>
            </a:r>
          </a:p>
          <a:p>
            <a:pPr lvl="0"/>
            <a:r>
              <a:rPr lang="en-US" sz="1800"/>
              <a:t>Undecidable.</a:t>
            </a:r>
          </a:p>
          <a:p>
            <a:pPr lvl="0"/>
            <a:r>
              <a:rPr lang="en-US" sz="1800"/>
              <a:t>Z3 SMT handles linear arithmetic, arrays, and quantified formulas, but quantifier instantiation requires explicit trigger annotations.</a:t>
            </a:r>
          </a:p>
          <a:p>
            <a:pPr lvl="0"/>
            <a:r>
              <a:rPr lang="en-US" sz="1800"/>
              <a:t>Z3 is NOT building certified proofs for Verus (but cvc5 might be coming).</a:t>
            </a:r>
          </a:p>
          <a:p>
            <a:pPr lvl="0"/>
            <a:r>
              <a:rPr lang="en-US" sz="1800"/>
              <a:t>Wraps existing Rust code: spec / proof / requires / ensures on fns</a:t>
            </a:r>
          </a:p>
          <a:p>
            <a:pPr lvl="0"/>
            <a:r>
              <a:rPr lang="en-US" sz="1800"/>
              <a:t>Linear Logic + Borrowing from the Rust type system, which rustc checks.</a:t>
            </a:r>
          </a:p>
          <a:p>
            <a:pPr lvl="0"/>
            <a:r>
              <a:rPr lang="en-US" sz="1800"/>
              <a:t>The TCB then is Verus+Z3+Rust+Libs, which is easily </a:t>
            </a:r>
            <a:r>
              <a:rPr lang="en-US" sz="1800" b="1"/>
              <a:t>= 2 M LOC</a:t>
            </a:r>
            <a:r>
              <a:rPr lang="en-US" sz="1800"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 View maps an executable Rust type to a math ghost type:</a:t>
            </a:r>
          </a:p>
          <a:p>
            <a:pPr lvl="1"/>
            <a:r>
              <a:rPr lang="en-US" sz="1800"/>
              <a:t>“Vec views as Seq”, “HashSet views as Set”.</a:t>
            </a:r>
          </a:p>
          <a:p>
            <a:pPr lvl="0"/>
            <a:r>
              <a:rPr lang="en-US" sz="1800"/>
              <a:t>Specs are written over the view; exec code manipulates the real type.</a:t>
            </a:r>
          </a:p>
          <a:p>
            <a:pPr lvl="0"/>
            <a:r>
              <a:rPr lang="en-US" sz="1800"/>
              <a:t>vstd is Verus’s standard library — specs for Vec, Seq, Set,</a:t>
            </a:r>
          </a:p>
          <a:p>
            <a:pPr lvl="1"/>
            <a:r>
              <a:rPr lang="en-US" sz="1800"/>
              <a:t>Map, Multiset, arithmetic, common lemmas, Fns, …</a:t>
            </a:r>
          </a:p>
          <a:p>
            <a:pPr lvl="0"/>
            <a:r>
              <a:rPr lang="en-US" sz="1800"/>
              <a:t>Ghost types live only in the verifier.</a:t>
            </a:r>
          </a:p>
          <a:p>
            <a:pPr lvl="0"/>
            <a:r>
              <a:rPr lang="en-US" sz="1800"/>
              <a:t>View of variable x : T is x@.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Data Struct +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reject_recursive_types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(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)]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Edge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&gt;&gt;,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GraphView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@,</a:t>
            </a:r>
            <a:r>
              <a:rPr lang="en-US" sz="1100">
                <a:latin typeface="Courier"/>
              </a:rPr>
              <a:t> 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UnDirGraphStEphTrait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&gt;:</a:t>
            </a:r>
            <a:br/>
            <a:r>
              <a:rPr lang="en-US" sz="1100">
                <a:latin typeface="Courier"/>
              </a:rPr>
              <a:t>   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spec_neighborhood(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Set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lang="en-US" sz="1100">
                <a:latin typeface="Courier"/>
              </a:rPr>
              <a:t>        recommends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contains(v)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w))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v)))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br/>
            <a:r>
              <a:rPr lang="en-US" sz="1100">
                <a:latin typeface="Courier"/>
              </a:rPr>
              <a:t>        requires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lang="en-US" sz="1100">
                <a:latin typeface="Courier"/>
              </a:rPr>
              <a:t>        ensures 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spec_neighborhood(v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Impl: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SetStEph::</a:t>
            </a:r>
            <a:r>
              <a:rPr lang="en-US" sz="1100">
                <a:latin typeface="Courier"/>
              </a:rPr>
              <a:t>empty()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it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iter()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ghost edges_seq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1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loop</a:t>
            </a:r>
            <a:br/>
            <a:r>
              <a:rPr lang="en-US" sz="1100">
                <a:latin typeface="Courier"/>
              </a:rPr>
              <a:t>        invariant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exists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i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i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&amp;&amp;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edges_seq[i] hits v on either side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  decreases edges_seq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match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next()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None</a:t>
            </a:r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proof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set-equality lemmas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return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Some</a:t>
            </a:r>
            <a:r>
              <a:rPr lang="en-US" sz="1100">
                <a:latin typeface="Courier"/>
              </a:rPr>
              <a:t>(e)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if feq(&amp;e.0,v) insert e.1; sym.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Four specification constructs are used to give specs to Rust stdlib.</a:t>
            </a:r>
          </a:p>
          <a:p>
            <a:pPr lvl="0"/>
            <a:r>
              <a:rPr lang="en-US" sz="1800"/>
              <a:t>A proxy struct that introduces a spec for a foreign type.</a:t>
            </a:r>
          </a:p>
          <a:p>
            <a:pPr lvl="0"/>
            <a:r>
              <a:rPr lang="en-US" sz="1800"/>
              <a:t>The proxy struct name is conventionally ExTypeName.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function/method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 proxy function with the same signature as the foreign function, carrying the requires/ensures.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external_fn_specification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ex_vec_push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r>
              <a:rPr lang="en-US" sz="1100">
                <a:latin typeface="Courier"/>
              </a:rPr>
              <a:t> value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T)</a:t>
            </a:r>
            <a:br/>
            <a:r>
              <a:rPr lang="en-US" sz="1100">
                <a:latin typeface="Courier"/>
              </a:rPr>
              <a:t>      requires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usize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MAX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ensures 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old(v)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push(value)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push(value)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 a View and specs to a foreign type.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&gt;;}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external_trait_specification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Adds a spec to a foreign trait without modifying it:</a:t>
            </a:r>
          </a:p>
          <a:p>
            <a:pPr lvl="0"/>
            <a:r>
              <a:rPr lang="en-US" sz="1800"/>
              <a:t>The proxy trait name is </a:t>
            </a:r>
            <a:r>
              <a:rPr>
                <a:latin typeface="Courier"/>
              </a:rPr>
              <a:t>Ex&lt;TraitName&gt;</a:t>
            </a:r>
            <a:r>
              <a:rPr lang="en-US" sz="1100"/>
              <a:t> by convention.</a:t>
            </a:r>
          </a:p>
          <a:p>
            <a:pPr lvl="0"/>
            <a:r>
              <a:rPr lang="en-US" sz="1800"/>
              <a:t>Add </a:t>
            </a:r>
            <a:r>
              <a:rPr>
                <a:latin typeface="Courier"/>
              </a:rPr>
              <a:t>requires</a:t>
            </a:r>
            <a:r>
              <a:rPr lang="en-US" sz="1100"/>
              <a:t>/</a:t>
            </a:r>
            <a:r>
              <a:rPr>
                <a:latin typeface="Courier"/>
              </a:rPr>
              <a:t>ensures</a:t>
            </a:r>
            <a:r>
              <a:rPr lang="en-US" sz="1100"/>
              <a:t> to the method to give it a full spec.</a:t>
            </a:r>
          </a:p>
          <a:p>
            <a:pPr lvl="0"/>
            <a:r>
              <a:rPr lang="en-US" sz="1800"/>
              <a:t>Limitation: no generics.</a:t>
            </a:r>
          </a:p>
          <a:p>
            <a:pPr lvl="0" indent="0">
              <a:buNone/>
            </a:pPr>
            <a:br/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external_trait_specification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ExClone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ExternalTraitSpecificationFor: core::clone::Clone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clone(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Problem: Rust’s ownership types handle sequential aliasing well but cannot express distributed protocol state across threads.</a:t>
            </a:r>
          </a:p>
          <a:p>
            <a:pPr lvl="0"/>
            <a:r>
              <a:rPr lang="en-US" sz="1800"/>
              <a:t>Answer: A Tokenized State Machine defines protocol state as fields with sharding strategies (variable, map, count, storage_option…).</a:t>
            </a:r>
          </a:p>
          <a:p>
            <a:pPr lvl="0"/>
            <a:r>
              <a:rPr lang="en-US" sz="1800"/>
              <a:t>Transitions and an inductive invariant are proved once, globally.</a:t>
            </a:r>
          </a:p>
          <a:p>
            <a:pPr lvl="0"/>
            <a:r>
              <a:rPr lang="en-US" sz="1800"/>
              <a:t>Verus auto-generates ghost token types and exchange functions</a:t>
            </a:r>
          </a:p>
          <a:p>
            <a:pPr lvl="0"/>
            <a:r>
              <a:rPr lang="en-US" sz="1800"/>
              <a:t>This has now been generalized to partial commutative monoids.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Goal: formally verify all algorithms in Acar and Blelloch</a:t>
            </a:r>
          </a:p>
          <a:p>
            <a:pPr lvl="1"/>
            <a:r>
              <a:rPr lang="en-US" sz="1800"/>
              <a:t>Every algorithm gets a machine-checked proof</a:t>
            </a:r>
          </a:p>
          <a:p>
            <a:pPr lvl="1"/>
            <a:r>
              <a:rPr lang="en-US" sz="1800"/>
              <a:t>no admitted lemmas,</a:t>
            </a:r>
          </a:p>
          <a:p>
            <a:pPr lvl="1"/>
            <a:r>
              <a:rPr lang="en-US" sz="1800"/>
              <a:t>no hand-waving in production code.</a:t>
            </a:r>
          </a:p>
          <a:p>
            <a:pPr lvl="0"/>
            <a:r>
              <a:rPr lang="en-US" sz="1800"/>
              <a:t>44 chapters, 262 algorithm files, upto 4 variants per algorithm: StEph (sequential mutable), StPer (sequential persistent), MtEph (parallel mutable), MtPer (parallel persistent).</a:t>
            </a:r>
          </a:p>
          <a:p>
            <a:pPr lvl="0"/>
            <a:r>
              <a:rPr lang="en-US" sz="1800"/>
              <a:t>Minimal use of Rust std.</a:t>
            </a:r>
          </a:p>
          <a:p>
            <a:pPr lvl="0"/>
            <a:r>
              <a:rPr lang="en-US" sz="1800"/>
              <a:t>But as you’ll see I had to write some axioms and admit a class of functions.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26 vstdplus library modules, mostly making Views.</a:t>
            </a:r>
          </a:p>
          <a:p>
            <a:pPr lvl="0"/>
            <a:r>
              <a:rPr lang="en-US" sz="1800"/>
              <a:t>29 standards documents encoding project proof conventions,</a:t>
            </a:r>
          </a:p>
          <a:p>
            <a:pPr lvl="0"/>
            <a:r>
              <a:rPr lang="en-US" sz="1800"/>
              <a:t>Verification is the primary goal.</a:t>
            </a:r>
          </a:p>
          <a:p>
            <a:pPr lvl="0"/>
            <a:r>
              <a:rPr lang="en-US" sz="1800"/>
              <a:t>Runtime tests (RTT) and proof-time tests (PTT) are secondary, but still terribly useful.</a:t>
            </a:r>
          </a:p>
          <a:p>
            <a:pPr lvl="0"/>
            <a:r>
              <a:rPr lang="en-US" sz="1800"/>
              <a:t>They both still catch errors and instruct the AI.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 44 chapters, 262 files, 186,223 src LOC (not counting comments).</a:t>
            </a:r>
          </a:p>
          <a:p>
            <a:pPr lvl="0"/>
            <a:r>
              <a:rPr lang="en-US" sz="1800"/>
              <a:t>With vstdplus, standards, RTT, PTT: 275,014 total LOC.</a:t>
            </a:r>
          </a:p>
          <a:p>
            <a:pPr lvl="0"/>
            <a:r>
              <a:rPr lang="en-US" sz="1800"/>
              <a:t>Built in 160 days, 2,596 commits, 8 agents, 281 agent-round reports.</a:t>
            </a:r>
          </a:p>
          <a:p>
            <a:pPr lvl="0"/>
            <a:r>
              <a:rPr lang="en-US" sz="1800"/>
              <a:t>Verification: 5,674 verified proof obligations, 0 errors.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Full Validation Cost (2026-04-12)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Elapsed: 210s on a 12 core notebook</a:t>
            </a:r>
          </a:p>
          <a:p>
            <a:pPr lvl="0"/>
            <a:r>
              <a:rPr lang="en-US" sz="1800"/>
              <a:t>rust_verify RSS: 10,278 MB (~10 GB)</a:t>
            </a:r>
          </a:p>
          <a:p>
            <a:pPr lvl="0"/>
            <a:r>
              <a:rPr lang="en-US" sz="1800"/>
              <a:t>Z3 RSS: 6,874 MB (~6.7 GB)</a:t>
            </a:r>
          </a:p>
          <a:p>
            <a:pPr lvl="0"/>
            <a:r>
              <a:rPr lang="en-US" sz="1800"/>
              <a:t>rust_verify CPU: 216s</a:t>
            </a:r>
          </a:p>
          <a:p>
            <a:pPr lvl="0"/>
            <a:r>
              <a:rPr lang="en-US" sz="1800"/>
              <a:t>Z3 CPU: 265s</a:t>
            </a:r>
          </a:p>
          <a:p>
            <a:pPr lvl="0"/>
            <a:r>
              <a:rPr lang="en-US" sz="1800"/>
              <a:t>But I have had Z3 jump up to as much as 28 GB when I write bad proofs.</a:t>
            </a:r>
          </a:p>
          <a:p>
            <a:pPr lvl="0"/>
            <a:r>
              <a:rPr lang="en-US" sz="1800"/>
              <a:t>Somewhere in it I suspect there is a novel formal verification of some algorithm.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Holes: started at 238 (R20), now 0 but it’s out of date with Verus.</a:t>
            </a:r>
          </a:p>
          <a:p>
            <a:pPr lvl="0"/>
            <a:r>
              <a:rPr lang="en-US" sz="1800"/>
              <a:t>Largest chapter is the forest: Chap37 - AVL trees, BST variants - 20,319 src LOC.</a:t>
            </a:r>
          </a:p>
          <a:p>
            <a:pPr lvl="0"/>
            <a:r>
              <a:rPr lang="en-US" sz="1800"/>
              <a:t>2 × more source code to verify than APAS-AI needed to implement.</a:t>
            </a:r>
          </a:p>
          <a:p>
            <a:pPr lvl="0"/>
            <a:r>
              <a:rPr lang="en-US" sz="1800"/>
              <a:t>Start: 2025-11-03</a:t>
            </a:r>
          </a:p>
          <a:p>
            <a:pPr lvl="0"/>
            <a:r>
              <a:rPr lang="en-US" sz="1800"/>
              <a:t>End : 2026-04-12</a:t>
            </a:r>
          </a:p>
          <a:p>
            <a:pPr lvl="0"/>
            <a:r>
              <a:rPr lang="en-US" sz="1800"/>
              <a:t>Duration: approximately 150 calendar days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 32,868 (21%)</a:t>
            </a:r>
          </a:p>
          <a:p>
            <a:pPr lvl="0"/>
            <a:r>
              <a:rPr lang="en-US" sz="1800"/>
              <a:t>Proof 42,251 (27%)</a:t>
            </a:r>
          </a:p>
          <a:p>
            <a:pPr lvl="0"/>
            <a:r>
              <a:rPr lang="en-US" sz="1800"/>
              <a:t>Exec 67,883 (44%)</a:t>
            </a:r>
          </a:p>
          <a:p>
            <a:pPr lvl="0"/>
            <a:r>
              <a:rPr lang="en-US" sz="1800"/>
              <a:t>Rust 12,206 (8%) plain Rust (outside Verus!)</a:t>
            </a:r>
          </a:p>
          <a:p>
            <a:pPr lvl="0"/>
            <a:r>
              <a:rPr lang="en-US" sz="1800"/>
              <a:t>The “rust” 8% is code outside Verus! — Debug impls, macros, cfg, etc.</a:t>
            </a:r>
          </a:p>
          <a:p>
            <a:pPr lvl="0"/>
            <a:r>
              <a:rPr lang="en-US" sz="1800"/>
              <a:t>All proof to exec: 75,119 / 67,883 = 110%.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When I started Verus, iterators for collections took quite some time.</a:t>
            </a:r>
          </a:p>
          <a:p>
            <a:pPr lvl="0"/>
            <a:r>
              <a:rPr lang="en-US" sz="1800"/>
              <a:t>Generics and Equality was the second big pain point.</a:t>
            </a:r>
          </a:p>
          <a:p>
            <a:pPr lvl="0"/>
            <a:r>
              <a:rPr lang="en-US" sz="1800"/>
              <a:t>I still have full equality axioms for generic types.</a:t>
            </a:r>
          </a:p>
          <a:p>
            <a:pPr lvl="0"/>
            <a:r>
              <a:rPr lang="en-US" sz="1800"/>
              <a:t>Closures took a good bit of work.</a:t>
            </a:r>
          </a:p>
          <a:p>
            <a:pPr lvl="0"/>
            <a:r>
              <a:rPr lang="en-US" sz="1800"/>
              <a:t>Ordering was and is still difficult, it made my UnionFind consume up to 28GB in Z3.</a:t>
            </a:r>
          </a:p>
          <a:p>
            <a:pPr lvl="0"/>
            <a:r>
              <a:rPr lang="en-US" sz="1800"/>
              <a:t>Verus is so fast, even with bloated AI proofs, I didn’t profile much until I was in the last few chapters.</a:t>
            </a:r>
          </a:p>
          <a:p>
            <a:pPr lvl="0"/>
            <a:r>
              <a:rPr lang="en-US" sz="1800"/>
              <a:t>I simply made validate isolate by chapters.</a:t>
            </a:r>
          </a:p>
          <a:p>
            <a:pPr lvl="0"/>
            <a:r>
              <a:rPr lang="en-US" sz="1800"/>
              <a:t>Verus is moving quickly and most of these pain points have been addressed.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AutoCLRS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AutoCLRS is Swamy et al. and AIs implementation: “Introduction to Algorithms, 4th ed” 2022</a:t>
            </a:r>
          </a:p>
          <a:p>
            <a:pPr lvl="0"/>
            <a:r>
              <a:rPr lang="en-US" sz="1800"/>
              <a:t>by Thomas H. Cormen, Charles E. Leiserson, Ronald L. Rivest, and Clifford Stein in F*/Pulse.</a:t>
            </a:r>
          </a:p>
          <a:p>
            <a:pPr lvl="0"/>
            <a:r>
              <a:rPr lang="en-US" sz="1800"/>
              <a:t>RISE MSR blog (2026-03-06) says the initial 10K lines came “very quickly” and then “about a month of nudging” to reach 100K LOC.</a:t>
            </a:r>
          </a:p>
          <a:p>
            <a:pPr lvl="0"/>
            <a:r>
              <a:rPr lang="en-US" sz="1800"/>
              <a:t>Nikhil Swamy with thanks to Gabriel Ebner, Lef Ioannidis, Guido Martinez, Matthai Philipose and Tahina Ramananandro.</a:t>
            </a:r>
          </a:p>
          <a:p>
            <a:pPr lvl="0"/>
            <a:r>
              <a:rPr lang="en-US" sz="1800"/>
              <a:t>They have a dependent type theory but prove about 12 times slower which they work around nicely with incremental and parallel proofs through a server.</a:t>
            </a:r>
          </a:p>
          <a:p>
            <a:pPr lvl="0"/>
            <a:r>
              <a:rPr lang="en-US" sz="1800"/>
              <a:t>They did a formal specification of algorithmic complexity with step counting.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and 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first built a toolset call Rusticate for APAS-AI.</a:t>
            </a:r>
          </a:p>
          <a:p>
            <a:pPr lvl="0"/>
            <a:r>
              <a:rPr lang="en-US" sz="1800"/>
              <a:t>Everything one can do in programmatic SE, I try and do in programmatic SE.</a:t>
            </a:r>
          </a:p>
          <a:p>
            <a:pPr lvl="0"/>
            <a:r>
              <a:rPr lang="en-US" sz="1800"/>
              <a:t>Then Veracity, a suite of 22+ tools for analyzing, reviewing, and fixing Verus codebases.</a:t>
            </a:r>
          </a:p>
          <a:p>
            <a:pPr lvl="0"/>
            <a:r>
              <a:rPr lang="en-US" sz="1800"/>
              <a:t>Review tools:</a:t>
            </a:r>
          </a:p>
          <a:p>
            <a:pPr lvl="1"/>
            <a:r>
              <a:rPr lang="en-US" sz="1800"/>
              <a:t>proof holes (assume, external_body, admit),</a:t>
            </a:r>
          </a:p>
          <a:p>
            <a:pPr lvl="1"/>
            <a:r>
              <a:rPr lang="en-US" sz="1800"/>
              <a:t>style enforcement (21 rules, auto-reorder),</a:t>
            </a:r>
          </a:p>
          <a:p>
            <a:pPr lvl="1"/>
            <a:r>
              <a:rPr lang="en-US" sz="1800"/>
              <a:t>with spec strength classification fed to AI,</a:t>
            </a:r>
          </a:p>
          <a:p>
            <a:pPr lvl="1"/>
            <a:r>
              <a:rPr lang="en-US" sz="1800"/>
              <a:t>veracity-count-loc (spec/proof/exec breakdown),</a:t>
            </a:r>
          </a:p>
          <a:p>
            <a:pPr lvl="1"/>
            <a:r>
              <a:rPr lang="en-US" sz="1800"/>
              <a:t>chapter-cleanliness-status</a:t>
            </a:r>
          </a:p>
          <a:p>
            <a:pPr lvl="1"/>
            <a:r>
              <a:rPr lang="en-US" sz="1800"/>
              <a:t>string-hacking detector, function inventory, etc.</a:t>
            </a:r>
          </a:p>
          <a:p>
            <a:pPr lvl="0"/>
            <a:r>
              <a:rPr lang="en-US" sz="1800"/>
              <a:t>One of the best is veracity-minimize-proofs</a:t>
            </a:r>
          </a:p>
          <a:p>
            <a:pPr lvl="0"/>
            <a:r>
              <a:rPr lang="en-US" sz="1800"/>
              <a:t>Heck, I had to run the string hacking detector on the string hacking detector.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Search: veracity-search — type directed search over vstd</a:t>
            </a:r>
          </a:p>
          <a:p>
            <a:pPr lvl="0"/>
            <a:r>
              <a:rPr lang="en-US" sz="1800"/>
              <a:t>VERUS by type signature, finding lemmas before writing new ones.</a:t>
            </a:r>
          </a:p>
          <a:p>
            <a:pPr lvl="0"/>
            <a:r>
              <a:rPr lang="en-US" sz="1800"/>
              <a:t>“Specifications as Search Keys for Software Libraries” Eugene J. Rollins and Jeannette M. Wing</a:t>
            </a:r>
          </a:p>
          <a:p>
            <a:pPr lvl="0"/>
            <a:r>
              <a:rPr lang="en-US" sz="1800"/>
              <a:t>Written for my sins of asking why does Verus vstd not have X? when it did!</a:t>
            </a:r>
          </a:p>
          <a:p>
            <a:pPr lvl="0"/>
            <a:r>
              <a:rPr lang="en-US" sz="1800"/>
              <a:t>Even more useful for my AIs’s seriously disturbing sinning.</a:t>
            </a:r>
          </a:p>
          <a:p>
            <a:pPr lvl="0"/>
            <a:r>
              <a:rPr lang="en-US" sz="1800"/>
              <a:t>This allowed me to download ALL known Verus (git VerusCodebases) and have my AI search them in 1.2 seconds!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 states complexity and informally proves many of them for some algorithms.</a:t>
            </a:r>
          </a:p>
          <a:p>
            <a:pPr lvl="0"/>
            <a:r>
              <a:rPr lang="en-US" sz="1800"/>
              <a:t>So I wrote a programmatic tool to find and list mismatches.</a:t>
            </a:r>
          </a:p>
          <a:p>
            <a:pPr lvl="0"/>
            <a:r>
              <a:rPr lang="en-US" sz="1800"/>
              <a:t>Then I had Claude Opus do it’s analysis and compare every function with the textbook’s.</a:t>
            </a:r>
          </a:p>
          <a:p>
            <a:pPr lvl="0"/>
            <a:r>
              <a:rPr lang="en-US" sz="1800"/>
              <a:t>This found 16 faults in parallel algorithms.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Agents often say “Verus Can’t Do That”</a:t>
            </a:r>
          </a:p>
          <a:p>
            <a:pPr lvl="0"/>
            <a:r>
              <a:rPr lang="en-US" sz="1800"/>
              <a:t>I said “Make an experiment!”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168 experiment files</a:t>
            </a:r>
          </a:p>
          <a:p>
            <a:pPr lvl="1"/>
            <a:r>
              <a:rPr lang="en-US" sz="1800"/>
              <a:t>21,476 lines of code (not counted in the totals)</a:t>
            </a:r>
          </a:p>
          <a:p>
            <a:pPr lvl="0"/>
            <a:r>
              <a:rPr lang="en-US" sz="1800"/>
              <a:t>Topics span: Clone, Arc, RwLock, TSM, closures, iterators, generics, float, bitvector, PartialEq, Copy, async, hash tables, parallel algorithms, ghost types, Send/Sync, collect, and sorting.</a:t>
            </a:r>
          </a:p>
          <a:p>
            <a:pPr lvl="0"/>
            <a:r>
              <a:rPr lang="en-US" sz="1800"/>
              <a:t>168 experiments, 107 successes, 61 Verus limits.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finally built a set of coding standards in Verus rust files and in comments.</a:t>
            </a:r>
          </a:p>
          <a:p>
            <a:pPr lvl="0"/>
            <a:r>
              <a:rPr lang="en-US" sz="1800"/>
              <a:t>Agents read all standards before every task (~6,200 lines, ~54K tokens)</a:t>
            </a:r>
          </a:p>
          <a:p>
            <a:pPr lvl="0"/>
            <a:r>
              <a:rPr lang="en-US" sz="1800"/>
              <a:t>Violations are mostly AI checked except where an extensive code styling can get things.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29 standard files</a:t>
            </a:r>
          </a:p>
          <a:p>
            <a:pPr lvl="1"/>
            <a:r>
              <a:rPr lang="en-US" sz="1800"/>
              <a:t>6,911 lines total</a:t>
            </a:r>
          </a:p>
          <a:p>
            <a:pPr lvl="0"/>
            <a:r>
              <a:rPr lang="en-US" sz="1800"/>
              <a:t>Doing this earlier would have really sped things up.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Taking Claude to CS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In order to make Claude opus-4.8 work, I had to take it to CS classes.</a:t>
            </a:r>
          </a:p>
          <a:p>
            <a:pPr lvl="1"/>
            <a:r>
              <a:rPr lang="en-US" sz="1800"/>
              <a:t>https://github.com/briangmilnes/ComputAItionalThinking</a:t>
            </a:r>
          </a:p>
          <a:p>
            <a:pPr lvl="1"/>
            <a:r>
              <a:rPr lang="en-US" sz="1800"/>
              <a:t>ala Wing CACM Vol. 49 num 3, 2006</a:t>
            </a:r>
          </a:p>
          <a:p>
            <a:pPr lvl="0"/>
            <a:r>
              <a:rPr lang="en-US" sz="1800"/>
              <a:t>I described computational thinking and the agent’s roles.</a:t>
            </a:r>
          </a:p>
          <a:p>
            <a:pPr lvl="0"/>
            <a:r>
              <a:rPr lang="en-US" sz="1800"/>
              <a:t>I had my agent read and generate vocabulary over about 30 open classes.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Taking Claude to 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eventually settled into a semi-formal SE style and taught it to my AIs</a:t>
            </a:r>
          </a:p>
          <a:p>
            <a:pPr lvl="0"/>
            <a:r>
              <a:rPr lang="en-US" sz="1800"/>
              <a:t>In medicine: GRASE (Medical Acronym) - Generally Recognized as Safe and Effective</a:t>
            </a:r>
          </a:p>
          <a:p>
            <a:pPr lvl="0"/>
            <a:r>
              <a:rPr lang="en-US" sz="1800"/>
              <a:t>In SE: GRASE - Git Recording Agentic Software Engineering</a:t>
            </a:r>
          </a:p>
          <a:p>
            <a:pPr lvl="0"/>
            <a:r>
              <a:rPr lang="en-US" sz="1800"/>
              <a:t>https://github.com/briangmilnes/GRASE</a:t>
            </a:r>
          </a:p>
          <a:p>
            <a:pPr lvl="0"/>
            <a:r>
              <a:rPr lang="en-US" sz="1800"/>
              <a:t>Agents are now hiding more and more of their thinking, even encrypting their messages to subagents.</a:t>
            </a:r>
          </a:p>
          <a:p>
            <a:pPr lvl="0"/>
            <a:r>
              <a:rPr lang="en-US" sz="1800"/>
              <a:t>GRASE pushes them into fixed plans, reports, logging and analyses which gives you more understanding and control.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AI proof agents produce many correct but bloated proofs.</a:t>
            </a:r>
          </a:p>
          <a:p>
            <a:pPr lvl="0"/>
            <a:r>
              <a:rPr lang="en-US" sz="1800"/>
              <a:t>So I wrote a proof minimizer: veracity-minimize-proofs.</a:t>
            </a:r>
          </a:p>
          <a:p>
            <a:pPr lvl="0"/>
            <a:r>
              <a:rPr lang="en-US" sz="1800"/>
              <a:t>It tests each assert and proof block individually: removes it, re-verify, comment it out if it is not needed and it does not increase time or memory.</a:t>
            </a:r>
          </a:p>
          <a:p>
            <a:pPr lvl="0"/>
            <a:r>
              <a:rPr lang="en-US" sz="1800"/>
              <a:t>One assert in Chap43 OrderedTableMtEph saved:</a:t>
            </a:r>
          </a:p>
          <a:p>
            <a:pPr lvl="1"/>
            <a:r>
              <a:rPr lang="en-US" sz="1800"/>
              <a:t>104 s of Z3 CPU</a:t>
            </a:r>
          </a:p>
          <a:p>
            <a:pPr lvl="1"/>
            <a:r>
              <a:rPr lang="en-US" sz="1800"/>
              <a:t>up to 89 MB of Z3 RSS per verify run.</a:t>
            </a:r>
          </a:p>
          <a:p>
            <a:pPr lvl="1"/>
            <a:r>
              <a:rPr lang="en-US" sz="1800"/>
              <a:t>Eight removals Z3 RSS dropped by 57%.</a:t>
            </a:r>
          </a:p>
          <a:p>
            <a:pPr lvl="0"/>
            <a:r>
              <a:rPr lang="en-US" sz="1800"/>
              <a:t>105 minutes of running the minimizer bought many hours of validation drop.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Holes Over Time — R20 to R201</a:t>
            </a:r>
          </a:p>
        </p:txBody>
      </p:sp>
      <p:pic>
        <p:nvPicPr>
          <p:cNvPr descr="proof_ho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pic>
        <p:nvPicPr>
          <p:cNvPr descr="proof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Five techiniques were used to optimize</a:t>
            </a:r>
          </a:p>
          <a:p>
            <a:pPr lvl="1"/>
            <a:r>
              <a:rPr lang="en-US" sz="1800"/>
              <a:t>minimize-proofs</a:t>
            </a:r>
          </a:p>
          <a:p>
            <a:pPr lvl="1"/>
            <a:r>
              <a:rPr lang="en-US" sz="1800"/>
              <a:t>profiling</a:t>
            </a:r>
          </a:p>
          <a:p>
            <a:pPr lvl="1"/>
            <a:r>
              <a:rPr lang="en-US" sz="1800"/>
              <a:t>splitting specs and applying them just where they are needed</a:t>
            </a:r>
          </a:p>
          <a:p>
            <a:pPr lvl="1"/>
            <a:r>
              <a:rPr lang="en-US" sz="1800"/>
              <a:t>opaque - to hide a definition within the module</a:t>
            </a:r>
          </a:p>
          <a:p>
            <a:pPr lvl="1"/>
            <a:r>
              <a:rPr lang="en-US" sz="1800"/>
              <a:t>private spec - to hide a definition across modules</a:t>
            </a:r>
          </a:p>
          <a:p>
            <a:pPr lvl="0"/>
            <a:r>
              <a:rPr lang="en-US" sz="1800"/>
              <a:t>OrderedTableMtEph: −57% proof time after minimize-proofs (R176).</a:t>
            </a:r>
          </a:p>
          <a:p>
            <a:pPr lvl="0"/>
            <a:r>
              <a:rPr lang="en-US" sz="1800"/>
              <a:t>UnionFindPCStEph: 139K Z3 instantiations → 0 after opaque pattern used in a required module.</a:t>
            </a:r>
          </a:p>
          <a:p>
            <a:pPr lvl="0"/>
            <a:r>
              <a:rPr lang="en-US" sz="1800"/>
              <a:t>Johnson Chap59: 756 MB → 520 MB (−31%) memory reduction.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Three Numbers and One Ratio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"/>
                <a:gridCol w="698500"/>
                <a:gridCol w="1308100"/>
                <a:gridCol w="5956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executable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specs and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C+P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Full bill for the verified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Fraction of deliverable a proofgrammer must read (LOC0R excluded)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/>
              <a:t>Programmer rate</a:t>
            </a:r>
            <a:r>
              <a:rPr lang="en-US" sz="1800"/>
              <a:t>: $375,000/yr (senior + 50% loading)</a:t>
            </a:r>
          </a:p>
          <a:p>
            <a:pPr lvl="0"/>
            <a:r>
              <a:rPr lang="en-US" sz="1800" b="1"/>
              <a:t>Real AI spend</a:t>
            </a:r>
            <a:r>
              <a:rPr lang="en-US" sz="1800"/>
              <a:t>: &lt; $7,000 across the whole effort</a:t>
            </a:r>
          </a:p>
          <a:p>
            <a:pPr lvl="0"/>
            <a:r>
              <a:rPr lang="en-US" sz="1800" b="1"/>
              <a:t>Derived –ai-costs</a:t>
            </a:r>
            <a:r>
              <a:rPr lang="en-US" sz="1800"/>
              <a:t>: $4.886/hr × 1,760 = </a:t>
            </a:r>
            <a:r>
              <a:rPr lang="en-US" sz="1800" b="1"/>
              <a:t>$8,599/yr</a:t>
            </a:r>
          </a:p>
          <a:p>
            <a:pPr lvl="0"/>
            <a:r>
              <a:rPr lang="en-US" sz="1800" b="1"/>
              <a:t>AI split by task-hours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21.6% APAS-AI ($1,512)</a:t>
            </a:r>
          </a:p>
          <a:p>
            <a:pPr lvl="1"/>
            <a:r>
              <a:rPr lang="en-US" sz="1800"/>
              <a:t>78.4% APAS-VERUS ($5,488)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KLOPC2R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KLOC0R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APAS-VERUS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166.4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198.2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95.9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Combined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— 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$150,723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— 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$161,594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LOP/LOC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1.08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—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$312,317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$1,877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$2,665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$6,305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— 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~33.3%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Head-to-Head — seL4 (2009) vs APAS-VERUS — 22.5 py base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(pre-AI)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APAS-VERUS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Ratio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Person-years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~35×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46,800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~42×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Verus ~5.7×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~4.4×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~25×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KLines / hour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Verus ~14×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$ 843,750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$ 4,300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~196×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$ 17,578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$ 2,225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~7.9×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$ 8,437,500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$ 244,840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~34.5×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LOPC2R = Lines of proven code 2 review</a:t>
            </a:r>
          </a:p>
          <a:p>
            <a:pPr lvl="0"/>
            <a:r>
              <a:rPr lang="en-US" sz="1800"/>
              <a:t>LOPC0R = Lines of proven code not to review</a:t>
            </a:r>
          </a:p>
          <a:p>
            <a:pPr lvl="0"/>
            <a:r>
              <a:rPr lang="en-US" sz="1800"/>
              <a:t>R = LOPC2R / (LOPC2R + LOC0R)</a:t>
            </a:r>
          </a:p>
          <a:p>
            <a:pPr lvl="0"/>
            <a:r>
              <a:rPr lang="en-US" sz="1800"/>
              <a:t>47,828 / 143,736 = 0.332749 = 33.2749 %</a:t>
            </a:r>
          </a:p>
          <a:p>
            <a:pPr lvl="0"/>
            <a:r>
              <a:rPr lang="en-US" sz="1800"/>
              <a:t>R — Review Ratio </a:t>
            </a:r>
            <a:r>
              <a:rPr lang="en-US" sz="1800" b="1"/>
              <a:t>~33.3%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What is the limiting factor now? </a:t>
            </a:r>
            <a:r>
              <a:rPr lang="en-US" sz="1800" b="1"/>
              <a:t>Code Review!</a:t>
            </a:r>
          </a:p>
          <a:p>
            <a:pPr lvl="0"/>
            <a:r>
              <a:rPr lang="en-US" sz="1800"/>
              <a:t>But really </a:t>
            </a:r>
            <a:r>
              <a:rPr lang="en-US" sz="1800" b="1"/>
              <a:t>Spec Review</a:t>
            </a:r>
            <a:r>
              <a:rPr lang="en-US" sz="1800"/>
              <a:t> when you prove.</a:t>
            </a:r>
          </a:p>
          <a:p>
            <a:pPr lvl="0"/>
            <a:r>
              <a:rPr lang="en-US" sz="1800"/>
              <a:t>What can we do to simplify code review?</a:t>
            </a:r>
          </a:p>
          <a:p>
            <a:pPr lvl="0" indent="-342900" marL="342900">
              <a:buAutoNum type="arabicPeriod"/>
            </a:pPr>
            <a:r>
              <a:rPr lang="en-US" sz="1800"/>
              <a:t>Modularity - traits/impls in Verus.</a:t>
            </a:r>
          </a:p>
          <a:p>
            <a:pPr lvl="0" indent="-342900" marL="342900">
              <a:buAutoNum startAt="2" type="arabicPeriod"/>
            </a:pPr>
            <a:r>
              <a:rPr lang="en-US" sz="1800"/>
              <a:t>TOC - This organizes the boilerplate to make reading easier.</a:t>
            </a:r>
          </a:p>
          <a:p>
            <a:pPr lvl="0" indent="-342900" marL="342900">
              <a:buAutoNum startAt="3" type="arabicPeriod"/>
            </a:pPr>
            <a:r>
              <a:rPr lang="en-US" sz="1800"/>
              <a:t>Proof - I really just read the specs. If they’re right the code is right!</a:t>
            </a:r>
          </a:p>
          <a:p>
            <a:pPr lvl="0" indent="-342900" marL="342900">
              <a:buAutoNum startAt="4" type="arabicPeriod"/>
            </a:pPr>
            <a:r>
              <a:rPr lang="en-US" sz="1800"/>
              <a:t>Tests - are hugely useful when you don’t trust your coding team.</a:t>
            </a:r>
          </a:p>
          <a:p>
            <a:pPr lvl="0" indent="-342900" marL="342900">
              <a:buAutoNum startAt="5" type="arabicPeriod"/>
            </a:pPr>
            <a:r>
              <a:rPr lang="en-US" sz="1800"/>
              <a:t>Formatting - rust formatting has been adopted in Verus. It is very low density.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Quantitative SE: What Rust Cargos use in std.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downloaded the 1036 most downloaded Rust projects, 3636 crates.</a:t>
            </a:r>
          </a:p>
          <a:p>
            <a:pPr lvl="0"/>
            <a:r>
              <a:rPr lang="en-US" sz="1800"/>
              <a:t>Top 1000 projects, 3636 crates.</a:t>
            </a:r>
          </a:p>
          <a:p>
            <a:pPr lvl="0"/>
            <a:r>
              <a:rPr lang="en-US" sz="1800"/>
              <a:t>48 data types fully support 100%.</a:t>
            </a:r>
          </a:p>
          <a:p>
            <a:pPr lvl="0"/>
            <a:r>
              <a:rPr lang="en-US" sz="1800"/>
              <a:t>79 modules fully support 99%.</a:t>
            </a:r>
          </a:p>
          <a:p>
            <a:pPr lvl="0"/>
            <a:r>
              <a:rPr lang="en-US" sz="1800"/>
              <a:t>1733 methods fully support 99%.</a:t>
            </a:r>
          </a:p>
          <a:p>
            <a:pPr lvl="0"/>
            <a:r>
              <a:rPr lang="en-US" sz="1800"/>
              <a:t>14,317 total fn definitions in std/core/alloc in Rust</a:t>
            </a:r>
          </a:p>
          <a:p>
            <a:pPr lvl="0"/>
            <a:r>
              <a:rPr lang="en-US" sz="1800"/>
              <a:t>4,965 pub fn definitions in std/core/alloc in Rust</a:t>
            </a:r>
          </a:p>
          <a:p>
            <a:pPr lvl="0"/>
            <a:r>
              <a:rPr lang="en-US" sz="1800"/>
              <a:t>But how many of those private functions do we need? I don’t know.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Compare Rust Libs to APAS-VERUS?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APAS-VERUS: -6,401 exec functions total, -4,911 with proofs</a:t>
            </a:r>
          </a:p>
          <a:p>
            <a:pPr lvl="0"/>
            <a:r>
              <a:rPr lang="en-US" sz="1800"/>
              <a:t>But APAS-VERUS has {Mt,St}x{Per,Eph}</a:t>
            </a:r>
          </a:p>
          <a:p>
            <a:pPr lvl="0"/>
            <a:r>
              <a:rPr lang="en-US" sz="1800"/>
              <a:t>So it is much more like 2000 distinct functions.</a:t>
            </a:r>
          </a:p>
          <a:p>
            <a:pPr lvl="0"/>
            <a:r>
              <a:rPr lang="en-US" sz="1800"/>
              <a:t>And I wrote this in 160 days while learning Verus.</a:t>
            </a:r>
          </a:p>
          <a:p>
            <a:pPr lvl="0"/>
            <a:r>
              <a:rPr lang="en-US" sz="1800"/>
              <a:t>At least 30 of those days were understanding and working around pain points.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How bad is our computer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Linux kernel team publishes 432 CVEs in two days 22 July 2026</a:t>
            </a:r>
          </a:p>
          <a:p>
            <a:pPr lvl="0"/>
            <a:r>
              <a:rPr lang="en-US" sz="1800"/>
              <a:t>Linux can’t handle this with their current process.</a:t>
            </a:r>
          </a:p>
          <a:p>
            <a:pPr lvl="0"/>
            <a:r>
              <a:rPr lang="en-US" sz="1800"/>
              <a:t>How many are really human verified not AI new CVE injections?</a:t>
            </a:r>
          </a:p>
          <a:p>
            <a:pPr lvl="0"/>
            <a:r>
              <a:rPr lang="en-US" sz="1800"/>
              <a:t>What happens when they try and make 432 changes one by one?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Mythos Audit Rust vs Firefox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"/>
                <a:gridCol w="2552700"/>
                <a:gridCol w="23368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 (Compiler/Std)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Firefox (Entire Codebase)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Codebase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~4,500 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~40,000 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Mythos Bugs Found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Vulnerability Density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0.0420 bugs/KLOC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0.0068 bugs/KLOC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Enemies of Proven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Proven Formal Semantics - we are getting close.</a:t>
            </a:r>
          </a:p>
          <a:p>
            <a:pPr lvl="0"/>
            <a:r>
              <a:rPr lang="en-US" sz="1800"/>
              <a:t>Code bloat: Rust’s Libs are a great example!</a:t>
            </a:r>
          </a:p>
          <a:p>
            <a:pPr lvl="0"/>
            <a:r>
              <a:rPr lang="en-US" sz="1800"/>
              <a:t>Will AIs just brute force the security problems?</a:t>
            </a:r>
          </a:p>
          <a:p>
            <a:pPr lvl="0"/>
            <a:r>
              <a:rPr lang="en-US" sz="1800"/>
              <a:t>Programmers: will they accept proof?</a:t>
            </a:r>
          </a:p>
          <a:p>
            <a:pPr lvl="0"/>
            <a:r>
              <a:rPr lang="en-US" sz="1800"/>
              <a:t>Features - how much is enough?</a:t>
            </a:r>
          </a:p>
          <a:p>
            <a:pPr lvl="0"/>
            <a:r>
              <a:rPr lang="en-US" sz="1800"/>
              <a:t>The Innovator’s Dilemma - would MSFT, Amazon, … do this?</a:t>
            </a:r>
          </a:p>
          <a:p>
            <a:pPr lvl="0"/>
            <a:r>
              <a:rPr lang="en-US" sz="1800"/>
              <a:t>Complexity: how much can we really specify?</a:t>
            </a:r>
          </a:p>
          <a:p>
            <a:pPr lvl="0"/>
            <a:r>
              <a:rPr lang="en-US" sz="1800"/>
              <a:t>Going type safe we get about 70% bug reduction.</a:t>
            </a:r>
          </a:p>
          <a:p>
            <a:pPr lvl="0"/>
            <a:r>
              <a:rPr lang="en-US" sz="1800"/>
              <a:t>Is FOL enough?</a:t>
            </a:r>
          </a:p>
          <a:p>
            <a:pPr lvl="0"/>
            <a:r>
              <a:rPr lang="en-US" sz="1800"/>
              <a:t>Proving code, do we get 90%? 95% Is that enough?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Review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We’ve talked about:</a:t>
            </a:r>
          </a:p>
          <a:p>
            <a:pPr lvl="1"/>
            <a:r>
              <a:rPr lang="en-US" sz="1800"/>
              <a:t>APAS, Rust, APAS’s implementation in Rust.</a:t>
            </a:r>
          </a:p>
          <a:p>
            <a:pPr lvl="1"/>
            <a:r>
              <a:rPr lang="en-US" sz="1800"/>
              <a:t>My Quantitative SE approach in Rusticate and Veracity.</a:t>
            </a:r>
          </a:p>
          <a:p>
            <a:pPr lvl="1"/>
            <a:r>
              <a:rPr lang="en-US" sz="1800"/>
              <a:t>SE in AI paired proving</a:t>
            </a:r>
          </a:p>
          <a:p>
            <a:pPr lvl="1"/>
            <a:r>
              <a:rPr lang="en-US" sz="1800"/>
              <a:t>CPR$ What does it really cost to write proven systems?</a:t>
            </a:r>
          </a:p>
          <a:p>
            <a:pPr lvl="1"/>
            <a:r>
              <a:rPr lang="en-US" sz="1800"/>
              <a:t>How bad is our computer security?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I’d love to take questions particularly about Verus or the quantitative software engineering of proofs!</a:t>
            </a:r>
          </a:p>
          <a:p>
            <a:pPr lvl="0"/>
            <a:r>
              <a:rPr lang="en-US" sz="1800"/>
              <a:t>I’m fascinated with how hard the AuthV2 work was before AI LLMS</a:t>
            </a:r>
          </a:p>
          <a:p>
            <a:pPr lvl="0"/>
            <a:r>
              <a:rPr lang="en-US" sz="1800"/>
              <a:t>https://www.amazon.science/publications/formally-verified-cloud-scale-authorization</a:t>
            </a:r>
          </a:p>
          <a:p>
            <a:pPr lvl="0"/>
            <a:r>
              <a:rPr lang="en-US" sz="1800"/>
              <a:t>You had to make your own tools to an unexpected degree.</a:t>
            </a:r>
          </a:p>
          <a:p>
            <a:pPr lvl="0"/>
            <a:r>
              <a:rPr lang="en-US" sz="1800"/>
              <a:t>What can you say about the state of proof in AWS or other parts of the company?</a:t>
            </a:r>
          </a:p>
          <a:p>
            <a:pPr lvl="0"/>
            <a:r>
              <a:rPr lang="en-US" sz="1800"/>
              <a:t>Is anyone using Verus?</a:t>
            </a:r>
          </a:p>
          <a:p>
            <a:pPr lvl="0"/>
            <a:r>
              <a:rPr lang="en-US" sz="1800"/>
              <a:t>Is Rust, despite it’s flaws, becoming popular?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2026-07-29T00:54:56Z</dcterms:created>
  <dcterms:modified xsi:type="dcterms:W3CDTF">2026-07-29T00:54:56Z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/>
  </property>
</Properties>
</file>