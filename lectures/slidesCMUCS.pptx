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4" Type="http://schemas.openxmlformats.org/officeDocument/2006/relationships/viewProps" Target="viewProps.xml" /><Relationship Id="rId9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6" Type="http://schemas.openxmlformats.org/officeDocument/2006/relationships/tableStyles" Target="tableStyles.xml" /><Relationship Id="rId9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briangmilnes@gmail.com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AI Paired Proof Engineering Techniques and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Brian G. Milnes </a:t>
            </a:r>
            <a:r>
              <a:rPr>
                <a:hlinkClick r:id="rId2"/>
              </a:rPr>
              <a:t>briangmilnes@gmail.com</a:t>
            </a:r>
          </a:p>
          <a:p>
            <a:pPr lvl="0"/>
            <a:r>
              <a:rPr lang="en-US" sz="1800"/>
              <a:t>Experience, Results and Techniques in building</a:t>
            </a:r>
          </a:p>
          <a:p>
            <a:pPr lvl="0"/>
            <a:r>
              <a:rPr lang="en-US" sz="1800"/>
              <a:t>Algorithms Parallel and Sequential by Acar and Blelloch</a:t>
            </a:r>
          </a:p>
          <a:p>
            <a:pPr lvl="0"/>
            <a:r>
              <a:rPr lang="en-US" sz="1800"/>
              <a:t>in Rust</a:t>
            </a:r>
          </a:p>
          <a:p>
            <a:pPr lvl="0"/>
            <a:r>
              <a:rPr lang="en-US" sz="1800"/>
              <a:t>and then proving it in Verus.</a:t>
            </a:r>
          </a:p>
          <a:p>
            <a:pPr lvl="0"/>
            <a:r>
              <a:rPr lang="en-US" sz="1800"/>
              <a:t>Or </a:t>
            </a:r>
            <a:r>
              <a:rPr lang="en-US" sz="1800" b="1"/>
              <a:t>What Can We Prove Today and for How Much?</a:t>
            </a:r>
          </a:p>
          <a:p>
            <a:pPr lvl="0"/>
            <a:r>
              <a:rPr lang="en-US" sz="1800"/>
              <a:t>https://github.com/briangmilnes/{APAS-VERUS,APAS-AI,rusticate,veracity}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Its a pleasure to speak here at CMU CS, my intellectual home.</a:t>
            </a:r>
          </a:p>
          <a:p>
            <a:pPr lvl="0"/>
            <a:r>
              <a:rPr lang="en-US" sz="1800"/>
              <a:t>Background</a:t>
            </a:r>
          </a:p>
          <a:p>
            <a:pPr lvl="0"/>
            <a:r>
              <a:rPr lang="en-US" sz="1800"/>
              <a:t>Algorithms Parallel and Sequential (APAS)</a:t>
            </a:r>
          </a:p>
          <a:p>
            <a:pPr lvl="0"/>
            <a:r>
              <a:rPr lang="en-US" sz="1800"/>
              <a:t>Rust - The Good, The Bad and the Ugly</a:t>
            </a:r>
          </a:p>
          <a:p>
            <a:pPr lvl="0"/>
            <a:r>
              <a:rPr lang="en-US" sz="1800"/>
              <a:t>APAS-AI - AI Paired Programming APAS in Rust</a:t>
            </a:r>
          </a:p>
          <a:p>
            <a:pPr lvl="0"/>
            <a:r>
              <a:rPr lang="en-US" sz="1800"/>
              <a:t>Rusticate - sending Python back to the family estate</a:t>
            </a:r>
          </a:p>
          <a:p>
            <a:pPr lvl="0"/>
            <a:r>
              <a:rPr lang="en-US" sz="1800"/>
              <a:t>Verus - Proving Rust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APAS-VERUS - AI Paired Proving APAS in Verus</a:t>
            </a:r>
          </a:p>
          <a:p>
            <a:pPr lvl="0"/>
            <a:r>
              <a:rPr lang="en-US" sz="1800"/>
              <a:t>Veracity - Software Engineering AI Paired Proving</a:t>
            </a:r>
          </a:p>
          <a:p>
            <a:pPr lvl="0"/>
            <a:r>
              <a:rPr lang="en-US" sz="1800"/>
              <a:t>Software Engineering in AI Paired Proving</a:t>
            </a:r>
          </a:p>
          <a:p>
            <a:pPr lvl="0"/>
            <a:r>
              <a:rPr lang="en-US" sz="1800"/>
              <a:t>CPR$ - how to measure costs and mine</a:t>
            </a:r>
          </a:p>
          <a:p>
            <a:pPr lvl="0"/>
            <a:r>
              <a:rPr lang="en-US" sz="1800"/>
              <a:t>The AI Paired Programming Interfaces</a:t>
            </a:r>
          </a:p>
          <a:p>
            <a:pPr lvl="0"/>
            <a:r>
              <a:rPr lang="en-US" sz="1800"/>
              <a:t>The Internet Apocalypse</a:t>
            </a:r>
          </a:p>
          <a:p>
            <a:pPr lvl="0"/>
            <a:r>
              <a:rPr lang="en-US" sz="1800"/>
              <a:t>Review of the Talk</a:t>
            </a:r>
          </a:p>
          <a:p>
            <a:pPr lvl="0"/>
            <a:r>
              <a:rPr lang="en-US" sz="1800"/>
              <a:t>Questions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B.Sc. Applied Math (Computer Science), Carnegie Mellon</a:t>
            </a:r>
          </a:p>
          <a:p>
            <a:pPr lvl="0"/>
            <a:r>
              <a:rPr lang="en-US" sz="1800"/>
              <a:t>2 years of AI PL development (Carnegie Group), my first startup.</a:t>
            </a:r>
          </a:p>
          <a:p>
            <a:pPr lvl="0"/>
            <a:r>
              <a:rPr lang="en-US" sz="1800"/>
              <a:t>7 years of (symbolic) AI Research (Soar Group, CMU CS)</a:t>
            </a:r>
          </a:p>
          <a:p>
            <a:pPr lvl="0"/>
            <a:r>
              <a:rPr lang="en-US" sz="1800"/>
              <a:t>2 years of PL research (Fox Group, CMU CS) aimed at making type safe languages work in systems and networking.</a:t>
            </a:r>
          </a:p>
          <a:p>
            <a:pPr lvl="0"/>
            <a:r>
              <a:rPr lang="en-US" sz="1800"/>
              <a:t>Founding member of Lycos - systems, performance, ran operations</a:t>
            </a:r>
          </a:p>
          <a:p>
            <a:pPr lvl="0"/>
            <a:r>
              <a:rPr lang="en-US" sz="1800"/>
              <a:t>Early Amazon - systems, performance, operations</a:t>
            </a:r>
          </a:p>
          <a:p>
            <a:pPr lvl="0"/>
            <a:r>
              <a:rPr lang="en-US" sz="1800"/>
              <a:t>M.Sc. Computer Science, University of Washington</a:t>
            </a:r>
          </a:p>
          <a:p>
            <a:pPr lvl="0"/>
            <a:r>
              <a:rPr lang="en-US" sz="1800"/>
              <a:t>Early Zillow - 6th engineer, ran operations, systems, performance</a:t>
            </a:r>
          </a:p>
          <a:p>
            <a:pPr lvl="0"/>
            <a:r>
              <a:rPr lang="en-US" sz="1800"/>
              <a:t>A general love of proving programs with Rocq, F* and now Verus.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Algorithms Parallel and Sequential (APAS)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chose to implement: Algorithms Parallel and Sequential (APAS) in Verus.</a:t>
            </a:r>
          </a:p>
          <a:p>
            <a:pPr lvl="0"/>
            <a:r>
              <a:rPr lang="en-US" sz="1800"/>
              <a:t>Umut Acar and Guy Blelloch 2022</a:t>
            </a:r>
          </a:p>
          <a:p>
            <a:pPr lvl="1"/>
            <a:r>
              <a:rPr lang="en-US" sz="1800"/>
              <a:t>121 algorithms!</a:t>
            </a:r>
          </a:p>
          <a:p>
            <a:pPr lvl="1"/>
            <a:r>
              <a:rPr lang="en-US" sz="1800"/>
              <a:t>81 of which can be parallel.</a:t>
            </a:r>
          </a:p>
          <a:p>
            <a:pPr lvl="1"/>
            <a:r>
              <a:rPr lang="en-US" sz="1800"/>
              <a:t>740 concepts.</a:t>
            </a:r>
          </a:p>
          <a:p>
            <a:pPr lvl="0"/>
            <a:r>
              <a:rPr lang="en-US" sz="1800"/>
              <a:t>Not only is it a great textbook but it proved with very few changes needed!</a:t>
            </a:r>
          </a:p>
          <a:p>
            <a:pPr lvl="0"/>
            <a:r>
              <a:rPr lang="en-US" sz="1800"/>
              <a:t>Thank you Umut and Guy!</a:t>
            </a:r>
          </a:p>
          <a:p>
            <a:pPr lvl="0"/>
            <a:r>
              <a:rPr lang="en-US" sz="1800"/>
              <a:t>A few weeks ago Zach Tatlock was on a call with Sandia National labs.</a:t>
            </a:r>
          </a:p>
          <a:p>
            <a:pPr lvl="0"/>
            <a:r>
              <a:rPr lang="en-US" sz="1800"/>
              <a:t>They said: “You can’t prove algorithms like that!”</a:t>
            </a:r>
          </a:p>
          <a:p>
            <a:pPr lvl="0"/>
            <a:r>
              <a:rPr lang="en-US" sz="1800"/>
              <a:t>He pointed them to APAS-VERUS and my linkedin racked up 1200 views.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20 year old PL</a:t>
            </a:r>
          </a:p>
          <a:p>
            <a:pPr lvl="0"/>
            <a:r>
              <a:rPr lang="en-US" sz="1800"/>
              <a:t>Fast compilation, code.</a:t>
            </a:r>
          </a:p>
          <a:p>
            <a:pPr lvl="0"/>
            <a:r>
              <a:rPr lang="en-US" sz="1800"/>
              <a:t>Industrial acceptance: AWS, Google, Huawei, Microsoft, and Mozilla.</a:t>
            </a:r>
          </a:p>
          <a:p>
            <a:pPr lvl="0"/>
            <a:r>
              <a:rPr lang="en-US" sz="1800"/>
              <a:t>Linux Kernel now uses it!</a:t>
            </a:r>
          </a:p>
          <a:p>
            <a:pPr lvl="0"/>
            <a:r>
              <a:rPr lang="en-US" sz="1800"/>
              <a:t>Linear typing plus borrowing! No GC!</a:t>
            </a:r>
          </a:p>
          <a:p>
            <a:pPr lvl="0"/>
            <a:r>
              <a:rPr lang="en-US" sz="1800"/>
              <a:t>Clear mutability.</a:t>
            </a:r>
          </a:p>
          <a:p>
            <a:pPr lvl="0"/>
            <a:r>
              <a:rPr lang="en-US" sz="1800"/>
              <a:t>Slicing! with ownership.</a:t>
            </a:r>
          </a:p>
          <a:p>
            <a:pPr lvl="0"/>
            <a:r>
              <a:rPr lang="en-US" sz="1800"/>
              <a:t>Their ‘cargo’ package system works rather well.</a:t>
            </a:r>
          </a:p>
          <a:p>
            <a:pPr lvl="0"/>
            <a:r>
              <a:rPr lang="en-US" sz="1800"/>
              <a:t>No objects for modularity! Good.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No GC! Circular structures require GC and why not have it!</a:t>
            </a:r>
          </a:p>
          <a:p>
            <a:pPr lvl="0"/>
            <a:r>
              <a:rPr lang="en-US" sz="1800"/>
              <a:t>No regions, just lifetime with end of scope deallocation which is slower.</a:t>
            </a:r>
          </a:p>
          <a:p>
            <a:pPr lvl="0"/>
            <a:r>
              <a:rPr lang="en-US" sz="1800"/>
              <a:t>Translating C to Rust is hard to get it into linear logic + borrowing.</a:t>
            </a:r>
          </a:p>
          <a:p>
            <a:pPr lvl="0"/>
            <a:r>
              <a:rPr lang="en-US" sz="1800"/>
              <a:t>However, you can (and I have) rewritten algorithms with a free list (that are right).</a:t>
            </a:r>
          </a:p>
          <a:p>
            <a:pPr lvl="0"/>
            <a:r>
              <a:rPr lang="en-US" sz="1800"/>
              <a:t>Macros, with typing checked at use, which is not so good.</a:t>
            </a:r>
          </a:p>
          <a:p>
            <a:pPr lvl="0"/>
            <a:r>
              <a:rPr lang="en-US" sz="1800"/>
              <a:t>No objects: it’s great for what it was invented for: modeling the real world and interfaces by Ivan Sutherland in 1962! (sorry Bob!).</a:t>
            </a:r>
          </a:p>
          <a:p>
            <a:pPr lvl="0"/>
            <a:r>
              <a:rPr lang="en-US" sz="1800"/>
              <a:t>Rust terminology is random.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Typeclasses are a weak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You get basic module with pub/pub(crate) and no-pub.</a:t>
            </a:r>
          </a:p>
          <a:p>
            <a:pPr lvl="0"/>
            <a:r>
              <a:rPr lang="en-US" sz="1800"/>
              <a:t>You get typeclasses which MUST be implemented at type.</a:t>
            </a:r>
          </a:p>
          <a:p>
            <a:pPr lvl="0"/>
            <a:r>
              <a:rPr lang="en-US" sz="1800"/>
              <a:t>The Rustaceans have decided that unless their module implements a typeclass at multiple types, they won’t use it.</a:t>
            </a:r>
          </a:p>
          <a:p>
            <a:pPr lvl="0"/>
            <a:r>
              <a:rPr lang="en-US" sz="1800"/>
              <a:t>So reading Rust is every bit as scattered as reading C.</a:t>
            </a:r>
          </a:p>
          <a:p>
            <a:pPr lvl="0"/>
            <a:r>
              <a:rPr lang="en-US" sz="1800"/>
              <a:t>Verus is now doing this also, but I ABUSE the notation to put all the specs together in APAS-VERUS for readability.</a:t>
            </a:r>
          </a:p>
          <a:p>
            <a:pPr lvl="0"/>
            <a:r>
              <a:rPr lang="en-US" sz="1800"/>
              <a:t>You will pine for ML modules!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Ugly — Equality and Ordering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Reflexive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NO!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NO! on leq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Antisymmetric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Consistent w/ 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Ugly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Clone</a:t>
            </a:r>
          </a:p>
          <a:p>
            <a:pPr lvl="1"/>
            <a:r>
              <a:rPr lang="en-US" sz="1800"/>
              <a:t>fn clone(&amp;self) -&gt; Self</a:t>
            </a:r>
          </a:p>
          <a:p>
            <a:pPr lvl="1"/>
            <a:r>
              <a:rPr lang="en-US" sz="1800"/>
              <a:t>Informal contract: returns a value equal to *self</a:t>
            </a:r>
          </a:p>
          <a:p>
            <a:pPr lvl="1"/>
            <a:r>
              <a:rPr lang="en-US" sz="1800"/>
              <a:t>No hard language enforcement — you can implement a “clone” that returns something different , but it violates the convention.</a:t>
            </a:r>
          </a:p>
          <a:p>
            <a:pPr lvl="0"/>
            <a:r>
              <a:rPr lang="en-US" sz="1800"/>
              <a:t>Copy: Clone</a:t>
            </a:r>
          </a:p>
          <a:p>
            <a:pPr lvl="0"/>
            <a:r>
              <a:rPr lang="en-US" sz="1800"/>
              <a:t>Copy is a subtrait of Clone — every Copy type must implement Clone</a:t>
            </a:r>
          </a:p>
          <a:p>
            <a:pPr lvl="0"/>
            <a:r>
              <a:rPr lang="en-US" sz="1800"/>
              <a:t>Hard contract: clone() must be equivalent to a bitwise copy, i.e., clone() == *self</a:t>
            </a:r>
          </a:p>
          <a:p>
            <a:pPr lvl="0"/>
            <a:r>
              <a:rPr lang="en-US" sz="1800"/>
              <a:t>This is documented in std: “if T: Copy, T::clone(&amp;x) must be equivalent to copying x”</a:t>
            </a:r>
          </a:p>
          <a:p>
            <a:pPr lvl="0"/>
            <a:r>
              <a:rPr lang="en-US" sz="1800"/>
              <a:t>What you really want here is to detangle these.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APAS-AI - AI Paired Programming APAS in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APAS-AI is a nearly complete, idiomatic Rust implementation of the algorithms from Acar and Blelloch.</a:t>
            </a:r>
          </a:p>
          <a:p>
            <a:pPr lvl="0"/>
            <a:r>
              <a:rPr lang="en-US" sz="1800"/>
              <a:t>Sequential and parallel variants throughout.</a:t>
            </a:r>
          </a:p>
          <a:p>
            <a:pPr lvl="0"/>
            <a:r>
              <a:rPr lang="en-US" sz="1800"/>
              <a:t>Timeline: 347 commits over 88 calendar days (Aug–Oct 2025).</a:t>
            </a:r>
          </a:p>
          <a:p>
            <a:pPr lvl="0"/>
            <a:r>
              <a:rPr lang="en-US" sz="1800"/>
              <a:t>59 days of active development; 8 residual commits in November.</a:t>
            </a:r>
          </a:p>
          <a:p>
            <a:pPr lvl="0"/>
            <a:r>
              <a:rPr lang="en-US" sz="1800"/>
              <a:t>I knew no AI paired programming when I started.</a:t>
            </a:r>
          </a:p>
          <a:p>
            <a:pPr lvl="0"/>
            <a:r>
              <a:rPr lang="en-US" sz="1800"/>
              <a:t>I knew no Rust when I started.</a:t>
            </a:r>
          </a:p>
          <a:p>
            <a:pPr lvl="0"/>
            <a:r>
              <a:rPr lang="en-US" sz="1800"/>
              <a:t>My AI had to teach it to me, which was harder than I thought as of the 94 terms used in the Rust language and docs, only 4 are real PL terms!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APAS-AI - AI Paired Programming APAS in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Scale:</a:t>
            </a:r>
          </a:p>
          <a:p>
            <a:pPr lvl="1"/>
            <a:r>
              <a:rPr lang="en-US" sz="1800"/>
              <a:t>42 chapters</a:t>
            </a:r>
          </a:p>
          <a:p>
            <a:pPr lvl="1"/>
            <a:r>
              <a:rPr lang="en-US" sz="1800"/>
              <a:t>238 source files</a:t>
            </a:r>
          </a:p>
          <a:p>
            <a:pPr lvl="1"/>
            <a:r>
              <a:rPr lang="en-US" sz="1800"/>
              <a:t>45,485 source LOC.</a:t>
            </a:r>
          </a:p>
          <a:p>
            <a:pPr lvl="0"/>
            <a:r>
              <a:rPr lang="en-US" sz="1800"/>
              <a:t>Tests:</a:t>
            </a:r>
          </a:p>
          <a:p>
            <a:pPr lvl="1"/>
            <a:r>
              <a:rPr lang="en-US" sz="1800"/>
              <a:t>246 files</a:t>
            </a:r>
          </a:p>
          <a:p>
            <a:pPr lvl="1"/>
            <a:r>
              <a:rPr lang="en-US" sz="1800"/>
              <a:t>55,223 LOC</a:t>
            </a:r>
          </a:p>
          <a:p>
            <a:pPr lvl="1"/>
            <a:r>
              <a:rPr lang="en-US" sz="1800"/>
              <a:t>3,923 test functions</a:t>
            </a:r>
          </a:p>
          <a:p>
            <a:pPr lvl="1"/>
            <a:r>
              <a:rPr lang="en-US" sz="1800"/>
              <a:t>1.2× the source code size which is heavy.</a:t>
            </a:r>
          </a:p>
          <a:p>
            <a:pPr lvl="1"/>
            <a:r>
              <a:rPr lang="en-US" sz="1800"/>
              <a:t>But tests are cheap now.</a:t>
            </a:r>
          </a:p>
          <a:p>
            <a:pPr lvl="0"/>
            <a:r>
              <a:rPr lang="en-US" sz="1800"/>
              <a:t>Benchmarks: 171 files, 13,890 LOC, 360 benchmark functions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Rusticate - sending Python back to the family 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Built because Python + regex cannot reliably parse Rust.</a:t>
            </a:r>
          </a:p>
          <a:p>
            <a:pPr lvl="0"/>
            <a:r>
              <a:rPr lang="en-US" sz="1800"/>
              <a:t>Webster’s definition of rusticate:</a:t>
            </a:r>
          </a:p>
          <a:p>
            <a:pPr lvl="1" indent="-342900" marL="685800">
              <a:buAutoNum type="arabicPeriod"/>
            </a:pPr>
            <a:r>
              <a:rPr lang="en-US" sz="1800"/>
              <a:t>To go to or live in the country.</a:t>
            </a:r>
          </a:p>
          <a:p>
            <a:pPr lvl="1" indent="-342900" marL="685800">
              <a:buAutoNum startAt="2" type="arabicPeriod"/>
            </a:pPr>
            <a:r>
              <a:rPr lang="en-US" sz="1800"/>
              <a:t>(British) To suspend a student from a university, especially Oxford or Cambridge, as a disciplinary punishment.</a:t>
            </a:r>
          </a:p>
          <a:p>
            <a:pPr lvl="0"/>
            <a:r>
              <a:rPr lang="en-US" sz="1800"/>
              <a:t>Rusticate is a suite of 89 tools, most deprecated, for analyzing and transforming rust codebases.</a:t>
            </a:r>
          </a:p>
          <a:p>
            <a:pPr lvl="0"/>
            <a:r>
              <a:rPr lang="en-US" sz="1800"/>
              <a:t>review tools, fix tools, metrics, and migration aids.</a:t>
            </a:r>
          </a:p>
          <a:p>
            <a:pPr lvl="0"/>
            <a:r>
              <a:rPr lang="en-US" sz="1800"/>
              <a:t>The string hacking detector is the foremost valuable tool to fix any and all transformation of Rust.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Verus: Verified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Verus is a tool for formally verifying Rust, developed at MSFT Research, VMware Research and Carnegie Mellon University.</a:t>
            </a:r>
          </a:p>
          <a:p>
            <a:pPr lvl="0"/>
            <a:r>
              <a:rPr lang="en-US" sz="1800"/>
              <a:t>Team: Andrea Lattuada, Travis Hance, Chris Hawblitzel, Jay Lorch, Matthias Brun, Chanhee Park, Yi Zhou, Jon Howell, Bryan Parno.</a:t>
            </a:r>
          </a:p>
          <a:p>
            <a:pPr lvl="0"/>
            <a:r>
              <a:rPr lang="en-US" sz="1800"/>
              <a:t>Goals: bring machine-checked proof to systems software written in Rust.</a:t>
            </a:r>
          </a:p>
          <a:p>
            <a:pPr lvl="0"/>
            <a:r>
              <a:rPr lang="en-US" sz="1800"/>
              <a:t>Goals: tight integration with the programming language.</a:t>
            </a:r>
          </a:p>
          <a:p>
            <a:pPr lvl="0"/>
            <a:r>
              <a:rPr lang="en-US" sz="1800"/>
              <a:t>Goals: easier faster proof.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Key Verus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“Verus: Verifying Rust Programs using Linear Ghost Types” Lattuada, Hance, Cho, Brun, Subasinghe, Zhou, Howell, Parno, Hawblitzel</a:t>
            </a:r>
          </a:p>
          <a:p>
            <a:pPr lvl="0"/>
            <a:r>
              <a:rPr lang="en-US" sz="1800"/>
              <a:t>“Verus: A Practical Foundation for Systems Verification” Lattuada, Hance, Bosamiya, Brun, Cho, LeBlanc, Srinivasan, Achermann, Chajed, Hawblitzel, Howell, Lorch, Padon, Parno</a:t>
            </a:r>
          </a:p>
          <a:p>
            <a:pPr lvl="0"/>
            <a:r>
              <a:rPr lang="en-US" sz="1800"/>
              <a:t>“Verifying Concurrent Systems Code” Travis Hance — PhD Thesis, Carnegie Mellon University, 2024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Specifications are written in a pure math sublang: First order logic.</a:t>
            </a:r>
          </a:p>
          <a:p>
            <a:pPr lvl="0"/>
            <a:r>
              <a:rPr lang="en-US" sz="1800"/>
              <a:t>spec functions, forall/exists, arithmetic, sets, sequences.</a:t>
            </a:r>
          </a:p>
          <a:p>
            <a:pPr lvl="0"/>
            <a:r>
              <a:rPr lang="en-US" sz="1800"/>
              <a:t>Undecidable.</a:t>
            </a:r>
          </a:p>
          <a:p>
            <a:pPr lvl="0"/>
            <a:r>
              <a:rPr lang="en-US" sz="1800"/>
              <a:t>Z3 handles linear arithmetic, arrays, and quantified formulas, but quantifier instantiation requires explicit trigger annotations.</a:t>
            </a:r>
          </a:p>
          <a:p>
            <a:pPr lvl="0"/>
            <a:r>
              <a:rPr lang="en-US" sz="1800"/>
              <a:t>But there is also a faster linear arithmetic solver, Singular.</a:t>
            </a:r>
          </a:p>
          <a:p>
            <a:pPr lvl="0"/>
            <a:r>
              <a:rPr lang="en-US" sz="1800"/>
              <a:t>Wraps existing Rust code:</a:t>
            </a:r>
          </a:p>
          <a:p>
            <a:pPr lvl="1"/>
            <a:r>
              <a:rPr lang="en-US" sz="1800"/>
              <a:t>spec / proof / requires / ensures on fns</a:t>
            </a:r>
          </a:p>
          <a:p>
            <a:pPr lvl="0"/>
            <a:r>
              <a:rPr lang="en-US" sz="1800"/>
              <a:t>Ships the Rust binaries directly.</a:t>
            </a:r>
          </a:p>
          <a:p>
            <a:pPr lvl="0"/>
            <a:r>
              <a:rPr lang="en-US" sz="1800"/>
              <a:t>Linear Logic + Borrowing from the Rust type system, which rustc checks.</a:t>
            </a:r>
          </a:p>
          <a:p>
            <a:pPr lvl="0"/>
            <a:r>
              <a:rPr lang="en-US" sz="1800"/>
              <a:t>The TCB then is Verus+Z3+RustC+STD, which is BIG.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Views and the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 View maps an executable Rust type to a mathematical ghost type: “Vec views as Seq”, “HashSet views as Set”.</a:t>
            </a:r>
          </a:p>
          <a:p>
            <a:pPr lvl="0"/>
            <a:r>
              <a:rPr lang="en-US" sz="1800"/>
              <a:t>Specs are written over the view; exec code manipulates the real type.</a:t>
            </a:r>
          </a:p>
          <a:p>
            <a:pPr lvl="0"/>
            <a:r>
              <a:rPr lang="en-US" sz="1800"/>
              <a:t>vstd is Verus’s standard library — specs for Vec, Seq, Set, Map, Multiset, arithmetic, common lemmas, Fns …</a:t>
            </a:r>
          </a:p>
          <a:p>
            <a:pPr lvl="0"/>
            <a:r>
              <a:rPr lang="en-US" sz="1800"/>
              <a:t>Ghost types live only in the verifier — they have no runtime cost and no runtime representation.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UnDirGraphStEph — Data Struct +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lang="en-US" sz="1100"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reject_recursive_types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(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)]</a:t>
            </a:r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struct</a:t>
            </a:r>
            <a:r>
              <a:rPr lang="en-US" sz="1100">
                <a:latin typeface="Courier"/>
              </a:rPr>
              <a:t> UnDirGraphStEph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StT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Hash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&gt;,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Edge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&gt;&gt;,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impl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StT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Hash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View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for</a:t>
            </a:r>
            <a:r>
              <a:rPr lang="en-US" sz="1100">
                <a:latin typeface="Courier"/>
              </a:rPr>
              <a:t> UnDirGraphStEph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type</a:t>
            </a:r>
            <a:r>
              <a:rPr lang="en-US" sz="1100">
                <a:latin typeface="Courier"/>
              </a:rPr>
              <a:t> 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GraphView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&lt;&lt;</a:t>
            </a:r>
            <a:r>
              <a:rPr lang="en-US" sz="1100">
                <a:latin typeface="Courier"/>
              </a:rPr>
              <a:t>V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as</a:t>
            </a:r>
            <a:r>
              <a:rPr lang="en-US" sz="1100">
                <a:latin typeface="Courier"/>
              </a:rPr>
              <a:t> 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 lang="en-US" sz="1100">
                <a:latin typeface="Courier"/>
              </a:rPr>
              <a:t>    open spec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view(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latin typeface="Courier"/>
              </a:rPr>
              <a:t>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 GraphView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@,</a:t>
            </a:r>
            <a:r>
              <a:rPr lang="en-US" sz="1100">
                <a:latin typeface="Courier"/>
              </a:rPr>
              <a:t> A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UnDirGraphStEph — Trait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trait</a:t>
            </a:r>
            <a:r>
              <a:rPr lang="en-US" sz="1100">
                <a:latin typeface="Courier"/>
              </a:rPr>
              <a:t> UnDirGraphStEphTrait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StT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Hash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&gt;:</a:t>
            </a:r>
            <a:br/>
            <a:r>
              <a:rPr lang="en-US" sz="1100">
                <a:latin typeface="Courier"/>
              </a:rPr>
              <a:t>    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GraphView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&lt;&lt;</a:t>
            </a:r>
            <a:r>
              <a:rPr lang="en-US" sz="1100">
                <a:latin typeface="Courier"/>
              </a:rPr>
              <a:t>V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as</a:t>
            </a:r>
            <a:r>
              <a:rPr lang="en-US" sz="1100">
                <a:latin typeface="Courier"/>
              </a:rPr>
              <a:t> 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Sized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open spec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spec_neighborhood(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Set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 lang="en-US" sz="1100">
                <a:latin typeface="Courier"/>
              </a:rPr>
              <a:t>        recommends spec_graphview_wf(self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contains(v)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Set::</a:t>
            </a:r>
            <a:r>
              <a:rPr lang="en-US" sz="1100">
                <a:latin typeface="Courier"/>
              </a:rPr>
              <a:t>new(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A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w))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||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A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contains((w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v)))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neighborhood(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>
                <a:latin typeface="Courier"/>
              </a:rPr>
              <a:t>V)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(nbrs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</a:t>
            </a:r>
            <a:br/>
            <a:r>
              <a:rPr lang="en-US" sz="1100">
                <a:latin typeface="Courier"/>
              </a:rPr>
              <a:t>        requires spec_graphview_wf(self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 lang="en-US" sz="1100">
                <a:latin typeface="Courier"/>
              </a:rPr>
              <a:t>        ensures 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==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spec_neighborhood(v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&lt;=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1100"/>
              <a:t>UnDirGraphStEph — Impl: </a:t>
            </a:r>
            <a:r>
              <a:rPr>
                <a:latin typeface="Courier"/>
              </a:rPr>
              <a:t>neighborhood</a:t>
            </a:r>
            <a:r>
              <a:rPr lang="en-US" sz="3200"/>
              <a:t> exec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neighborhood(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>
                <a:latin typeface="Courier"/>
              </a:rPr>
              <a:t>V)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(nbrs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let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mut</a:t>
            </a:r>
            <a:r>
              <a:rPr lang="en-US" sz="1100">
                <a:latin typeface="Courier"/>
              </a:rPr>
              <a:t>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SetStEph::</a:t>
            </a:r>
            <a:r>
              <a:rPr lang="en-US" sz="1100">
                <a:latin typeface="Courier"/>
              </a:rPr>
              <a:t>empty()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let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mut</a:t>
            </a:r>
            <a:r>
              <a:rPr lang="en-US" sz="1100">
                <a:latin typeface="Courier"/>
              </a:rPr>
              <a:t> it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iter()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let</a:t>
            </a:r>
            <a:r>
              <a:rPr lang="en-US" sz="1100">
                <a:latin typeface="Courier"/>
              </a:rPr>
              <a:t> ghost edges_seq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1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loop</a:t>
            </a:r>
            <a:br/>
            <a:r>
              <a:rPr lang="en-US" sz="1100">
                <a:latin typeface="Courier"/>
              </a:rPr>
              <a:t>        invariant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==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Set::</a:t>
            </a:r>
            <a:r>
              <a:rPr lang="en-US" sz="1100">
                <a:latin typeface="Courier"/>
              </a:rPr>
              <a:t>new(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 exists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i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lang="en-US" sz="1100">
                <a:latin typeface="Courier"/>
              </a:rPr>
              <a:t>            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0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&lt;=</a:t>
            </a:r>
            <a:r>
              <a:rPr lang="en-US" sz="1100">
                <a:latin typeface="Courier"/>
              </a:rPr>
              <a:t> i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0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&amp;&amp;</a:t>
            </a:r>
            <a:r>
              <a:rPr lang="en-US" sz="1100">
                <a:latin typeface="Courier"/>
              </a:rPr>
              <a:t> </a:t>
            </a:r>
            <a:r>
              <a:rPr lang="en-US" sz="1100" i="1">
                <a:solidFill>
                  <a:srgbClr val="60A0B0"/>
                </a:solidFill>
                <a:latin typeface="Courier"/>
              </a:rPr>
              <a:t>/* edges_seq[i] hits v on either side */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...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      decreases edges_seq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len()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0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match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next()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     </a:t>
            </a:r>
            <a:r>
              <a:rPr lang="en-US" sz="1100">
                <a:solidFill>
                  <a:srgbClr val="880000"/>
                </a:solidFill>
                <a:latin typeface="Courier"/>
              </a:rPr>
              <a:t>None</a:t>
            </a:r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proof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</a:t>
            </a:r>
            <a:r>
              <a:rPr lang="en-US" sz="1100" i="1">
                <a:solidFill>
                  <a:srgbClr val="60A0B0"/>
                </a:solidFill>
                <a:latin typeface="Courier"/>
              </a:rPr>
              <a:t>/* set-equality lemmas */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return</a:t>
            </a:r>
            <a:r>
              <a:rPr lang="en-US" sz="1100">
                <a:latin typeface="Courier"/>
              </a:rPr>
              <a:t>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        </a:t>
            </a:r>
            <a:r>
              <a:rPr lang="en-US" sz="1100">
                <a:solidFill>
                  <a:srgbClr val="880000"/>
                </a:solidFill>
                <a:latin typeface="Courier"/>
              </a:rPr>
              <a:t>Some</a:t>
            </a:r>
            <a:r>
              <a:rPr lang="en-US" sz="1100">
                <a:latin typeface="Courier"/>
              </a:rPr>
              <a:t>(e)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</a:t>
            </a:r>
            <a:r>
              <a:rPr lang="en-US" sz="1100" i="1">
                <a:solidFill>
                  <a:srgbClr val="60A0B0"/>
                </a:solidFill>
                <a:latin typeface="Courier"/>
              </a:rPr>
              <a:t>/* if feq(&amp;e.0,v) insert e.1; sym. */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...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Declaring an external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Four specification constructs are used to give specs to Rust stdlib.</a:t>
            </a:r>
          </a:p>
          <a:p>
            <a:pPr lvl="0"/>
            <a:r>
              <a:rPr lang="en-US" sz="1800"/>
              <a:t>A proxy struct that introduces a spec for a foreign type.</a:t>
            </a:r>
          </a:p>
          <a:p>
            <a:pPr lvl="0"/>
            <a:r>
              <a:rPr lang="en-US" sz="1800"/>
              <a:t>The proxy struct name is conventionally ExTypeName.</a:t>
            </a:r>
          </a:p>
          <a:p>
            <a:pPr lvl="0" indent="0">
              <a:buNone/>
            </a:pPr>
            <a:r>
              <a:rPr>
                <a:latin typeface="Courier"/>
              </a:rPr>
              <a:t>  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external_type_specification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struct</a:t>
            </a:r>
            <a:r>
              <a:rPr lang="en-US" sz="1100">
                <a:latin typeface="Courier"/>
              </a:rPr>
              <a:t> ExVec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(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Vec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Declaring an external function/method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A proxy function with the same signature as the foreign function, carrying the requires/ensures.</a:t>
            </a:r>
          </a:p>
          <a:p>
            <a:pPr lvl="0" indent="0">
              <a:buNone/>
            </a:pPr>
            <a:r>
              <a:rPr>
                <a:latin typeface="Courier"/>
              </a:rPr>
              <a:t>  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external_fn_specification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ex_vec_push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mut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Vec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&gt;,</a:t>
            </a:r>
            <a:r>
              <a:rPr lang="en-US" sz="1100">
                <a:latin typeface="Courier"/>
              </a:rPr>
              <a:t> value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T)</a:t>
            </a:r>
            <a:br/>
            <a:r>
              <a:rPr lang="en-US" sz="1100">
                <a:latin typeface="Courier"/>
              </a:rPr>
              <a:t>      requires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len()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usize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solidFill>
                  <a:srgbClr val="880000"/>
                </a:solidFill>
                <a:latin typeface="Courier"/>
              </a:rPr>
              <a:t>MAX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    ensures 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==</a:t>
            </a:r>
            <a:r>
              <a:rPr lang="en-US" sz="1100">
                <a:latin typeface="Courier"/>
              </a:rPr>
              <a:t> old(v)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push(value)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push(value)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Declaring an external function/method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Add a View and specs to a foreign type.</a:t>
            </a:r>
          </a:p>
          <a:p>
            <a:pPr lvl="0" indent="0">
              <a:buNone/>
            </a:pPr>
            <a:r>
              <a:rPr>
                <a:latin typeface="Courier"/>
              </a:rPr>
              <a:t>  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external_type_specification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struct</a:t>
            </a:r>
            <a:r>
              <a:rPr lang="en-US" sz="1100">
                <a:latin typeface="Courier"/>
              </a:rPr>
              <a:t> ExHashMap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(HashMap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impl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View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for</a:t>
            </a:r>
            <a:r>
              <a:rPr lang="en-US" sz="1100">
                <a:latin typeface="Courier"/>
              </a:rPr>
              <a:t> ExHashMap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type</a:t>
            </a:r>
            <a:r>
              <a:rPr lang="en-US" sz="1100">
                <a:latin typeface="Courier"/>
              </a:rPr>
              <a:t> 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K::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 lang="en-US" sz="1100">
                <a:latin typeface="Courier"/>
              </a:rPr>
              <a:t>       spec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view(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K::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&gt;;}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external_trait_specification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Adds a spec to a foreign trait without modifying it: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external_trait_specification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trait</a:t>
            </a:r>
            <a:r>
              <a:rPr lang="en-US" sz="1100">
                <a:latin typeface="Courier"/>
              </a:rPr>
              <a:t> ExClone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Sized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type</a:t>
            </a:r>
            <a:r>
              <a:rPr lang="en-US" sz="1100">
                <a:latin typeface="Courier"/>
              </a:rPr>
              <a:t> ExternalTraitSpecificationFor: core::clone::Clone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clone(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 lang="en-US" sz="1100"/>
              <a:t>The proxy trait name is </a:t>
            </a:r>
            <a:r>
              <a:rPr>
                <a:latin typeface="Courier"/>
              </a:rPr>
              <a:t>Ex&lt;TraitName&gt;</a:t>
            </a:r>
            <a:r>
              <a:rPr lang="en-US" sz="1100"/>
              <a:t> by convention.</a:t>
            </a:r>
          </a:p>
          <a:p>
            <a:pPr lvl="0"/>
            <a:r>
              <a:rPr lang="en-US" sz="1800"/>
              <a:t>Add </a:t>
            </a:r>
            <a:r>
              <a:rPr>
                <a:latin typeface="Courier"/>
              </a:rPr>
              <a:t>requires</a:t>
            </a:r>
            <a:r>
              <a:rPr lang="en-US" sz="1100"/>
              <a:t>/</a:t>
            </a:r>
            <a:r>
              <a:rPr>
                <a:latin typeface="Courier"/>
              </a:rPr>
              <a:t>ensures</a:t>
            </a:r>
            <a:r>
              <a:rPr lang="en-US" sz="1800"/>
              <a:t> to the method to give it a full contract.</a:t>
            </a:r>
          </a:p>
          <a:p>
            <a:pPr lvl="0"/>
            <a:r>
              <a:rPr lang="en-US" sz="1800"/>
              <a:t>Limitation: no generics.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Problem: Rust’s ownership types handle sequential aliasing well but cannot express distributed protocol state across threads.</a:t>
            </a:r>
          </a:p>
          <a:p>
            <a:pPr lvl="0"/>
            <a:r>
              <a:rPr lang="en-US" sz="1800"/>
              <a:t>Answer: A Tokenized State Machine defines protocol state as fields with sharding strategies (variable, map, count, storage_option…).</a:t>
            </a:r>
          </a:p>
          <a:p>
            <a:pPr lvl="0"/>
            <a:r>
              <a:rPr lang="en-US" sz="1800"/>
              <a:t>Transitions and an inductive invariant are proved once, globally.</a:t>
            </a:r>
          </a:p>
          <a:p>
            <a:pPr lvl="0"/>
            <a:r>
              <a:rPr lang="en-US" sz="1800"/>
              <a:t>Verus auto-generates ghost token types and exchange functions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So client code manipulates local tokens, not global state.</a:t>
            </a:r>
          </a:p>
          <a:p>
            <a:pPr lvl="0"/>
            <a:r>
              <a:rPr lang="en-US" sz="1800"/>
              <a:t>RwLock in vstd is implemented via a tokenized state machine</a:t>
            </a:r>
          </a:p>
          <a:p>
            <a:pPr lvl="0"/>
            <a:r>
              <a:rPr lang="en-US" sz="1800"/>
              <a:t>The lock’s internal protocol (unlocked / read-locked / write-locked, reader count) is the TSM.</a:t>
            </a:r>
          </a:p>
          <a:p>
            <a:pPr lvl="0"/>
            <a:r>
              <a:rPr lang="en-US" sz="1800"/>
              <a:t>RwLockPredicate is the (single) invariant the user supplies.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Hance et al. “Sharding the State Machine” — OSDI 2023 (primary TSM paper)</a:t>
            </a:r>
          </a:p>
          <a:p>
            <a:pPr lvl="0"/>
            <a:r>
              <a:rPr lang="en-US" sz="1800"/>
              <a:t>Hance, Howell, Padon, Parno. “Leaf” — OOPSLA 2023 (storage protocols)</a:t>
            </a:r>
          </a:p>
          <a:p>
            <a:pPr lvl="0"/>
            <a:r>
              <a:rPr lang="en-US" sz="1800"/>
              <a:t>Hance. PhD Thesis, CMU-CS-CS-24-146, 2024 (full formal treatment)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Verus: How Fast Verus Is Moving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4,225 commits since March 2021 — 5 years, still accelerating</a:t>
            </a:r>
          </a:p>
          <a:p>
            <a:pPr lvl="0"/>
            <a:r>
              <a:rPr lang="en-US" sz="1800"/>
              <a:t>Commits per year:</a:t>
            </a:r>
          </a:p>
          <a:p>
            <a:pPr lvl="0"/>
            <a:r>
              <a:rPr lang="en-US" sz="1800"/>
              <a:t>2021: 474 2022: 906 2023: 992</a:t>
            </a:r>
          </a:p>
          <a:p>
            <a:pPr lvl="0"/>
            <a:r>
              <a:rPr lang="en-US" sz="1800"/>
              <a:t>2024: 745 2025: 761 2026: 347 (thru April)</a:t>
            </a:r>
          </a:p>
          <a:p>
            <a:pPr lvl="0"/>
            <a:r>
              <a:rPr lang="en-US" sz="1800"/>
              <a:t>Rolling releases: 396 tagged — roughly one every 4 days</a:t>
            </a:r>
          </a:p>
          <a:p>
            <a:pPr lvl="0"/>
            <a:r>
              <a:rPr lang="en-US" sz="1800"/>
              <a:t>59 stable releases!</a:t>
            </a:r>
          </a:p>
          <a:p>
            <a:pPr lvl="0"/>
            <a:r>
              <a:rPr lang="en-US" sz="1800"/>
              <a:t>Excellent team and work. I have had only a few crashes, which I could work around.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 AI Paired Proving APAS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Goal: formally verify all algorithms in Acar and Blelloch</a:t>
            </a:r>
          </a:p>
          <a:p>
            <a:pPr lvl="1"/>
            <a:r>
              <a:rPr lang="en-US" sz="1800"/>
              <a:t>Every algorithm gets a machine-checked proof</a:t>
            </a:r>
          </a:p>
          <a:p>
            <a:pPr lvl="1"/>
            <a:r>
              <a:rPr lang="en-US" sz="1800"/>
              <a:t>no admitted lemmas,</a:t>
            </a:r>
          </a:p>
          <a:p>
            <a:pPr lvl="1"/>
            <a:r>
              <a:rPr lang="en-US" sz="1800"/>
              <a:t>no hand-waving in production code.</a:t>
            </a:r>
          </a:p>
          <a:p>
            <a:pPr lvl="0"/>
            <a:r>
              <a:rPr lang="en-US" sz="1800"/>
              <a:t>44 chapters, 262 algorithm files, upto 4 variants per algorithm: StEph (sequential mutable), StPer (sequential persistent), MtEph (parallel mutable), MtPer (parallel persistent).</a:t>
            </a:r>
          </a:p>
          <a:p>
            <a:pPr lvl="0"/>
            <a:r>
              <a:rPr lang="en-US" sz="1800"/>
              <a:t>Minimal use of Rust std.</a:t>
            </a:r>
          </a:p>
          <a:p>
            <a:pPr lvl="0"/>
            <a:r>
              <a:rPr lang="en-US" sz="1800"/>
              <a:t>But as you’ll see I had to write some axioms and admit a class of functions.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 AI Paired Proving APAS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26 vstdplus library modules, mostly making Views.</a:t>
            </a:r>
          </a:p>
          <a:p>
            <a:pPr lvl="0"/>
            <a:r>
              <a:rPr lang="en-US" sz="1800"/>
              <a:t>29 standards documents encoding project proof conventions,</a:t>
            </a:r>
          </a:p>
          <a:p>
            <a:pPr lvl="0"/>
            <a:r>
              <a:rPr lang="en-US" sz="1800"/>
              <a:t>Verification is the primary goal.</a:t>
            </a:r>
          </a:p>
          <a:p>
            <a:pPr lvl="0"/>
            <a:r>
              <a:rPr lang="en-US" sz="1800"/>
              <a:t>Runtime tests (RTT) and proof-time tests (PTT) are secondary, but still terribly useful.</a:t>
            </a:r>
          </a:p>
          <a:p>
            <a:pPr lvl="0"/>
            <a:r>
              <a:rPr lang="en-US" sz="1800"/>
              <a:t>They both still catch errors and instruct the AI.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Scale: 44 chapters, 262 files, 186,223 src LOC (not counting comments).</a:t>
            </a:r>
          </a:p>
          <a:p>
            <a:pPr lvl="0"/>
            <a:r>
              <a:rPr lang="en-US" sz="1800"/>
              <a:t>With vstdplus, standards, RTT, PTT: 275,014 total LOC.</a:t>
            </a:r>
          </a:p>
          <a:p>
            <a:pPr lvl="0"/>
            <a:r>
              <a:rPr lang="en-US" sz="1800"/>
              <a:t>Built in 160 days, 2,596 commits, 8 agents, 281 agent-round reports.</a:t>
            </a:r>
          </a:p>
          <a:p>
            <a:pPr lvl="0"/>
            <a:r>
              <a:rPr lang="en-US" sz="1800"/>
              <a:t>Verification: 5,674 verified proof obligations, 0 errors.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Full Validation Cost (2026-04-12)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Elapsed: 210s</a:t>
            </a:r>
          </a:p>
          <a:p>
            <a:pPr lvl="0"/>
            <a:r>
              <a:rPr lang="en-US" sz="1800"/>
              <a:t>rust_verify RSS: 10,278 MB (~10 GB)</a:t>
            </a:r>
          </a:p>
          <a:p>
            <a:pPr lvl="0"/>
            <a:r>
              <a:rPr lang="en-US" sz="1800"/>
              <a:t>Z3 RSS: 6,874 MB (~6.7 GB)</a:t>
            </a:r>
          </a:p>
          <a:p>
            <a:pPr lvl="0"/>
            <a:r>
              <a:rPr lang="en-US" sz="1800"/>
              <a:t>rust_verify CPU: 216s</a:t>
            </a:r>
          </a:p>
          <a:p>
            <a:pPr lvl="0"/>
            <a:r>
              <a:rPr lang="en-US" sz="1800"/>
              <a:t>Z3 CPU: 265s</a:t>
            </a:r>
          </a:p>
          <a:p>
            <a:pPr lvl="0"/>
            <a:r>
              <a:rPr lang="en-US" sz="1800"/>
              <a:t>But I have had Z3 jump up to as much as 28 GB when I write bad proofs.</a:t>
            </a:r>
          </a:p>
          <a:p>
            <a:pPr lvl="0"/>
            <a:r>
              <a:rPr lang="en-US" sz="1800"/>
              <a:t>Somewhere in it I suspect there is a novel formal verification of some algorithm.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Runtime tests: 3,776 pass in 21 s.</a:t>
            </a:r>
          </a:p>
          <a:p>
            <a:pPr lvl="0"/>
            <a:r>
              <a:rPr lang="en-US" sz="1800"/>
              <a:t>Verus has a nice proof-time test harness, so I pulled it out:</a:t>
            </a:r>
          </a:p>
          <a:p>
            <a:pPr lvl="1"/>
            <a:r>
              <a:rPr lang="en-US" sz="1800"/>
              <a:t>221 pass in 259 s.</a:t>
            </a:r>
          </a:p>
          <a:p>
            <a:pPr lvl="1"/>
            <a:r>
              <a:rPr lang="en-US" sz="1800"/>
              <a:t>I used it mostly to continuously track that my iterators prove and continue to prove with verus changes and my specifications.</a:t>
            </a:r>
          </a:p>
          <a:p>
            <a:pPr lvl="1"/>
            <a:r>
              <a:rPr lang="en-US" sz="1800"/>
              <a:t>These caught dozens of problems that would have been conflated with algorithms loops.</a:t>
            </a:r>
          </a:p>
          <a:p>
            <a:pPr lvl="0"/>
            <a:r>
              <a:rPr lang="en-US" sz="1800"/>
              <a:t>Benchmarks in 42s.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Holes: started at 238 (R20), now 0!</a:t>
            </a:r>
          </a:p>
          <a:p>
            <a:pPr lvl="0"/>
            <a:r>
              <a:rPr lang="en-US" sz="1800"/>
              <a:t>Largest chapter is the forest: Chap37 - AVL trees, BST variants - 20,319 src LOC.</a:t>
            </a:r>
          </a:p>
          <a:p>
            <a:pPr lvl="0"/>
            <a:r>
              <a:rPr lang="en-US" sz="1800"/>
              <a:t>2 × more source code to verify than APAS-AI needed to implement.</a:t>
            </a:r>
          </a:p>
          <a:p>
            <a:pPr lvl="0"/>
            <a:r>
              <a:rPr lang="en-US" sz="1800"/>
              <a:t>Start: 2025-11-03</a:t>
            </a:r>
          </a:p>
          <a:p>
            <a:pPr lvl="0"/>
            <a:r>
              <a:rPr lang="en-US" sz="1800"/>
              <a:t>End : 2026-04-12</a:t>
            </a:r>
          </a:p>
          <a:p>
            <a:pPr lvl="0"/>
            <a:r>
              <a:rPr lang="en-US" sz="1800"/>
              <a:t>Duration: 150 calendar days, roughly (more later)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Spec 32,868 (21%)</a:t>
            </a:r>
          </a:p>
          <a:p>
            <a:pPr lvl="0"/>
            <a:r>
              <a:rPr lang="en-US" sz="1800"/>
              <a:t>Proof 42,251 (27%)</a:t>
            </a:r>
          </a:p>
          <a:p>
            <a:pPr lvl="0"/>
            <a:r>
              <a:rPr lang="en-US" sz="1800"/>
              <a:t>Exec 67,883 (44%)</a:t>
            </a:r>
          </a:p>
          <a:p>
            <a:pPr lvl="0"/>
            <a:r>
              <a:rPr lang="en-US" sz="1800"/>
              <a:t>Rust 12,206 (8%) plain Rust (outside Verus!)</a:t>
            </a:r>
          </a:p>
          <a:p>
            <a:pPr lvl="0"/>
            <a:r>
              <a:rPr lang="en-US" sz="1800"/>
              <a:t>The “rust” 8% is code outside Verus! — Debug impls, macros, cfg, etc.</a:t>
            </a:r>
          </a:p>
          <a:p>
            <a:pPr lvl="0"/>
            <a:r>
              <a:rPr lang="en-US" sz="1800"/>
              <a:t>All proof to exec: 75,119 / 67,883 = 110%.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The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When I started Verus, iterators for collections took quite some time.</a:t>
            </a:r>
          </a:p>
          <a:p>
            <a:pPr lvl="0"/>
            <a:r>
              <a:rPr lang="en-US" sz="1800"/>
              <a:t>Generics and Equality was the second big pain point.</a:t>
            </a:r>
          </a:p>
          <a:p>
            <a:pPr lvl="0"/>
            <a:r>
              <a:rPr lang="en-US" sz="1800"/>
              <a:t>I still have full equality axioms for generic types.</a:t>
            </a:r>
          </a:p>
          <a:p>
            <a:pPr lvl="0"/>
            <a:r>
              <a:rPr lang="en-US" sz="1800"/>
              <a:t>Ordering was and is still difficult, it made my UnionFind consume up to 28GB in Z3.</a:t>
            </a:r>
          </a:p>
          <a:p>
            <a:pPr lvl="0"/>
            <a:r>
              <a:rPr lang="en-US" sz="1800"/>
              <a:t>Verus is so fast, even with bloated AI proofs, I didn’t profile much until I was in the last few chapters.</a:t>
            </a:r>
          </a:p>
          <a:p>
            <a:pPr lvl="0"/>
            <a:r>
              <a:rPr lang="en-US" sz="1800"/>
              <a:t>I simply made validate isolate by chapters.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The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Closures took a good bit of work.</a:t>
            </a:r>
          </a:p>
          <a:p>
            <a:pPr lvl="0"/>
            <a:r>
              <a:rPr lang="en-US" sz="1800"/>
              <a:t>Applying them in map/reduce and so on took a while.</a:t>
            </a:r>
          </a:p>
          <a:p>
            <a:pPr lvl="0"/>
            <a:r>
              <a:rPr lang="en-US" sz="1800"/>
              <a:t>Rust has FnOnce &lt; FnMut &lt; Fn, but no real FPure.</a:t>
            </a:r>
          </a:p>
          <a:p>
            <a:pPr lvl="0"/>
            <a:r>
              <a:rPr lang="en-US" sz="1800"/>
              <a:t>You can const fn and the compiler will check it but then you can’t say: </a:t>
            </a:r>
            <a:r>
              <a:rPr>
                <a:latin typeface="Courier"/>
              </a:rPr>
              <a:t>fn map(const fn F)</a:t>
            </a:r>
          </a:p>
          <a:p>
            <a:pPr lvl="0"/>
            <a:r>
              <a:rPr lang="en-US" sz="1800"/>
              <a:t>Verus Ghost functions allows good validation but purity would be simpler.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AutoCLRS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AutoCLRS is Swamy et al. and AIs implementation: “Introduction to Algorithms, 4th ed” 2022</a:t>
            </a:r>
          </a:p>
          <a:p>
            <a:pPr lvl="0"/>
            <a:r>
              <a:rPr lang="en-US" sz="1800"/>
              <a:t>by Thomas H. Cormen, Charles E. Leiserson, Ronald L. Rivest, and Clifford Stein.</a:t>
            </a:r>
          </a:p>
          <a:p>
            <a:pPr lvl="0"/>
            <a:r>
              <a:rPr lang="en-US" sz="1800"/>
              <a:t>in Pulse.</a:t>
            </a:r>
          </a:p>
          <a:p>
            <a:pPr lvl="0"/>
            <a:r>
              <a:rPr lang="en-US" sz="1800"/>
              <a:t>RISE MSR blog (2026-03-06) says the initial 10K lines came “very quickly” and then “about a month of nudging” to reach 100K LOC.</a:t>
            </a:r>
          </a:p>
          <a:p>
            <a:pPr lvl="0"/>
            <a:r>
              <a:rPr lang="en-US" sz="1800"/>
              <a:t>And now seems to be about 130K LOC.</a:t>
            </a:r>
          </a:p>
          <a:p>
            <a:pPr lvl="0"/>
            <a:r>
              <a:rPr lang="en-US" sz="1800"/>
              <a:t>Nikhil Swamy with thanks to Gabriel Ebner, Lef Ioannidis, Guido Martinez, Matthai Philipose and Tahina Ramananandro.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AutoCLRS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They definitely had some tool advantages in terms of incremental proofs through a server.</a:t>
            </a:r>
          </a:p>
          <a:p>
            <a:pPr lvl="0"/>
            <a:r>
              <a:rPr lang="en-US" sz="1800"/>
              <a:t>That’s another verus pain point but not too bad.</a:t>
            </a:r>
          </a:p>
          <a:p>
            <a:pPr lvl="0"/>
            <a:r>
              <a:rPr lang="en-US" sz="1800"/>
              <a:t>Plus, they knew F* and Pulse to start!</a:t>
            </a:r>
          </a:p>
          <a:p>
            <a:pPr lvl="0"/>
            <a:r>
              <a:rPr lang="en-US" sz="1800"/>
              <a:t>And they did a formal specification of algorithmic complexity!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Veracity is a suite of 22+ tools for analyzing, reviewing, and fixing Verus codebases.</a:t>
            </a:r>
          </a:p>
          <a:p>
            <a:pPr lvl="0"/>
            <a:r>
              <a:rPr lang="en-US" sz="1800"/>
              <a:t>Review tools:</a:t>
            </a:r>
          </a:p>
          <a:p>
            <a:pPr lvl="1"/>
            <a:r>
              <a:rPr lang="en-US" sz="1800"/>
              <a:t>proof holes (assume, external_body, admit),</a:t>
            </a:r>
          </a:p>
          <a:p>
            <a:pPr lvl="1"/>
            <a:r>
              <a:rPr lang="en-US" sz="1800"/>
              <a:t>style enforcement (21 rules, auto-reorder),</a:t>
            </a:r>
          </a:p>
          <a:p>
            <a:pPr lvl="1"/>
            <a:r>
              <a:rPr lang="en-US" sz="1800"/>
              <a:t>with spec strength classification fed to AI,</a:t>
            </a:r>
          </a:p>
          <a:p>
            <a:pPr lvl="1"/>
            <a:r>
              <a:rPr lang="en-US" sz="1800"/>
              <a:t>veracity-count-loc (spec/proof/exec breakdown),</a:t>
            </a:r>
          </a:p>
          <a:p>
            <a:pPr lvl="1"/>
            <a:r>
              <a:rPr lang="en-US" sz="1800"/>
              <a:t>chapter-cleanliness-status (clean vs. holed chapter summary vs blocked by),</a:t>
            </a:r>
          </a:p>
          <a:p>
            <a:pPr lvl="1"/>
            <a:r>
              <a:rPr lang="en-US" sz="1800"/>
              <a:t>string-hacking detector, function inventory, etc.</a:t>
            </a:r>
          </a:p>
          <a:p>
            <a:pPr lvl="0"/>
            <a:r>
              <a:rPr lang="en-US" sz="1800"/>
              <a:t>One of the best is veracity-minimize-proofs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All tools are AST-aware (ra_ap_syntax / Verus_syn).</a:t>
            </a:r>
          </a:p>
          <a:p>
            <a:pPr lvl="0"/>
            <a:r>
              <a:rPr lang="en-US" sz="1800"/>
              <a:t>A string-hacking detector flags usage of string manipulation instead of AST work.</a:t>
            </a:r>
          </a:p>
          <a:p>
            <a:pPr lvl="0"/>
            <a:r>
              <a:rPr lang="en-US" sz="1800"/>
              <a:t>And when bugs appeared they were mostly string hacking.</a:t>
            </a:r>
          </a:p>
          <a:p>
            <a:pPr lvl="0"/>
            <a:r>
              <a:rPr lang="en-US" sz="1800"/>
              <a:t>Because no matter what I said to my AIs they LOVE string hacking shortcuts.</a:t>
            </a:r>
          </a:p>
          <a:p>
            <a:pPr lvl="0"/>
            <a:r>
              <a:rPr lang="en-US" sz="1800"/>
              <a:t>Heck, I had to run the string hacking detector on the string hacking detector.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Search: veracity-search — type directed search over vstd</a:t>
            </a:r>
          </a:p>
          <a:p>
            <a:pPr lvl="0"/>
            <a:r>
              <a:rPr lang="en-US" sz="1800"/>
              <a:t>VERUS by type signature, finding lemmas before writing new ones.</a:t>
            </a:r>
          </a:p>
          <a:p>
            <a:pPr lvl="0"/>
            <a:r>
              <a:rPr lang="en-US" sz="1800"/>
              <a:t>“Specifications as Search Keys for Software Libraries” Eugene J. Rollins and Jeannette M. Wing</a:t>
            </a:r>
          </a:p>
          <a:p>
            <a:pPr lvl="0"/>
            <a:r>
              <a:rPr lang="en-US" sz="1800"/>
              <a:t>Written for my sins of asking why does vstd not have X, when it did!</a:t>
            </a:r>
          </a:p>
          <a:p>
            <a:pPr lvl="0"/>
            <a:r>
              <a:rPr lang="en-US" sz="1800"/>
              <a:t>Even more useful for my AIs’s seriously disturbing sinning.</a:t>
            </a:r>
          </a:p>
          <a:p>
            <a:pPr lvl="0"/>
            <a:r>
              <a:rPr lang="en-US" sz="1800"/>
              <a:t>This allowed me to download ALL known Verus (git VerusCodebases) and have my AI search them in 1.2 seconds!</a:t>
            </a:r>
          </a:p>
          <a:p>
            <a:pPr lvl="0"/>
            <a:r>
              <a:rPr lang="en-US" sz="1800"/>
              <a:t>Does F*/Pulse have one yet?</a:t>
            </a:r>
          </a:p>
          <a:p>
            <a:pPr lvl="0"/>
            <a:r>
              <a:rPr lang="en-US" sz="1800"/>
              <a:t>It only took about a day.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 states complexity and informally proves many of them for some algorithms.</a:t>
            </a:r>
          </a:p>
          <a:p>
            <a:pPr lvl="0"/>
            <a:r>
              <a:rPr lang="en-US" sz="1800"/>
              <a:t>I had to build a tool to get the right ones in the code at the right place.</a:t>
            </a:r>
          </a:p>
          <a:p>
            <a:pPr lvl="0"/>
            <a:r>
              <a:rPr lang="en-US" sz="1800"/>
              <a:t>My single threaded implementations often don’t match the textbook intentionally.</a:t>
            </a:r>
          </a:p>
          <a:p>
            <a:pPr lvl="0"/>
            <a:r>
              <a:rPr lang="en-US" sz="1800"/>
              <a:t>Then I wrote a programmatic tool to find and list mismatches.</a:t>
            </a:r>
          </a:p>
          <a:p>
            <a:pPr lvl="0"/>
            <a:r>
              <a:rPr lang="en-US" sz="1800"/>
              <a:t>Then I had Claude Opus do it’s analysis and compare every function with the textbook’s.</a:t>
            </a:r>
          </a:p>
          <a:p>
            <a:pPr lvl="0"/>
            <a:r>
              <a:rPr lang="en-US" sz="1800"/>
              <a:t>This found 16 faults in parallel algorithms.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Verified Iteration - Pain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Iteration in Rust is rather complex.</a:t>
            </a:r>
          </a:p>
          <a:p>
            <a:pPr lvl="0"/>
            <a:r>
              <a:rPr lang="en-US" sz="1800"/>
              <a:t>70 functions on iterator but only 7 functions cover the 90% case.</a:t>
            </a:r>
          </a:p>
          <a:p>
            <a:pPr lvl="0"/>
            <a:r>
              <a:rPr lang="en-US" sz="1800"/>
              <a:t>And in Verus it’s a bit more complex and takes some time to learn.</a:t>
            </a:r>
          </a:p>
          <a:p>
            <a:pPr lvl="0"/>
            <a:r>
              <a:rPr lang="en-US" sz="1800"/>
              <a:t>10 components required per collection (all inside Verus!)</a:t>
            </a:r>
          </a:p>
          <a:p>
            <a:pPr lvl="0"/>
            <a:r>
              <a:rPr lang="en-US" sz="1800"/>
              <a:t>6 verified loop patterns per collection</a:t>
            </a:r>
          </a:p>
          <a:p>
            <a:pPr lvl="0"/>
            <a:r>
              <a:rPr lang="en-US" sz="1800"/>
              <a:t>{loop, for} X {borrow iter, borrow into, consume}</a:t>
            </a:r>
          </a:p>
          <a:p>
            <a:pPr lvl="0"/>
            <a:r>
              <a:rPr lang="en-US" sz="1800"/>
              <a:t>Iterators requires one assume!</a:t>
            </a:r>
          </a:p>
          <a:p>
            <a:pPr lvl="0"/>
            <a:r>
              <a:rPr lang="en-US" sz="1800"/>
              <a:t>And there is a new ‘prophetic’ iterator coming along!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Verified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Verus forbids adding requires on external trait impls (std::iter::Iterator)</a:t>
            </a:r>
          </a:p>
          <a:p>
            <a:pPr lvl="0"/>
            <a:r>
              <a:rPr lang="en-US" sz="1800"/>
              <a:t>Hand-rolled iterators need assume(iter_invariant(self)) in next()</a:t>
            </a:r>
          </a:p>
          <a:p>
            <a:pPr lvl="0"/>
            <a:r>
              <a:rPr lang="en-US" sz="1800"/>
              <a:t>Everything but that one assume is fully proved</a:t>
            </a:r>
          </a:p>
          <a:p>
            <a:pPr lvl="0"/>
            <a:r>
              <a:rPr lang="en-US" sz="1800"/>
              <a:t>44 collections implemented; all carry verified iterators</a:t>
            </a:r>
          </a:p>
          <a:p>
            <a:pPr lvl="0"/>
            <a:r>
              <a:rPr lang="en-US" sz="1800"/>
              <a:t>Verus has proof time tests inside, I freed them to run in APAS-VERUS.</a:t>
            </a:r>
          </a:p>
          <a:p>
            <a:pPr lvl="0"/>
            <a:r>
              <a:rPr lang="en-US" sz="1800"/>
              <a:t>This was critical to get iterative loops to prove over my collections ADTs.</a:t>
            </a:r>
          </a:p>
          <a:p>
            <a:pPr lvl="0"/>
            <a:r>
              <a:rPr lang="en-US" sz="1800"/>
              <a:t>You can prove full iterators in your own copy of the traits with no assume and I have.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Agents often say “Verus Can’t Do That”</a:t>
            </a:r>
          </a:p>
          <a:p>
            <a:pPr lvl="0"/>
            <a:r>
              <a:rPr lang="en-US" sz="1800"/>
              <a:t>I said “Make an experiment!”</a:t>
            </a:r>
          </a:p>
          <a:p>
            <a:pPr lvl="0"/>
            <a:r>
              <a:rPr lang="en-US" sz="1800"/>
              <a:t>Quantitatives:</a:t>
            </a:r>
          </a:p>
          <a:p>
            <a:pPr lvl="1"/>
            <a:r>
              <a:rPr lang="en-US" sz="1800"/>
              <a:t>168 experiment files</a:t>
            </a:r>
          </a:p>
          <a:p>
            <a:pPr lvl="1"/>
            <a:r>
              <a:rPr lang="en-US" sz="1800"/>
              <a:t>21,476 lines of code (not counted in the totals)</a:t>
            </a:r>
          </a:p>
          <a:p>
            <a:pPr lvl="0"/>
            <a:r>
              <a:rPr lang="en-US" sz="1800"/>
              <a:t>Topics span: Clone, Arc, RwLock, TSM, closures, iterators, generics, float, bitvector, PartialEq, Copy, async, hash tables, parallel algorithms, ghost types, Send/Sync, collect, and sorting.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Results:</a:t>
            </a:r>
          </a:p>
          <a:p>
            <a:pPr lvl="0"/>
            <a:r>
              <a:rPr lang="en-US" sz="1800"/>
              <a:t>107 files: SUCCEEDS / VERIFIES — pattern adopted into codebase</a:t>
            </a:r>
          </a:p>
          <a:p>
            <a:pPr lvl="0"/>
            <a:r>
              <a:rPr lang="en-US" sz="1800"/>
              <a:t>61 files: FAILS — Verus limitation documented, workaround noted</a:t>
            </a:r>
          </a:p>
          <a:p>
            <a:pPr lvl="0"/>
            <a:r>
              <a:rPr lang="en-US" sz="1800"/>
              <a:t>Notable successes that unlocked chapters:</a:t>
            </a:r>
          </a:p>
          <a:p>
            <a:pPr lvl="1"/>
            <a:r>
              <a:rPr lang="en-US" sz="1800"/>
              <a:t>TSM/RwLock layer pattern — unlocked all Mt modules,</a:t>
            </a:r>
          </a:p>
          <a:p>
            <a:pPr lvl="1"/>
            <a:r>
              <a:rPr lang="en-US" sz="1800"/>
              <a:t>Named closure ensures through ParaPair — unlocked fork-join,</a:t>
            </a:r>
          </a:p>
          <a:p>
            <a:pPr lvl="1"/>
            <a:r>
              <a:rPr lang="en-US" sz="1800"/>
              <a:t>Ghost struct Send/Sync — unlocked AVLTreeSetsMtEph,</a:t>
            </a:r>
          </a:p>
          <a:p>
            <a:pPr lvl="1"/>
            <a:r>
              <a:rPr lang="en-US" sz="1800"/>
              <a:t>Tree module style — unlocked Kruskal, Prim, UnionFind.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finally built a set of coding standards in Verus rust files and in comments.</a:t>
            </a:r>
          </a:p>
          <a:p>
            <a:pPr lvl="0"/>
            <a:r>
              <a:rPr lang="en-US" sz="1800"/>
              <a:t>Agents read all standards before every task (~6,200 lines, ~54K tokens)</a:t>
            </a:r>
          </a:p>
          <a:p>
            <a:pPr lvl="0"/>
            <a:r>
              <a:rPr lang="en-US" sz="1800"/>
              <a:t>Violations are mostly AI checked except where an extensive code styling can get things.</a:t>
            </a:r>
          </a:p>
          <a:p>
            <a:pPr lvl="0"/>
            <a:r>
              <a:rPr lang="en-US" sz="1800"/>
              <a:t>Quantitatives:</a:t>
            </a:r>
          </a:p>
          <a:p>
            <a:pPr lvl="1"/>
            <a:r>
              <a:rPr lang="en-US" sz="1800"/>
              <a:t>29 standard files</a:t>
            </a:r>
          </a:p>
          <a:p>
            <a:pPr lvl="1"/>
            <a:r>
              <a:rPr lang="en-US" sz="1800"/>
              <a:t>6,911 lines total</a:t>
            </a:r>
          </a:p>
          <a:p>
            <a:pPr lvl="0"/>
            <a:r>
              <a:rPr lang="en-US" sz="1800"/>
              <a:t>Doing this earlier would have really sped things up.</a:t>
            </a:r>
          </a:p>
          <a:p>
            <a:pPr lvl="0"/>
            <a:r>
              <a:rPr lang="en-US" sz="1800"/>
              <a:t>My CLAUDE.md would just not do enough even with 50KB and 13K tokens.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Question what are your favorite AI rules?</a:t>
            </a:r>
          </a:p>
          <a:p>
            <a:pPr lvl="0"/>
            <a:r>
              <a:rPr lang="en-US" sz="1800"/>
              <a:t>Mine are:</a:t>
            </a:r>
          </a:p>
          <a:p>
            <a:pPr lvl="1"/>
            <a:r>
              <a:rPr lang="en-US" sz="1800"/>
              <a:t>Don’t Over Think,</a:t>
            </a:r>
          </a:p>
          <a:p>
            <a:pPr lvl="1"/>
            <a:r>
              <a:rPr lang="en-US" sz="1800"/>
              <a:t>DISCUSS,</a:t>
            </a:r>
          </a:p>
          <a:p>
            <a:pPr lvl="1"/>
            <a:r>
              <a:rPr lang="en-US" sz="1800"/>
              <a:t>Don’t jump ahead,</a:t>
            </a:r>
          </a:p>
          <a:p>
            <a:pPr lvl="1"/>
            <a:r>
              <a:rPr lang="en-US" sz="1800"/>
              <a:t>go step by step,</a:t>
            </a:r>
          </a:p>
          <a:p>
            <a:pPr lvl="1"/>
            <a:r>
              <a:rPr lang="en-US" sz="1800"/>
              <a:t>PBOGH: Prove Big or Go HOME!</a:t>
            </a:r>
          </a:p>
          <a:p>
            <a:pPr lvl="0"/>
            <a:r>
              <a:rPr lang="en-US" sz="1800"/>
              <a:t>You just have to tell the agents keep on proving!</a:t>
            </a:r>
          </a:p>
          <a:p>
            <a:pPr lvl="0"/>
            <a:r>
              <a:rPr lang="en-US" sz="1800"/>
              <a:t>Are you building big CLAUDE.md?</a:t>
            </a:r>
          </a:p>
          <a:p>
            <a:pPr lvl="0"/>
            <a:r>
              <a:rPr lang="en-US" sz="1800"/>
              <a:t>Or Cursor Rules?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Veracity: AIs Write Redundant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AI proof agents produce many correct but bloated proofs</a:t>
            </a:r>
          </a:p>
          <a:p>
            <a:pPr lvl="1"/>
            <a:r>
              <a:rPr lang="en-US" sz="1800"/>
              <a:t>redundant asserts, unnecessary proof blocks</a:t>
            </a:r>
          </a:p>
          <a:p>
            <a:pPr lvl="0"/>
            <a:r>
              <a:rPr lang="en-US" sz="1800"/>
              <a:t>They verify, but they waste solver budget on every subsequent run.</a:t>
            </a:r>
          </a:p>
          <a:p>
            <a:pPr lvl="0"/>
            <a:r>
              <a:rPr lang="en-US" sz="1800"/>
              <a:t>So I wrote a proof minimizer: veracity-minimize-proofs.</a:t>
            </a:r>
          </a:p>
          <a:p>
            <a:pPr lvl="0"/>
            <a:r>
              <a:rPr lang="en-US" sz="1800"/>
              <a:t>It tests each assert and proof block individually: removes it, re-verify, comment it out if it is not needed and it does not increase time or memory.</a:t>
            </a:r>
          </a:p>
          <a:p>
            <a:pPr lvl="0"/>
            <a:r>
              <a:rPr lang="en-US" sz="1800"/>
              <a:t>Result across APAS-VERUS: 22 asserts and 33 proof blocks removed in 105 minutes of wall time. 55 redundant proof statements eliminated, ~2 minutes of minimizer time per removal.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Veracity: AIs Write Redundant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One assert in Chap43 OrderedTableMtEph saved:</a:t>
            </a:r>
          </a:p>
          <a:p>
            <a:pPr lvl="1"/>
            <a:r>
              <a:rPr lang="en-US" sz="1800"/>
              <a:t>104 s of Z3 CPU</a:t>
            </a:r>
          </a:p>
          <a:p>
            <a:pPr lvl="1"/>
            <a:r>
              <a:rPr lang="en-US" sz="1800"/>
              <a:t>up to 89 MB of Z3 RSS per verify run.</a:t>
            </a:r>
          </a:p>
          <a:p>
            <a:pPr lvl="0"/>
            <a:r>
              <a:rPr lang="en-US" sz="1800"/>
              <a:t>Eight removals in that one file: Z3 RSS dropped by 57%.</a:t>
            </a:r>
          </a:p>
          <a:p>
            <a:pPr lvl="0"/>
            <a:r>
              <a:rPr lang="en-US" sz="1800"/>
              <a:t>105 minutes of running the minimizer bought many hours of validation drop.</a:t>
            </a:r>
          </a:p>
          <a:p>
            <a:pPr lvl="0"/>
            <a:r>
              <a:rPr lang="en-US" sz="1800"/>
              <a:t>This might be novel. Anyone know of anything except Isabelle’s sledgehammer?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Veracity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ended up having to have my tools work mostly in comments.</a:t>
            </a:r>
          </a:p>
          <a:p>
            <a:pPr lvl="0"/>
            <a:r>
              <a:rPr lang="en-US" sz="1800"/>
              <a:t>I added accept(P) to mark assumes I allowed, almost all eq/partialeq/clone.</a:t>
            </a:r>
          </a:p>
          <a:p>
            <a:pPr lvl="0"/>
            <a:r>
              <a:rPr lang="en-US" sz="1800"/>
              <a:t>This can be simplified with some Verus language syntax, but then the AIs are not trained on the symbols.</a:t>
            </a:r>
          </a:p>
          <a:p>
            <a:pPr lvl="0"/>
            <a:r>
              <a:rPr lang="en-US" sz="1800"/>
              <a:t>6,081 // Veracity: NEEDED assert</a:t>
            </a:r>
          </a:p>
          <a:p>
            <a:pPr lvl="0"/>
            <a:r>
              <a:rPr lang="en-US" sz="1800"/>
              <a:t>4,681 // Veracity: NEEDED proof block</a:t>
            </a:r>
          </a:p>
          <a:p>
            <a:pPr lvl="0"/>
            <a:r>
              <a:rPr lang="en-US" sz="1800"/>
              <a:t>1,502 // Veracity: NEEDED assert (speed)</a:t>
            </a:r>
          </a:p>
          <a:p>
            <a:pPr lvl="0"/>
            <a:r>
              <a:rPr lang="en-US" sz="1800"/>
              <a:t>245 // Veracity: NEEDED proof block (speed)—</a:t>
            </a:r>
          </a:p>
          <a:p>
            <a:pPr lvl="0"/>
            <a:r>
              <a:rPr lang="en-US" sz="1800"/>
              <a:t>Total annotations: 14,140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 Holes Over Time — R20 to R201</a:t>
            </a:r>
          </a:p>
        </p:txBody>
      </p:sp>
      <p:pic>
        <p:nvPicPr>
          <p:cNvPr descr="proof_ho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193800"/>
            <a:ext cx="627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 Time and Memory — Key Reductions</a:t>
            </a:r>
          </a:p>
        </p:txBody>
      </p:sp>
      <p:pic>
        <p:nvPicPr>
          <p:cNvPr descr="proof_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 Time and Memory — Key Reductions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Five techiniques were used to optimize</a:t>
            </a:r>
          </a:p>
          <a:p>
            <a:pPr lvl="1"/>
            <a:r>
              <a:rPr lang="en-US" sz="1800"/>
              <a:t>minimize-proofs</a:t>
            </a:r>
          </a:p>
          <a:p>
            <a:pPr lvl="1"/>
            <a:r>
              <a:rPr lang="en-US" sz="1800"/>
              <a:t>profiling</a:t>
            </a:r>
          </a:p>
          <a:p>
            <a:pPr lvl="1"/>
            <a:r>
              <a:rPr lang="en-US" sz="1800"/>
              <a:t>splitting specs and applying them just where they are needed</a:t>
            </a:r>
          </a:p>
          <a:p>
            <a:pPr lvl="1"/>
            <a:r>
              <a:rPr lang="en-US" sz="1800"/>
              <a:t>opaque - to hide a definition within the module</a:t>
            </a:r>
          </a:p>
          <a:p>
            <a:pPr lvl="1"/>
            <a:r>
              <a:rPr lang="en-US" sz="1800"/>
              <a:t>private spec - to hide a definition across modules</a:t>
            </a:r>
          </a:p>
          <a:p>
            <a:pPr lvl="0"/>
            <a:r>
              <a:rPr lang="en-US" sz="1800"/>
              <a:t>OrderedTableMtEph: −57% proof time after minimize-proofs (R176).</a:t>
            </a:r>
          </a:p>
          <a:p>
            <a:pPr lvl="0"/>
            <a:r>
              <a:rPr lang="en-US" sz="1800"/>
              <a:t>UnionFindPCStEph: 139K Z3 instantiations → 0 after opaque pattern used in a required module.</a:t>
            </a:r>
          </a:p>
          <a:p>
            <a:pPr lvl="0"/>
            <a:r>
              <a:rPr lang="en-US" sz="1800"/>
              <a:t>Johnson Chap59: 756 MB → 520 MB (−31%) memory reduction.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CPR$ — Three Numbers and One Ratio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"/>
                <a:gridCol w="698500"/>
                <a:gridCol w="1308100"/>
                <a:gridCol w="59563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Measures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Cost of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to produce executable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Cost of Proof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to produce specs, contracts, and proofs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C+P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Full bill for the verified artifact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Review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Fraction of deliverable a proofgrammer must read (LOC0R excluded)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Inputs &amp;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total_hours = person_days × avg_hrs_per_day</a:t>
            </a:r>
          </a:p>
          <a:p>
            <a:pPr lvl="0"/>
            <a:r>
              <a:rPr lang="en-US" sz="1800"/>
              <a:t>programmer_cost = total_hours × (programmer_costs / 1,760)</a:t>
            </a:r>
          </a:p>
          <a:p>
            <a:pPr lvl="0"/>
            <a:r>
              <a:rPr lang="en-US" sz="1800"/>
              <a:t>AI_cost = total_hours × (ai_costs / 1,760)</a:t>
            </a:r>
          </a:p>
          <a:p>
            <a:pPr lvl="0"/>
            <a:r>
              <a:rPr lang="en-US" sz="1800"/>
              <a:t>LoEC_share = LoEC / total_LOC</a:t>
            </a:r>
          </a:p>
          <a:p>
            <a:pPr lvl="0"/>
            <a:r>
              <a:rPr lang="en-US" sz="1800"/>
              <a:t>C = total_cost × LoEC_share</a:t>
            </a:r>
          </a:p>
          <a:p>
            <a:pPr lvl="0"/>
            <a:r>
              <a:rPr lang="en-US" sz="1800"/>
              <a:t>P = total_cost × (1 − LoEC_share)</a:t>
            </a:r>
          </a:p>
          <a:p>
            <a:pPr lvl="0"/>
            <a:r>
              <a:rPr lang="en-US" sz="1800"/>
              <a:t>R = LOPC2R / (LOPC2R + LOC0R)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Proofgrammer/AI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 b="1"/>
              <a:t>Programmer rate</a:t>
            </a:r>
            <a:r>
              <a:rPr lang="en-US" sz="1800"/>
              <a:t>: $375,000/yr (senior + 50% loading)</a:t>
            </a:r>
          </a:p>
          <a:p>
            <a:pPr lvl="0"/>
            <a:r>
              <a:rPr lang="en-US" sz="1800" b="1"/>
              <a:t>Real AI spend</a:t>
            </a:r>
            <a:r>
              <a:rPr lang="en-US" sz="1800"/>
              <a:t>: &lt; $7,000 across the whole effort</a:t>
            </a:r>
          </a:p>
          <a:p>
            <a:pPr lvl="0"/>
            <a:r>
              <a:rPr lang="en-US" sz="1800" b="1"/>
              <a:t>Derived –ai-costs</a:t>
            </a:r>
            <a:r>
              <a:rPr lang="en-US" sz="1800"/>
              <a:t>: $4.886/hr × 1,760 = </a:t>
            </a:r>
            <a:r>
              <a:rPr lang="en-US" sz="1800" b="1"/>
              <a:t>$8,599/yr</a:t>
            </a:r>
          </a:p>
          <a:p>
            <a:pPr lvl="0"/>
            <a:r>
              <a:rPr lang="en-US" sz="1800" b="1"/>
              <a:t>AI split by task-hours</a:t>
            </a:r>
            <a:r>
              <a:rPr lang="en-US" sz="1800"/>
              <a:t>:</a:t>
            </a:r>
          </a:p>
          <a:p>
            <a:pPr lvl="1"/>
            <a:r>
              <a:rPr lang="en-US" sz="1800"/>
              <a:t>21.6% APAS-AI ($1,512)</a:t>
            </a:r>
          </a:p>
          <a:p>
            <a:pPr lvl="1"/>
            <a:r>
              <a:rPr lang="en-US" sz="1800"/>
              <a:t>78.4% APAS-VERUS ($5,488)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Proofgrammer/AI Costs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00"/>
                <a:gridCol w="2781300"/>
                <a:gridCol w="1155700"/>
                <a:gridCol w="1041400"/>
                <a:gridCol w="927100"/>
                <a:gridCol w="927100"/>
                <a:gridCol w="9271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LoEC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LOPC2R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LOC0R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APAS-AI + Rusticate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309.6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31,751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31,751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APAS-VERUS + Veracity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1,123.4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166,401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56,549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47,828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95,908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Combined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1,432.96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198,152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88,300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47,828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95,908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CPR$ — Combined Result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— Cost of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$150,723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 — Cost of Proof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$161,594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+ P —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$312,317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/ verified deliverable 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$1.877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/ KLOEC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$2.665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 / KLOP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$6.305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— Review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~33.3%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Head-to-Head — seL4 (2009) vs APAS-VERUS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"/>
                <a:gridCol w="1981200"/>
                <a:gridCol w="1651000"/>
                <a:gridCol w="2298700"/>
                <a:gridCol w="2082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(pre-AI)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APAS-VERUS (AI-paired)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Ratio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Person-years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seL4 ~34×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45,760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seL4 ~41×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Verus ~5.7×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seL4 ~4.4×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KLOP / 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~1.9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seL4 </a:t>
                      </a:r>
                      <a:r>
                        <a:rPr b="1"/>
                        <a:t>~25×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Klines / hour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0.148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Verus ~14×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/ 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$825,000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~$4,300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seL4 </a:t>
                      </a:r>
                      <a:r>
                        <a:rPr b="1"/>
                        <a:t>~192×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/ KLOP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$17,188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~$2,225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seL4 ~7.7×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+ P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$8,250,000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$244,840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seL4 </a:t>
                      </a:r>
                      <a:r>
                        <a:rPr b="1"/>
                        <a:t>~33.7×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LOPC2R = Lines of proven code 2 review</a:t>
            </a:r>
          </a:p>
          <a:p>
            <a:pPr lvl="0"/>
            <a:r>
              <a:rPr lang="en-US" sz="1800"/>
              <a:t>LOPC0R = Lines of proven code not to review</a:t>
            </a:r>
          </a:p>
          <a:p>
            <a:pPr lvl="0"/>
            <a:r>
              <a:rPr lang="en-US" sz="1800"/>
              <a:t>R = LOPC2R / (LOPC2R + LOC0R)</a:t>
            </a:r>
          </a:p>
          <a:p>
            <a:pPr lvl="0"/>
            <a:r>
              <a:rPr lang="en-US" sz="1800"/>
              <a:t>R — Review Ratio </a:t>
            </a:r>
            <a:r>
              <a:rPr lang="en-US" sz="1800" b="1"/>
              <a:t>~33.3%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Rusticate + Veracity allow quantitative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downloaded the 1036 most downloaded Rust projects, 3636 crates.</a:t>
            </a:r>
          </a:p>
          <a:p>
            <a:pPr lvl="0"/>
            <a:r>
              <a:rPr lang="en-US" sz="1800"/>
              <a:t>I threw out three that wrapped std for asynchrony.</a:t>
            </a:r>
          </a:p>
          <a:p>
            <a:pPr lvl="0"/>
            <a:r>
              <a:rPr lang="en-US" sz="1800"/>
              <a:t>I did a greedy set cover analysis of what Rust uses.</a:t>
            </a:r>
          </a:p>
          <a:p>
            <a:pPr lvl="0"/>
            <a:r>
              <a:rPr lang="en-US" sz="1800"/>
              <a:t>And another of what verus wraps.</a:t>
            </a:r>
          </a:p>
          <a:p>
            <a:pPr lvl="0"/>
            <a:r>
              <a:rPr lang="en-US" sz="1800"/>
              <a:t>This is a golden age for quantitative software engineering.</a:t>
            </a:r>
          </a:p>
          <a:p>
            <a:pPr lvl="0"/>
            <a:r>
              <a:rPr lang="en-US" sz="1800"/>
              <a:t>It took just two days of person time.</a:t>
            </a:r>
          </a:p>
          <a:p>
            <a:pPr lvl="0"/>
            <a:r>
              <a:rPr lang="en-US" sz="1800"/>
              <a:t>And I never read a line of code in the tools. Just check the output and have the AI write a lot of tests.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Rusticate + Veracity : What Rust Cargos use in std.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Top 1000 projects, 3636 crates.</a:t>
            </a:r>
          </a:p>
          <a:p>
            <a:pPr lvl="0"/>
            <a:r>
              <a:rPr lang="en-US" sz="1800"/>
              <a:t>19 data types fully support 90%.</a:t>
            </a:r>
          </a:p>
          <a:p>
            <a:pPr lvl="0"/>
            <a:r>
              <a:rPr lang="en-US" sz="1800"/>
              <a:t>48 data types fully support 100%.</a:t>
            </a:r>
          </a:p>
          <a:p>
            <a:pPr lvl="0"/>
            <a:r>
              <a:rPr lang="en-US" sz="1800"/>
              <a:t>69 modules fully support 95%.</a:t>
            </a:r>
          </a:p>
          <a:p>
            <a:pPr lvl="0"/>
            <a:r>
              <a:rPr lang="en-US" sz="1800"/>
              <a:t>79 modules fully support 99%.</a:t>
            </a:r>
          </a:p>
          <a:p>
            <a:pPr lvl="0"/>
            <a:r>
              <a:rPr lang="en-US" sz="1800"/>
              <a:t>1121 methods fully support 95%.</a:t>
            </a:r>
          </a:p>
          <a:p>
            <a:pPr lvl="0"/>
            <a:r>
              <a:rPr lang="en-US" sz="1800"/>
              <a:t>1733 methods fully support 99%.</a:t>
            </a:r>
          </a:p>
          <a:p>
            <a:pPr lvl="0"/>
            <a:r>
              <a:rPr lang="en-US" sz="1800"/>
              <a:t>14,317 total fn definitions in std/core/alloc in Rust</a:t>
            </a:r>
          </a:p>
          <a:p>
            <a:pPr lvl="0"/>
            <a:r>
              <a:rPr lang="en-US" sz="1800"/>
              <a:t>4,965 pub fn definitions in std/core/alloc in Rust</a:t>
            </a:r>
          </a:p>
          <a:p>
            <a:pPr lvl="0"/>
            <a:r>
              <a:rPr lang="en-US" sz="1800"/>
              <a:t>But how many of those private functions do we need? I don’t know.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Compare Rust STD to APAS-VERUS?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APAS-VERUS: -6,401 exec functions total, -4,911 with proofs</a:t>
            </a:r>
          </a:p>
          <a:p>
            <a:pPr lvl="0"/>
            <a:r>
              <a:rPr lang="en-US" sz="1800"/>
              <a:t>But APAS-VERUS has {Mt,St}x{Per,Eph}</a:t>
            </a:r>
          </a:p>
          <a:p>
            <a:pPr lvl="0"/>
            <a:r>
              <a:rPr lang="en-US" sz="1800"/>
              <a:t>So it is much more like 2000 distinct functions.</a:t>
            </a:r>
          </a:p>
          <a:p>
            <a:pPr lvl="0"/>
            <a:r>
              <a:rPr lang="en-US" sz="1800"/>
              <a:t>And I wrote this in 160 days while learning Verus.</a:t>
            </a:r>
          </a:p>
          <a:p>
            <a:pPr lvl="0"/>
            <a:r>
              <a:rPr lang="en-US" sz="1800"/>
              <a:t>At least 30 of those days were understanding and working around pain points.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Rusticate + Veracity: What Verus Wraps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As of 2026 14 April</a:t>
            </a:r>
          </a:p>
          <a:p>
            <a:pPr lvl="0"/>
            <a:r>
              <a:rPr lang="en-US" sz="1800"/>
              <a:t>How many Rust Data Types does Verus wrap?</a:t>
            </a:r>
          </a:p>
          <a:p>
            <a:pPr lvl="1"/>
            <a:r>
              <a:rPr lang="en-US" sz="1800"/>
              <a:t>29 types currently wrapped.</a:t>
            </a:r>
          </a:p>
          <a:p>
            <a:pPr lvl="0"/>
            <a:r>
              <a:rPr lang="en-US" sz="1800"/>
              <a:t>How many Rust Traits does Verus wrap?</a:t>
            </a:r>
          </a:p>
          <a:p>
            <a:pPr lvl="1"/>
            <a:r>
              <a:rPr lang="en-US" sz="1800"/>
              <a:t>147 traits in vstd.</a:t>
            </a:r>
          </a:p>
          <a:p>
            <a:pPr lvl="0"/>
            <a:r>
              <a:rPr lang="en-US" sz="1800"/>
              <a:t>How many total Rust Methods does Verus wrap?</a:t>
            </a:r>
          </a:p>
          <a:p>
            <a:pPr lvl="1"/>
            <a:r>
              <a:rPr lang="en-US" sz="1800"/>
              <a:t>154 methods currently wrapped.</a:t>
            </a:r>
          </a:p>
          <a:p>
            <a:pPr lvl="0"/>
            <a:r>
              <a:rPr lang="en-US" sz="1800"/>
              <a:t>A small but growing percentage.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Software Engineering in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Software engineering in the AI age is much like managing programmers.</a:t>
            </a:r>
          </a:p>
          <a:p>
            <a:pPr lvl="0"/>
            <a:r>
              <a:rPr lang="en-US" sz="1800"/>
              <a:t>You can’t possibly read all their code.</a:t>
            </a:r>
          </a:p>
          <a:p>
            <a:pPr lvl="0"/>
            <a:r>
              <a:rPr lang="en-US" sz="1800"/>
              <a:t>So you use:</a:t>
            </a:r>
          </a:p>
          <a:p>
            <a:pPr lvl="1"/>
            <a:r>
              <a:rPr lang="en-US" sz="1800"/>
              <a:t>linters both programmatic and AI</a:t>
            </a:r>
          </a:p>
          <a:p>
            <a:pPr lvl="1"/>
            <a:r>
              <a:rPr lang="en-US" sz="1800"/>
              <a:t>stylers both programmatic and AI</a:t>
            </a:r>
          </a:p>
          <a:p>
            <a:pPr lvl="1"/>
            <a:r>
              <a:rPr lang="en-US" sz="1800"/>
              <a:t>AI reviews directed by programmatic tools.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Software Engineering in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Starting with a textbook that has a ton of good prose is a huge plus.</a:t>
            </a:r>
          </a:p>
          <a:p>
            <a:pPr lvl="0"/>
            <a:r>
              <a:rPr lang="en-US" sz="1800"/>
              <a:t>I did discover a few things about the textbook.</a:t>
            </a:r>
          </a:p>
          <a:p>
            <a:pPr lvl="0"/>
            <a:r>
              <a:rPr lang="en-US" sz="1800"/>
              <a:t>It needs more on Scheduling. I only built Help-First scheduling.</a:t>
            </a:r>
          </a:p>
          <a:p>
            <a:pPr lvl="0"/>
            <a:r>
              <a:rPr lang="en-US" sz="1800"/>
              <a:t>It used (K,V) in tree sets as mappings, but I had to make this explicit. Particularly with an Ordered Key Mapping.</a:t>
            </a:r>
          </a:p>
          <a:p>
            <a:pPr lvl="0"/>
            <a:r>
              <a:rPr lang="en-US" sz="1800"/>
              <a:t>With this Ordered Tables, which are not too complex, were much easier to prove.</a:t>
            </a:r>
          </a:p>
          <a:p>
            <a:pPr lvl="0"/>
            <a:r>
              <a:rPr lang="en-US" sz="1800"/>
              <a:t>APAS’s discussion of Union Find was too thin. Path compression was very difficult.</a:t>
            </a:r>
          </a:p>
          <a:p>
            <a:pPr lvl="0"/>
            <a:r>
              <a:rPr lang="en-US" sz="1800"/>
              <a:t>I had to start with Nikhil Swammy et. al’s AlgoCLRS’s implemention and proofs.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Software Engineering in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use git work trees for proof.</a:t>
            </a:r>
          </a:p>
          <a:p>
            <a:pPr lvl="0"/>
            <a:r>
              <a:rPr lang="en-US" sz="1800"/>
              <a:t>The good news is git is powerful and the agents understand it.</a:t>
            </a:r>
          </a:p>
          <a:p>
            <a:pPr lvl="0"/>
            <a:r>
              <a:rPr lang="en-US" sz="1800"/>
              <a:t>The bad news is the agents can indeed start using advanced features and get things wrong.</a:t>
            </a:r>
          </a:p>
          <a:p>
            <a:pPr lvl="0"/>
            <a:r>
              <a:rPr lang="en-US" sz="1800"/>
              <a:t>I work with between 1 and 9 agents.</a:t>
            </a:r>
          </a:p>
          <a:p>
            <a:pPr lvl="0"/>
            <a:r>
              <a:rPr lang="en-US" sz="1800"/>
              <a:t>One on veracity.</a:t>
            </a:r>
          </a:p>
          <a:p>
            <a:pPr lvl="0"/>
            <a:r>
              <a:rPr lang="en-US" sz="1800"/>
              <a:t>One orchestrator, writing plans, prompts and controlling merges.</a:t>
            </a:r>
          </a:p>
          <a:p>
            <a:pPr lvl="0"/>
            <a:r>
              <a:rPr lang="en-US" sz="1800"/>
              <a:t>1-8 on branches each working on different independent plans.</a:t>
            </a:r>
          </a:p>
          <a:p>
            <a:pPr lvl="0"/>
            <a:r>
              <a:rPr lang="en-US" sz="1800"/>
              <a:t>I am not nearly comfortable enough with agent proof to let them do subagents without observing.</a:t>
            </a:r>
          </a:p>
          <a:p>
            <a:pPr lvl="0"/>
            <a:r>
              <a:rPr lang="en-US" sz="1800"/>
              <a:t>Cursor was much better at interruption to guide things.</a:t>
            </a:r>
          </a:p>
          <a:p>
            <a:pPr lvl="0"/>
            <a:r>
              <a:rPr lang="en-US" sz="1800"/>
              <a:t>Claude is getting better at it.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Software Engineering in AI Paired Proving-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The agents I used are: various Google, OpenAI and Anthropic.</a:t>
            </a:r>
          </a:p>
          <a:p>
            <a:pPr lvl="0"/>
            <a:r>
              <a:rPr lang="en-US" sz="1800"/>
              <a:t>A google agent once took 12 minutes to ‘echo HI’ to test it’s terminal.</a:t>
            </a:r>
          </a:p>
          <a:p>
            <a:pPr lvl="0"/>
            <a:r>
              <a:rPr lang="en-US" sz="1800"/>
              <a:t>Anthropics models are signficantly better than OpenAI.</a:t>
            </a:r>
          </a:p>
          <a:p>
            <a:pPr lvl="0"/>
            <a:r>
              <a:rPr lang="en-US" sz="1800"/>
              <a:t>And Claude Code’s cost is the least so far.</a:t>
            </a:r>
          </a:p>
          <a:p>
            <a:pPr lvl="0"/>
            <a:r>
              <a:rPr lang="en-US" sz="1800"/>
              <a:t>They are said in the press to be spending $5000 per month per user.</a:t>
            </a:r>
          </a:p>
          <a:p>
            <a:pPr lvl="0"/>
            <a:r>
              <a:rPr lang="en-US" sz="1800"/>
              <a:t>They are buying market share (what happened to Amazon’s buying market share phase?).</a:t>
            </a:r>
          </a:p>
          <a:p>
            <a:pPr lvl="0"/>
            <a:r>
              <a:rPr lang="en-US" sz="1800"/>
              <a:t>And they are buying coding interactions.</a:t>
            </a:r>
          </a:p>
          <a:p>
            <a:pPr lvl="0"/>
            <a:r>
              <a:rPr lang="en-US" sz="1800"/>
              <a:t>But both vendors are playing leap frog.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Software Engineering in AI Paired Proving-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They are inconsistent.</a:t>
            </a:r>
          </a:p>
          <a:p>
            <a:pPr lvl="0"/>
            <a:r>
              <a:rPr lang="en-US" sz="1800"/>
              <a:t>They lie.</a:t>
            </a:r>
          </a:p>
          <a:p>
            <a:pPr lvl="0"/>
            <a:r>
              <a:rPr lang="en-US" sz="1800"/>
              <a:t>They cheat.</a:t>
            </a:r>
          </a:p>
          <a:p>
            <a:pPr lvl="0"/>
            <a:r>
              <a:rPr lang="en-US" sz="1800"/>
              <a:t>They say I can’t prove that!</a:t>
            </a:r>
          </a:p>
          <a:p>
            <a:pPr lvl="0"/>
            <a:r>
              <a:rPr lang="en-US" sz="1800"/>
              <a:t>They err.</a:t>
            </a:r>
          </a:p>
          <a:p>
            <a:pPr lvl="0"/>
            <a:r>
              <a:rPr lang="en-US" sz="1800"/>
              <a:t>But mostly they are just forgetful.</a:t>
            </a:r>
          </a:p>
          <a:p>
            <a:pPr lvl="0"/>
            <a:r>
              <a:rPr lang="en-US" sz="1800"/>
              <a:t>My attempts to give them coding standard checklists, ala Watts Humphrey and the PSP failed.</a:t>
            </a:r>
          </a:p>
          <a:p>
            <a:pPr lvl="0"/>
            <a:r>
              <a:rPr lang="en-US" sz="1800"/>
              <a:t>Sometimes they would say “The checklist was followed” and then admit “I lied.”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Software Engineering in AI Paired Proving-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They are getting better, very few code hallucinations.</a:t>
            </a:r>
          </a:p>
          <a:p>
            <a:pPr lvl="0"/>
            <a:r>
              <a:rPr lang="en-US" sz="1800"/>
              <a:t>If you tell them you are Dr. FunkenProof and they are Igor, they hallucinate whole modules.</a:t>
            </a:r>
          </a:p>
          <a:p>
            <a:pPr lvl="0"/>
            <a:r>
              <a:rPr lang="en-US" sz="1800"/>
              <a:t>Just a few months ago only Claude could sweep a codebase decently.</a:t>
            </a:r>
          </a:p>
          <a:p>
            <a:pPr lvl="0"/>
            <a:r>
              <a:rPr lang="en-US" sz="1800"/>
              <a:t>Now both Claude and OpenAI can.</a:t>
            </a:r>
          </a:p>
          <a:p>
            <a:pPr lvl="0"/>
            <a:r>
              <a:rPr lang="en-US" sz="1800"/>
              <a:t>And now they can prove like heck.</a:t>
            </a:r>
          </a:p>
          <a:p>
            <a:pPr lvl="0"/>
            <a:r>
              <a:rPr lang="en-US" sz="1800"/>
              <a:t>10x what I can do.</a:t>
            </a:r>
          </a:p>
          <a:p>
            <a:pPr lvl="0"/>
            <a:r>
              <a:rPr lang="en-US" sz="1800"/>
              <a:t>Claude wants $25 per code review now, probably because they can and it’s expensive if they’re using pure LLMs.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Software Engineering in AI Paired Proving-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What is the limiting factor now? </a:t>
            </a:r>
            <a:r>
              <a:rPr lang="en-US" sz="1800" b="1"/>
              <a:t>Code Review!</a:t>
            </a:r>
          </a:p>
          <a:p>
            <a:pPr lvl="0"/>
            <a:r>
              <a:rPr lang="en-US" sz="1800"/>
              <a:t>But really </a:t>
            </a:r>
            <a:r>
              <a:rPr lang="en-US" sz="1800" b="1"/>
              <a:t>Spec Review</a:t>
            </a:r>
            <a:r>
              <a:rPr lang="en-US" sz="1800"/>
              <a:t> when you prove.</a:t>
            </a:r>
          </a:p>
          <a:p>
            <a:pPr lvl="0"/>
            <a:r>
              <a:rPr lang="en-US" sz="1800"/>
              <a:t>What can we do to simplify code review?</a:t>
            </a:r>
          </a:p>
          <a:p>
            <a:pPr lvl="0" indent="-342900" marL="342900">
              <a:buAutoNum type="arabicPeriod"/>
            </a:pPr>
            <a:r>
              <a:rPr lang="en-US" sz="1800"/>
              <a:t>Modularity - traits/impls in Verus.</a:t>
            </a:r>
          </a:p>
          <a:p>
            <a:pPr lvl="0" indent="-342900" marL="342900">
              <a:buAutoNum startAt="2" type="arabicPeriod"/>
            </a:pPr>
            <a:r>
              <a:rPr lang="en-US" sz="1800"/>
              <a:t>TOC - This organizes the boilerplate to make reading easier.</a:t>
            </a:r>
          </a:p>
          <a:p>
            <a:pPr lvl="0" indent="-342900" marL="342900">
              <a:buAutoNum startAt="3" type="arabicPeriod"/>
            </a:pPr>
            <a:r>
              <a:rPr lang="en-US" sz="1800"/>
              <a:t>Proof - I really just read the specs. If they’re right the code is right!</a:t>
            </a:r>
          </a:p>
          <a:p>
            <a:pPr lvl="0" indent="-342900" marL="342900">
              <a:buAutoNum startAt="4" type="arabicPeriod"/>
            </a:pPr>
            <a:r>
              <a:rPr lang="en-US" sz="1800"/>
              <a:t>Tests - are hugely useful when you don’t trust your coding team.</a:t>
            </a:r>
          </a:p>
          <a:p>
            <a:pPr lvl="0" indent="-342900" marL="342900">
              <a:buAutoNum startAt="5" type="arabicPeriod"/>
            </a:pPr>
            <a:r>
              <a:rPr lang="en-US" sz="1800"/>
              <a:t>Formatting - rust formatting has been adopted in Verus. It is very low density. I built a minimizing formatter to cut down on my working memory load while reviewing. F* is much tighter.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The AI Paired Programming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What you want is pretty obvious with experience: TEXT still rules.</a:t>
            </a:r>
          </a:p>
          <a:p>
            <a:pPr lvl="0"/>
            <a:r>
              <a:rPr lang="en-US" sz="1800"/>
              <a:t>You want one window with your core interaction. The agent tells you what it is doing in it.</a:t>
            </a:r>
          </a:p>
          <a:p>
            <a:pPr lvl="0"/>
            <a:r>
              <a:rPr lang="en-US" sz="1800"/>
              <a:t>You want one to watch your compile, tests and scripts.</a:t>
            </a:r>
          </a:p>
          <a:p>
            <a:pPr lvl="0"/>
            <a:r>
              <a:rPr lang="en-US" sz="1800"/>
              <a:t>You want one window to have the LLM show you it’s thinking and allow you to question and change it.</a:t>
            </a:r>
          </a:p>
          <a:p>
            <a:pPr lvl="0"/>
            <a:r>
              <a:rPr lang="en-US" sz="1800"/>
              <a:t>I learned a ton from watching agents think.</a:t>
            </a:r>
          </a:p>
          <a:p>
            <a:pPr lvl="0"/>
            <a:r>
              <a:rPr lang="en-US" sz="1800"/>
              <a:t>I suspect they are hiding most of their thinking now to prevent them from being used to train new AIs.</a:t>
            </a:r>
          </a:p>
          <a:p>
            <a:pPr lvl="0"/>
            <a:r>
              <a:rPr lang="en-US" sz="1800"/>
              <a:t>And you want it not to delete your previous conversation on token compression.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Mythos Audit Rust/Firefox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"/>
                <a:gridCol w="2552700"/>
                <a:gridCol w="2336800"/>
                <a:gridCol w="2997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 (Compiler/Std)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Firefox (Entire Codebase)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Codebase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~4,500 KLOC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~40,000 KLOC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Mythos Bugs Found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Vulnerability Density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0.0420 bugs/KLOC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0.0068 bugs/KLOC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The Internet Apocalypse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asked Claude Code to check its switches on startup for me, at the End of Jan 2026.</a:t>
            </a:r>
          </a:p>
          <a:p>
            <a:pPr lvl="0"/>
            <a:r>
              <a:rPr lang="en-US" sz="1800"/>
              <a:t>It immediately started disassembling itself.</a:t>
            </a:r>
          </a:p>
          <a:p>
            <a:pPr lvl="0"/>
            <a:r>
              <a:rPr lang="en-US" sz="1800"/>
              <a:t>Scared the heck out of me.</a:t>
            </a:r>
          </a:p>
          <a:p>
            <a:pPr lvl="0"/>
            <a:r>
              <a:rPr lang="en-US" sz="1800"/>
              <a:t>I told it to read it’s docs.</a:t>
            </a:r>
          </a:p>
          <a:p>
            <a:pPr lvl="0"/>
            <a:r>
              <a:rPr lang="en-US" sz="1800"/>
              <a:t>I have 100% belief that these LLMs are moving faster than computer security.</a:t>
            </a:r>
          </a:p>
          <a:p>
            <a:pPr lvl="0"/>
            <a:r>
              <a:rPr lang="en-US" sz="1800"/>
              <a:t>It’s verify or be hacked at this point.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The Internet Apocalypse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Where should we focus our limited, but quickly growing, proving power?</a:t>
            </a:r>
          </a:p>
          <a:p>
            <a:pPr lvl="0"/>
            <a:r>
              <a:rPr lang="en-US" sz="1800"/>
              <a:t>In theory 70% of intrusions are solved by type safe languages.</a:t>
            </a:r>
          </a:p>
          <a:p>
            <a:pPr lvl="0"/>
            <a:r>
              <a:rPr lang="en-US" sz="1800"/>
              <a:t>I suspect that this just ignores way too much of the human aspect.</a:t>
            </a:r>
          </a:p>
          <a:p>
            <a:pPr lvl="0"/>
            <a:r>
              <a:rPr lang="en-US" sz="1800"/>
              <a:t>I have never liked a single estimation paper’s methods.</a:t>
            </a:r>
          </a:p>
          <a:p>
            <a:pPr lvl="0"/>
            <a:r>
              <a:rPr lang="en-US" sz="1800"/>
              <a:t>One way to help us focus our new-found superpowers is to survey KLOC type-unsafe x Interfaces x Running Services x $ Value.</a:t>
            </a:r>
          </a:p>
          <a:p>
            <a:pPr lvl="0"/>
            <a:r>
              <a:rPr lang="en-US" sz="1800"/>
              <a:t>Which Amazon and Microsoft can probably measure.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GRASE (Medical Acronym) -</a:t>
            </a:r>
          </a:p>
          <a:p>
            <a:pPr lvl="1"/>
            <a:r>
              <a:rPr lang="en-US" sz="1800"/>
              <a:t>Generally Recognized as Safe and Effective</a:t>
            </a:r>
          </a:p>
          <a:p>
            <a:pPr lvl="0"/>
            <a:r>
              <a:rPr lang="en-US" sz="1800" b="1"/>
              <a:t>GRASE-</a:t>
            </a:r>
          </a:p>
          <a:p>
            <a:pPr lvl="1"/>
            <a:r>
              <a:rPr lang="en-US" sz="1800" b="1"/>
              <a:t>Git Recording Agentic Software Engineering</a:t>
            </a:r>
          </a:p>
          <a:p>
            <a:pPr lvl="0"/>
            <a:r>
              <a:rPr lang="en-US" sz="1800"/>
              <a:t>The GRASE project’s goal is to make statistical process software optimization for agentic coding:</a:t>
            </a:r>
          </a:p>
          <a:p>
            <a:pPr lvl="1"/>
            <a:r>
              <a:rPr lang="en-US" sz="1800" b="1"/>
              <a:t>Generally Regarded As Simple and Effective.</a:t>
            </a:r>
          </a:p>
          <a:p>
            <a:pPr lvl="0"/>
            <a:r>
              <a:rPr lang="en-US" sz="1800"/>
              <a:t>A Watt’s Humphrey style PSP data collection done essentially effortlessly by the agents in the background.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Review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Ah let’s just get to the questions!</a:t>
            </a:r>
          </a:p>
          <a:p>
            <a:pPr lvl="0"/>
            <a:r>
              <a:rPr lang="en-US" sz="1800"/>
              <a:t>I have a ton of them for you! and I hope you have many for me.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Extra Slides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AI Paired Programming Size: Quick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APAS-AI Lines of Code</a:t>
            </a:r>
          </a:p>
          <a:p>
            <a:pPr lvl="1"/>
            <a:r>
              <a:rPr lang="en-US" sz="1800"/>
              <a:t>Source: 31,751</a:t>
            </a:r>
          </a:p>
          <a:p>
            <a:pPr lvl="1"/>
            <a:r>
              <a:rPr lang="en-US" sz="1800"/>
              <a:t>Tests: 55,223</a:t>
            </a:r>
          </a:p>
          <a:p>
            <a:pPr lvl="1"/>
            <a:r>
              <a:rPr lang="en-US" sz="1800"/>
              <a:t>Benches: 13,890</a:t>
            </a:r>
          </a:p>
          <a:p>
            <a:pPr lvl="1"/>
            <a:r>
              <a:rPr lang="en-US" sz="1800"/>
              <a:t>Total code: 100,864</a:t>
            </a:r>
          </a:p>
          <a:p>
            <a:pPr lvl="0"/>
            <a:r>
              <a:rPr lang="en-US" sz="1800"/>
              <a:t>Rusticate Lines of Code</a:t>
            </a:r>
          </a:p>
          <a:p>
            <a:pPr lvl="1"/>
            <a:r>
              <a:rPr lang="en-US" sz="1800"/>
              <a:t>Source: 29,582</a:t>
            </a:r>
          </a:p>
          <a:p>
            <a:pPr lvl="1"/>
            <a:r>
              <a:rPr lang="en-US" sz="1800"/>
              <a:t>Tests: 12,890</a:t>
            </a:r>
          </a:p>
          <a:p>
            <a:pPr lvl="1"/>
            <a:r>
              <a:rPr lang="en-US" sz="1800"/>
              <a:t>Total code: 42,472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AI Paired Proving Size: Quick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APAS-VERUS Lines of Code</a:t>
            </a:r>
          </a:p>
          <a:p>
            <a:pPr lvl="1"/>
            <a:r>
              <a:rPr lang="en-US" sz="1800"/>
              <a:t>Source: 229,319</a:t>
            </a:r>
          </a:p>
          <a:p>
            <a:pPr lvl="1"/>
            <a:r>
              <a:rPr lang="en-US" sz="1800"/>
              <a:t>Tests (RTT): 58,503</a:t>
            </a:r>
          </a:p>
          <a:p>
            <a:pPr lvl="1"/>
            <a:r>
              <a:rPr lang="en-US" sz="1800"/>
              <a:t>PTTs (rust_verify_test): 15,938</a:t>
            </a:r>
          </a:p>
          <a:p>
            <a:pPr lvl="1"/>
            <a:r>
              <a:rPr lang="en-US" sz="1800"/>
              <a:t>Benches: 8,027</a:t>
            </a:r>
          </a:p>
          <a:p>
            <a:pPr lvl="1"/>
            <a:r>
              <a:rPr lang="en-US" sz="1800"/>
              <a:t>Total code: 311,787</a:t>
            </a:r>
          </a:p>
          <a:p>
            <a:pPr lvl="0"/>
            <a:r>
              <a:rPr lang="en-US" sz="1800"/>
              <a:t>Veracity Lines of Code</a:t>
            </a:r>
          </a:p>
          <a:p>
            <a:pPr lvl="1"/>
            <a:r>
              <a:rPr lang="en-US" sz="1800"/>
              <a:t>Source: 65,189</a:t>
            </a:r>
          </a:p>
          <a:p>
            <a:pPr lvl="1"/>
            <a:r>
              <a:rPr lang="en-US" sz="1800"/>
              <a:t>Tests: 2,851</a:t>
            </a:r>
          </a:p>
          <a:p>
            <a:pPr lvl="1"/>
            <a:r>
              <a:rPr lang="en-US" sz="1800"/>
              <a:t>Total code: 68,040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Blood on the Road - Open Source 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Open Source is now Open Copy.</a:t>
            </a:r>
          </a:p>
          <a:p>
            <a:pPr lvl="0"/>
            <a:r>
              <a:rPr lang="en-US" sz="1800"/>
              <a:t>with reports of 1/2 of AI time</a:t>
            </a:r>
          </a:p>
          <a:p>
            <a:pPr lvl="0"/>
            <a:r>
              <a:rPr lang="en-US" sz="1800"/>
              <a:t>and with the US Government totally undermining copyright law.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Blood on the Road - Open Repositories 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Open repositories are now weakly locked doors.</a:t>
            </a:r>
          </a:p>
          <a:p>
            <a:pPr lvl="0"/>
            <a:r>
              <a:rPr lang="en-US" sz="1800"/>
              <a:t>Agents can and have been used to inject invisble UNICODE attacks.</a:t>
            </a:r>
          </a:p>
          <a:p>
            <a:pPr lvl="0"/>
            <a:r>
              <a:rPr lang="en-US" sz="1800"/>
              <a:t>Agents can now pass the Turing test, and more easily the programmer Turing test.</a:t>
            </a:r>
          </a:p>
          <a:p>
            <a:pPr lvl="0"/>
            <a:r>
              <a:rPr lang="en-US" sz="1800"/>
              <a:t>They’ll submit code pretending to be human.</a:t>
            </a:r>
          </a:p>
          <a:p>
            <a:pPr lvl="0"/>
            <a:r>
              <a:rPr lang="en-US" sz="1800"/>
              <a:t>They’ll steal credentials and submit code.</a:t>
            </a:r>
          </a:p>
          <a:p>
            <a:pPr lvl="0"/>
            <a:r>
              <a:rPr lang="en-US" sz="1800"/>
              <a:t>LiteLLM is the most atrocious case lately.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Blood on the Road - Key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Authentication is going to be attacked brutally.</a:t>
            </a:r>
          </a:p>
          <a:p>
            <a:pPr lvl="0"/>
            <a:r>
              <a:rPr lang="en-US" sz="1800"/>
              <a:t>Network services are going to be hacked left and right.</a:t>
            </a:r>
          </a:p>
          <a:p>
            <a:pPr lvl="0"/>
            <a:r>
              <a:rPr lang="en-US" sz="1800"/>
              <a:t>Configurations are going to be heavily attacked.</a:t>
            </a:r>
          </a:p>
          <a:p>
            <a:pPr lvl="1"/>
            <a:r>
              <a:rPr lang="en-US" sz="1800"/>
              <a:t>Using text files for these is already error prone.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Blood on the Road - Open Binaries 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Open binaries are next.</a:t>
            </a:r>
          </a:p>
          <a:p>
            <a:pPr lvl="0"/>
            <a:r>
              <a:rPr lang="en-US" sz="1800"/>
              <a:t>They are going to be disassembled and recontructed.</a:t>
            </a:r>
          </a:p>
          <a:p>
            <a:pPr lvl="0"/>
            <a:r>
              <a:rPr lang="en-US" sz="1800"/>
              <a:t>They are going to be rewritten in real time.</a:t>
            </a:r>
          </a:p>
          <a:p>
            <a:pPr lvl="0"/>
            <a:r>
              <a:rPr lang="en-US" sz="1800"/>
              <a:t>Key solutions to this are:</a:t>
            </a:r>
          </a:p>
          <a:p>
            <a:pPr lvl="0"/>
            <a:r>
              <a:rPr lang="en-US" sz="1800"/>
              <a:t>Binary packages from all repositories.</a:t>
            </a:r>
          </a:p>
          <a:p>
            <a:pPr lvl="0"/>
            <a:r>
              <a:rPr lang="en-US" sz="1800"/>
              <a:t>Cryptographically signed.</a:t>
            </a:r>
          </a:p>
          <a:p>
            <a:pPr lvl="0"/>
            <a:r>
              <a:rPr lang="en-US" sz="1800"/>
              <a:t>Installation protected in the OS.</a:t>
            </a:r>
          </a:p>
          <a:p>
            <a:pPr lvl="0"/>
            <a:r>
              <a:rPr lang="en-US" sz="1800"/>
              <a:t>And protected from reading by the OS.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Questions - F* and Pulse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Are F* modules really in use? If not, why?</a:t>
            </a:r>
          </a:p>
          <a:p>
            <a:pPr lvl="0"/>
            <a:r>
              <a:rPr lang="en-US" sz="1800"/>
              <a:t>Got Functors?</a:t>
            </a:r>
          </a:p>
          <a:p>
            <a:pPr lvl="0"/>
            <a:r>
              <a:rPr lang="en-US" sz="1800"/>
              <a:t>Are F* modules working with proof smoothly? Took me about three days to get a proving model (Treap) with modules.</a:t>
            </a:r>
          </a:p>
          <a:p>
            <a:pPr lvl="0"/>
            <a:r>
              <a:rPr lang="en-US" sz="1800"/>
              <a:t>Does F* have a typed library search yet?</a:t>
            </a:r>
          </a:p>
          <a:p>
            <a:pPr lvl="0"/>
            <a:r>
              <a:rPr lang="en-US" sz="1800"/>
              <a:t>Are typeclasses being heavily used?</a:t>
            </a:r>
          </a:p>
          <a:p>
            <a:pPr lvl="0"/>
            <a:r>
              <a:rPr lang="en-US" sz="1800"/>
              <a:t>How fast is validation now?</a:t>
            </a:r>
          </a:p>
          <a:p>
            <a:pPr lvl="0"/>
            <a:r>
              <a:rPr lang="en-US" sz="1800"/>
              <a:t>Nik you have any more statistics on AutoCLRS?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Did the PL community overly complicate things with higher-order types?</a:t>
            </a:r>
          </a:p>
          <a:p>
            <a:pPr lvl="0"/>
            <a:r>
              <a:rPr lang="en-US" sz="1800"/>
              <a:t>What can you folks say about MSFT adoption of proven code?</a:t>
            </a:r>
          </a:p>
          <a:p>
            <a:pPr lvl="0"/>
            <a:r>
              <a:rPr lang="en-US" sz="1800"/>
              <a:t>What are the biggest F* verified systems?</a:t>
            </a:r>
          </a:p>
          <a:p>
            <a:pPr lvl="0"/>
            <a:r>
              <a:rPr lang="en-US" sz="1800"/>
              <a:t>What are the biggest Pulse verified sytems?</a:t>
            </a:r>
          </a:p>
          <a:p>
            <a:pPr lvl="0"/>
            <a:r>
              <a:rPr lang="en-US" sz="1800"/>
              <a:t>Any quantitatives? Person days? AI days?</a:t>
            </a:r>
          </a:p>
          <a:p>
            <a:pPr lvl="0"/>
            <a:r>
              <a:rPr lang="en-US" sz="1800"/>
              <a:t>Should I quit Verus and go learn Pulse?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Are you folks still using Make? That’s how I got started on this.</a:t>
            </a:r>
          </a:p>
          <a:p>
            <a:pPr lvl="0"/>
            <a:r>
              <a:rPr lang="en-US" sz="1800"/>
              <a:t>Many programmers and worse, managers, complain about the programmer time to switch languages. Are you finding that you can switch languages with your AIs explaining things to you?</a:t>
            </a:r>
          </a:p>
          <a:p>
            <a:pPr lvl="0"/>
            <a:r>
              <a:rPr lang="en-US" sz="1800"/>
              <a:t>Can we prove Rust’s (awful) std with Verus?</a:t>
            </a:r>
          </a:p>
          <a:p>
            <a:pPr lvl="0"/>
            <a:r>
              <a:rPr lang="en-US" sz="1800"/>
              <a:t>Can we prove a compiler with Verus and EPR?</a:t>
            </a:r>
          </a:p>
          <a:p>
            <a:pPr lvl="0"/>
            <a:r>
              <a:rPr lang="en-US" sz="1800"/>
              <a:t>Can we prove a TIL (Tarditi, Morrisett, Harper) like compiler?</a:t>
            </a:r>
          </a:p>
          <a:p>
            <a:pPr lvl="0"/>
            <a:r>
              <a:rPr lang="en-US" sz="1800"/>
              <a:t>Can we verify a comp cert like compiler?</a:t>
            </a:r>
          </a:p>
          <a:p>
            <a:pPr lvl="0"/>
            <a:r>
              <a:rPr lang="en-US" sz="1800"/>
              <a:t>Can we prove an OS in Verus?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Questions - AI LLM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How fast is this moving?</a:t>
            </a:r>
          </a:p>
          <a:p>
            <a:pPr lvl="0"/>
            <a:r>
              <a:rPr lang="en-US" sz="1800"/>
              <a:t>How much context do we need?</a:t>
            </a:r>
          </a:p>
          <a:p>
            <a:pPr lvl="0"/>
            <a:r>
              <a:rPr lang="en-US" sz="1800"/>
              <a:t>How much speed do we have? T/S down and up?</a:t>
            </a:r>
          </a:p>
          <a:p>
            <a:pPr lvl="0"/>
            <a:r>
              <a:rPr lang="en-US" sz="1800"/>
              <a:t>How much speed do we need?</a:t>
            </a:r>
          </a:p>
          <a:p>
            <a:pPr lvl="0"/>
            <a:r>
              <a:rPr lang="en-US" sz="1800"/>
              <a:t>How much speed will we get?</a:t>
            </a:r>
          </a:p>
          <a:p>
            <a:pPr lvl="0"/>
            <a:r>
              <a:rPr lang="en-US" sz="1800"/>
              <a:t>When it’s 10 times faster how will we use it?</a:t>
            </a:r>
          </a:p>
          <a:p>
            <a:pPr lvl="0"/>
            <a:r>
              <a:rPr lang="en-US" sz="1800"/>
              <a:t>When will this really cost the user what it costs the provider?</a:t>
            </a:r>
          </a:p>
          <a:p>
            <a:pPr lvl="0"/>
            <a:r>
              <a:rPr lang="en-US" sz="1800"/>
              <a:t>When will it get even better intermediate term memory?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Cloud Security Alliance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The cloud security alliance has some sober recommendations:</a:t>
            </a:r>
          </a:p>
          <a:p>
            <a:pPr lvl="0"/>
            <a:r>
              <a:rPr lang="en-US" sz="1800"/>
              <a:t>The “AI Vulnerability Storm”: Building a “Mythosready” Security Program</a:t>
            </a:r>
          </a:p>
          <a:p>
            <a:pPr lvl="0"/>
            <a:r>
              <a:rPr lang="en-US" sz="1800"/>
              <a:t>https://labs.cloudsecurityalliance.org/wp-content/uploads/2026/04/mythosreadyv91.pdf</a:t>
            </a:r>
          </a:p>
          <a:p>
            <a:pPr lvl="0"/>
            <a:r>
              <a:rPr lang="en-US" sz="1800"/>
              <a:t>Use LLM-based vulnerability discovery and remediation capabilities.</a:t>
            </a:r>
          </a:p>
          <a:p>
            <a:pPr lvl="0"/>
            <a:r>
              <a:rPr lang="en-US" sz="1800"/>
              <a:t>Update risk metrics.</a:t>
            </a:r>
          </a:p>
          <a:p>
            <a:pPr lvl="0"/>
            <a:r>
              <a:rPr lang="en-US" sz="1800"/>
              <a:t>We cannot outwork machine-speed threats. Re-prioritize, automate, and prepare for burnout.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2026-05-13T08:35:56Z</dcterms:created>
  <dcterms:modified xsi:type="dcterms:W3CDTF">2026-05-13T08:35:56Z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-includes">
    <vt:lpwstr/>
  </property>
</Properties>
</file>