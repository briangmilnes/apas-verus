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2" Type="http://schemas.openxmlformats.org/officeDocument/2006/relationships/viewProps" Target="viewProps.xml" /><Relationship Id="rId9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4" Type="http://schemas.openxmlformats.org/officeDocument/2006/relationships/tableStyles" Target="tableStyles.xml" /><Relationship Id="rId9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 lang="en-US" sz="1800"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Its a pleasure to speak here at CMU CS, my intellectual home.</a:t>
            </a:r>
          </a:p>
          <a:p>
            <a:pPr lvl="0"/>
            <a:r>
              <a:rPr lang="en-US" sz="1800"/>
              <a:t>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mine</a:t>
            </a:r>
          </a:p>
          <a:p>
            <a:pPr lvl="0"/>
            <a:r>
              <a:rPr lang="en-US" sz="1800"/>
              <a:t>The AI Paired Programming Interfaces</a:t>
            </a:r>
          </a:p>
          <a:p>
            <a:pPr lvl="0"/>
            <a:r>
              <a:rPr lang="en-US" sz="1800"/>
              <a:t>The Internet Apocalypse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Thank you Umut and Guy!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No objects: it’s great for what it was invented for: modeling the real world and interfaces by Ivan Sutherland in 1962! (sorry Bob!).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will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Clone</a:t>
            </a:r>
          </a:p>
          <a:p>
            <a:pPr lvl="1"/>
            <a:r>
              <a:rPr lang="en-US" sz="1800"/>
              <a:t>fn clone(&amp;self) -&gt; Self</a:t>
            </a:r>
          </a:p>
          <a:p>
            <a:pPr lvl="1"/>
            <a:r>
              <a:rPr lang="en-US" sz="1800"/>
              <a:t>Informal contract: returns a value equal to *self</a:t>
            </a:r>
          </a:p>
          <a:p>
            <a:pPr lvl="1"/>
            <a:r>
              <a:rPr lang="en-US"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lang="en-US" sz="1800"/>
              <a:t>Copy: Clone</a:t>
            </a:r>
          </a:p>
          <a:p>
            <a:pPr lvl="0"/>
            <a:r>
              <a:rPr lang="en-US" sz="1800"/>
              <a:t>Copy is a subtrait of Clone — every Copy type must implement Clone</a:t>
            </a:r>
          </a:p>
          <a:p>
            <a:pPr lvl="0"/>
            <a:r>
              <a:rPr lang="en-US" sz="1800"/>
              <a:t>Hard contract: clone() must be equivalent to a bitwise copy, i.e., clone() == *self</a:t>
            </a:r>
          </a:p>
          <a:p>
            <a:pPr lvl="0"/>
            <a:r>
              <a:rPr lang="en-US" sz="1800"/>
              <a:t>This is documented in std: “if T: Copy, T::clone(&amp;x) must be equivalent to copying x”</a:t>
            </a:r>
          </a:p>
          <a:p>
            <a:pPr lvl="0"/>
            <a:r>
              <a:rPr lang="en-US" sz="1800"/>
              <a:t>What you really want here is to detangle these.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But tests are cheap now.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Built because Python + regex cannot reliably parse Rust.</a:t>
            </a:r>
          </a:p>
          <a:p>
            <a:pPr lvl="0"/>
            <a:r>
              <a:rPr lang="en-US"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lang="en-US"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lang="en-US" sz="1800"/>
              <a:t>(British) To suspend a student from a university, especially Oxford or Cambridge, as a disciplinary punishment.</a:t>
            </a:r>
          </a:p>
          <a:p>
            <a:pPr lvl="0"/>
            <a:r>
              <a:rPr lang="en-US" sz="1800"/>
              <a:t>Rusticate is a suite of 89 tools, most deprecated, for analyzing and transforming rust codebases.</a:t>
            </a:r>
          </a:p>
          <a:p>
            <a:pPr lvl="0"/>
            <a:r>
              <a:rPr lang="en-US" sz="1800"/>
              <a:t>review tools, fix tools, metrics, and migration aids.</a:t>
            </a:r>
          </a:p>
          <a:p>
            <a:pPr lvl="0"/>
            <a:r>
              <a:rPr lang="en-US"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tight integration with the programming language.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math sublang: First order logic.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But there is also a faster linear arithmetic solver, Singular.</a:t>
            </a:r>
          </a:p>
          <a:p>
            <a:pPr lvl="0"/>
            <a:r>
              <a:rPr lang="en-US" sz="1800"/>
              <a:t>Wraps existing Rust code:</a:t>
            </a:r>
          </a:p>
          <a:p>
            <a:pPr lvl="1"/>
            <a:r>
              <a:rPr lang="en-US" sz="1800"/>
              <a:t>spec / proof / requires / ensures on fns</a:t>
            </a:r>
          </a:p>
          <a:p>
            <a:pPr lvl="0"/>
            <a:r>
              <a:rPr lang="en-US" sz="1800"/>
              <a:t>Ships the Rust binaries directly.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Verus+Z3+RustC+STD, which is BIG.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8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800">
                <a:latin typeface="Courier"/>
              </a:rPr>
              <a:t>reject_recursive_types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800">
                <a:latin typeface="Courier"/>
              </a:rPr>
              <a:t> UnDirGraphStEph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StT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SetStEph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E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SetStEph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Edge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8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StT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 View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800">
                <a:latin typeface="Courier"/>
              </a:rPr>
              <a:t> UnDirGraphStEph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800">
                <a:latin typeface="Courier"/>
              </a:rPr>
              <a:t> V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800">
                <a:latin typeface="Courier"/>
              </a:rPr>
              <a:t> GraphView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800">
                <a:latin typeface="Courier"/>
              </a:rPr>
              <a:t>V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800">
                <a:latin typeface="Courier"/>
              </a:rPr>
              <a:t> View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800">
                <a:latin typeface="Courier"/>
              </a:rPr>
              <a:t>    open spec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800">
                <a:latin typeface="Courier"/>
              </a:rPr>
              <a:t> view(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latin typeface="Courier"/>
              </a:rPr>
              <a:t>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800">
                <a:latin typeface="Courier"/>
              </a:rPr>
              <a:t>V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    GraphView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800">
                <a:latin typeface="Courier"/>
              </a:rPr>
              <a:t> A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E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800">
                <a:latin typeface="Courier"/>
              </a:rPr>
              <a:t> UnDirGraphStEphTrait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StT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800">
                <a:latin typeface="Courier"/>
              </a:rPr>
              <a:t>    View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800">
                <a:latin typeface="Courier"/>
              </a:rPr>
              <a:t> GraphView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800">
                <a:latin typeface="Courier"/>
              </a:rPr>
              <a:t>V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800">
                <a:latin typeface="Courier"/>
              </a:rPr>
              <a:t> View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open spec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800">
                <a:latin typeface="Courier"/>
              </a:rPr>
              <a:t> spec_neighborhood(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800">
                <a:latin typeface="Courier"/>
              </a:rPr>
              <a:t>V)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800">
                <a:latin typeface="Courier"/>
              </a:rPr>
              <a:t> Set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800">
                <a:latin typeface="Courier"/>
              </a:rPr>
              <a:t>        recommends spec_graphview_wf(self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contains(v)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800">
                <a:latin typeface="Courier"/>
              </a:rPr>
              <a:t>new(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800">
                <a:latin typeface="Courier"/>
              </a:rPr>
              <a:t>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800">
                <a:latin typeface="Courier"/>
              </a:rPr>
              <a:t> 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latin typeface="Courier"/>
              </a:rPr>
              <a:t>A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contains((v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w))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800">
                <a:latin typeface="Courier"/>
              </a:rPr>
              <a:t> 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latin typeface="Courier"/>
              </a:rPr>
              <a:t>A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contains((w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v)))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800">
                <a:latin typeface="Courier"/>
              </a:rPr>
              <a:t> neighborhood(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>
                <a:latin typeface="Courier"/>
              </a:rPr>
              <a:t>V)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800">
                <a:latin typeface="Courier"/>
              </a:rPr>
              <a:t> (nbrs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SetStEph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)</a:t>
            </a:r>
            <a:br/>
            <a:r>
              <a:rPr lang="en-US" sz="1800">
                <a:latin typeface="Courier"/>
              </a:rPr>
              <a:t>        requires spec_graphview_wf(self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contains(v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800">
                <a:latin typeface="Courier"/>
              </a:rPr>
              <a:t>        ensures  nbrs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spec_neighborhood(v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nbrs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800">
                <a:latin typeface="Courier"/>
              </a:rPr>
              <a:t> 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Impl: </a:t>
            </a:r>
            <a:r>
              <a:rPr lang="en-US" sz="3200"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8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800">
                <a:latin typeface="Courier"/>
              </a:rPr>
              <a:t> neighborhood(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>
                <a:latin typeface="Courier"/>
              </a:rPr>
              <a:t>V)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800">
                <a:latin typeface="Courier"/>
              </a:rPr>
              <a:t> (nbrs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SetStEph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800">
                <a:latin typeface="Courier"/>
              </a:rPr>
              <a:t> nbrs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SetStEph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800">
                <a:latin typeface="Courier"/>
              </a:rPr>
              <a:t>empty()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800">
                <a:latin typeface="Courier"/>
              </a:rPr>
              <a:t> it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E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iter()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800">
                <a:latin typeface="Courier"/>
              </a:rPr>
              <a:t> ghost edges_seq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800">
                <a:latin typeface="Courier"/>
              </a:rPr>
              <a:t> it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800">
                <a:latin typeface="Courier"/>
              </a:rPr>
              <a:t>        invariant nbrs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800">
                <a:latin typeface="Courier"/>
              </a:rPr>
              <a:t>new(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800">
                <a:latin typeface="Courier"/>
              </a:rPr>
              <a:t>w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800">
                <a:latin typeface="Courier"/>
              </a:rPr>
              <a:t> exists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800">
                <a:latin typeface="Courier"/>
              </a:rPr>
              <a:t>i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800">
                <a:latin typeface="Courier"/>
              </a:rPr>
              <a:t>            </a:t>
            </a:r>
            <a:r>
              <a:rPr lang="en-US" sz="18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800">
                <a:latin typeface="Courier"/>
              </a:rPr>
              <a:t> i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 it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800">
                <a:latin typeface="Courier"/>
              </a:rPr>
              <a:t> </a:t>
            </a:r>
            <a:r>
              <a:rPr lang="en-US" sz="18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800">
                <a:latin typeface="Courier"/>
              </a:rPr>
              <a:t>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800">
                <a:latin typeface="Courier"/>
              </a:rPr>
              <a:t>        decreases edges_seq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len()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800">
                <a:latin typeface="Courier"/>
              </a:rPr>
              <a:t> it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800">
                <a:latin typeface="Courier"/>
              </a:rPr>
              <a:t> it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next()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        </a:t>
            </a:r>
            <a:r>
              <a:rPr lang="en-US" sz="18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800">
                <a:latin typeface="Courier"/>
              </a:rPr>
              <a:t>   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800">
                <a:latin typeface="Courier"/>
              </a:rPr>
              <a:t> proof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800">
                <a:latin typeface="Courier"/>
              </a:rPr>
              <a:t> </a:t>
            </a:r>
            <a:r>
              <a:rPr lang="en-US" sz="18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800">
                <a:latin typeface="Courier"/>
              </a:rPr>
              <a:t> nbrs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800">
                <a:latin typeface="Courier"/>
              </a:rPr>
              <a:t>            </a:t>
            </a:r>
            <a:r>
              <a:rPr lang="en-US" sz="18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800">
                <a:latin typeface="Courier"/>
              </a:rPr>
              <a:t>(e)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800">
                <a:latin typeface="Courier"/>
              </a:rPr>
              <a:t> </a:t>
            </a:r>
            <a:r>
              <a:rPr lang="en-US" sz="18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800">
                <a:latin typeface="Courier"/>
              </a:rPr>
              <a:t>       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 lang="en-US" sz="1800">
                <a:latin typeface="Courier"/>
              </a:rPr>
              <a:t>  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800">
                <a:latin typeface="Courier"/>
              </a:rPr>
              <a:t>external_type_specification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800">
                <a:latin typeface="Courier"/>
              </a:rPr>
              <a:t>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800">
                <a:latin typeface="Courier"/>
              </a:rPr>
              <a:t> ExVec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(</a:t>
            </a:r>
            <a:r>
              <a:rPr lang="en-US" sz="18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 lang="en-US" sz="1800">
                <a:latin typeface="Courier"/>
              </a:rPr>
              <a:t>  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800">
                <a:latin typeface="Courier"/>
              </a:rPr>
              <a:t>external_fn_specification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800">
                <a:latin typeface="Courier"/>
              </a:rPr>
              <a:t>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800">
                <a:latin typeface="Courier"/>
              </a:rPr>
              <a:t> ex_vec_push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(v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T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800">
                <a:latin typeface="Courier"/>
              </a:rPr>
              <a:t> value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T)</a:t>
            </a:r>
            <a:br/>
            <a:r>
              <a:rPr lang="en-US" sz="1800">
                <a:latin typeface="Courier"/>
              </a:rPr>
              <a:t>      requires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latin typeface="Courier"/>
              </a:rPr>
              <a:t>len()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8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800">
                <a:latin typeface="Courier"/>
              </a:rPr>
              <a:t>      ensures 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800">
                <a:latin typeface="Courier"/>
              </a:rPr>
              <a:t> old(v)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800">
                <a:latin typeface="Courier"/>
              </a:rPr>
              <a:t>push(value)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800">
                <a:latin typeface="Courier"/>
              </a:rPr>
              <a:t> 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800">
                <a:latin typeface="Courier"/>
              </a:rPr>
              <a:t>push(value)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Add a View and specs to a foreign type.</a:t>
            </a:r>
          </a:p>
          <a:p>
            <a:pPr lvl="0" indent="0">
              <a:buNone/>
            </a:pPr>
            <a:r>
              <a:rPr lang="en-US" sz="1800">
                <a:latin typeface="Courier"/>
              </a:rPr>
              <a:t>  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800">
                <a:latin typeface="Courier"/>
              </a:rPr>
              <a:t>external_type_specification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800">
                <a:latin typeface="Courier"/>
              </a:rPr>
              <a:t>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800">
                <a:latin typeface="Courier"/>
              </a:rPr>
              <a:t> ExHashMap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K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(HashMap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K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)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800">
                <a:latin typeface="Courier"/>
              </a:rPr>
              <a:t>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K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 View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800">
                <a:latin typeface="Courier"/>
              </a:rPr>
              <a:t> ExHashMap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latin typeface="Courier"/>
              </a:rPr>
              <a:t>K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800">
                <a:latin typeface="Courier"/>
              </a:rPr>
              <a:t> V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800">
                <a:latin typeface="Courier"/>
              </a:rPr>
              <a:t> Map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800">
                <a:latin typeface="Courier"/>
              </a:rPr>
              <a:t>       spec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800">
                <a:latin typeface="Courier"/>
              </a:rPr>
              <a:t> view(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latin typeface="Courier"/>
              </a:rPr>
              <a:t>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800">
                <a:latin typeface="Courier"/>
              </a:rPr>
              <a:t> Map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800">
                <a:latin typeface="Courier"/>
              </a:rPr>
              <a:t>V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Adds a spec to a foreign trait without modifying it:</a:t>
            </a:r>
          </a:p>
          <a:p>
            <a:pPr lvl="0" indent="0">
              <a:buNone/>
            </a:pPr>
            <a:r>
              <a:rPr lang="en-US" sz="18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800">
                <a:latin typeface="Courier"/>
              </a:rPr>
              <a:t>external_trait_specification</a:t>
            </a:r>
            <a:r>
              <a:rPr lang="en-US"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8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800">
                <a:latin typeface="Courier"/>
              </a:rPr>
              <a:t>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800">
                <a:latin typeface="Courier"/>
              </a:rPr>
              <a:t> ExClone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800">
                <a:latin typeface="Courier"/>
              </a:rPr>
              <a:t> ExternalTraitSpecificationFor: core::clone::Clone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800">
                <a:latin typeface="Courier"/>
              </a:rPr>
              <a:t>    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800">
                <a:latin typeface="Courier"/>
              </a:rPr>
              <a:t> clone(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800">
                <a:latin typeface="Courier"/>
              </a:rPr>
              <a:t>) 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800">
                <a:latin typeface="Courier"/>
              </a:rPr>
              <a:t> </a:t>
            </a:r>
            <a:r>
              <a:rPr lang="en-US" sz="18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8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800"/>
              <a:t>The proxy trait name is </a:t>
            </a:r>
            <a:r>
              <a:rPr lang="en-US" sz="1800">
                <a:latin typeface="Courier"/>
              </a:rPr>
              <a:t>Ex&lt;TraitName&gt;</a:t>
            </a:r>
            <a:r>
              <a:rPr lang="en-US" sz="1800"/>
              <a:t> by convention.</a:t>
            </a:r>
          </a:p>
          <a:p>
            <a:pPr lvl="0"/>
            <a:r>
              <a:rPr lang="en-US" sz="1800"/>
              <a:t>Add </a:t>
            </a:r>
            <a:r>
              <a:rPr lang="en-US" sz="1800">
                <a:latin typeface="Courier"/>
              </a:rPr>
              <a:t>requires</a:t>
            </a:r>
            <a:r>
              <a:rPr lang="en-US" sz="1800"/>
              <a:t>/</a:t>
            </a:r>
            <a:r>
              <a:rPr lang="en-US" sz="1800"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 client code manipulates local tokens, not global state.</a:t>
            </a:r>
          </a:p>
          <a:p>
            <a:pPr lvl="0"/>
            <a:r>
              <a:rPr lang="en-US" sz="1800"/>
              <a:t>RwLock in vstd is implemented via a tokenized state machine</a:t>
            </a:r>
          </a:p>
          <a:p>
            <a:pPr lvl="0"/>
            <a:r>
              <a:rPr lang="en-US" sz="1800"/>
              <a:t>The lock’s internal protocol (unlocked / read-locked / write-locked, reader count) is the TSM.</a:t>
            </a:r>
          </a:p>
          <a:p>
            <a:pPr lvl="0"/>
            <a:r>
              <a:rPr lang="en-US" sz="1800"/>
              <a:t>RwLockPredicate is the (single) invariant the user supplies.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Hance et al. “Sharding the State Machine” — OSDI 2023 (primary TSM paper)</a:t>
            </a:r>
          </a:p>
          <a:p>
            <a:pPr lvl="0"/>
            <a:r>
              <a:rPr lang="en-US" sz="1800"/>
              <a:t>Hance, Howell, Padon, Parno. “Leaf” — OOPSLA 2023 (storage protocols)</a:t>
            </a:r>
          </a:p>
          <a:p>
            <a:pPr lvl="0"/>
            <a:r>
              <a:rPr lang="en-US" sz="1800"/>
              <a:t>Hance. PhD Thesis, CMU-CS-CS-24-146, 2024 (full formal treatment)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4,225 commits since March 2021 — 5 years, still accelerating</a:t>
            </a:r>
          </a:p>
          <a:p>
            <a:pPr lvl="0"/>
            <a:r>
              <a:rPr lang="en-US" sz="1800"/>
              <a:t>Commits per year:</a:t>
            </a:r>
          </a:p>
          <a:p>
            <a:pPr lvl="0"/>
            <a:r>
              <a:rPr lang="en-US" sz="1800"/>
              <a:t>2021: 474 2022: 906 2023: 992</a:t>
            </a:r>
          </a:p>
          <a:p>
            <a:pPr lvl="0"/>
            <a:r>
              <a:rPr lang="en-US" sz="1800"/>
              <a:t>2024: 745 2025: 761 2026: 347 (thru April)</a:t>
            </a:r>
          </a:p>
          <a:p>
            <a:pPr lvl="0"/>
            <a:r>
              <a:rPr lang="en-US" sz="1800"/>
              <a:t>Rolling releases: 396 tagged — roughly one every 4 days</a:t>
            </a:r>
          </a:p>
          <a:p>
            <a:pPr lvl="0"/>
            <a:r>
              <a:rPr lang="en-US" sz="1800"/>
              <a:t>59 stable releases!</a:t>
            </a:r>
          </a:p>
          <a:p>
            <a:pPr lvl="0"/>
            <a:r>
              <a:rPr lang="en-US" sz="1800"/>
              <a:t>Excellent team and work. I have had only a few crashes, which I could work around.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Runtime tests: 3,776 pass in 21 s.</a:t>
            </a:r>
          </a:p>
          <a:p>
            <a:pPr lvl="0"/>
            <a:r>
              <a:rPr lang="en-US" sz="1800"/>
              <a:t>Verus has a nice proof-time test harness, so I pulled it out:</a:t>
            </a:r>
          </a:p>
          <a:p>
            <a:pPr lvl="1"/>
            <a:r>
              <a:rPr lang="en-US" sz="1800"/>
              <a:t>221 pass in 259 s.</a:t>
            </a:r>
          </a:p>
          <a:p>
            <a:pPr lvl="1"/>
            <a:r>
              <a:rPr lang="en-US"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lang="en-US" sz="1800"/>
              <a:t>These caught dozens of problems that would have been conflated with algorithms loops.</a:t>
            </a:r>
          </a:p>
          <a:p>
            <a:pPr lvl="0"/>
            <a:r>
              <a:rPr lang="en-US" sz="1800"/>
              <a:t>Benchmarks in 42s.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0!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150 calendar days, roughly (more later)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Closures took a good bit of work.</a:t>
            </a:r>
          </a:p>
          <a:p>
            <a:pPr lvl="0"/>
            <a:r>
              <a:rPr lang="en-US" sz="1800"/>
              <a:t>Applying them in map/reduce and so on took a while.</a:t>
            </a:r>
          </a:p>
          <a:p>
            <a:pPr lvl="0"/>
            <a:r>
              <a:rPr lang="en-US" sz="1800"/>
              <a:t>Rust has FnOnce &lt; FnMut &lt; Fn, but no real FPure.</a:t>
            </a:r>
          </a:p>
          <a:p>
            <a:pPr lvl="0"/>
            <a:r>
              <a:rPr lang="en-US" sz="1800"/>
              <a:t>You can const fn and the compiler will check it but then you can’t say: </a:t>
            </a:r>
            <a:r>
              <a:rPr lang="en-US" sz="1800">
                <a:latin typeface="Courier"/>
              </a:rPr>
              <a:t>fn map(const fn F)</a:t>
            </a:r>
          </a:p>
          <a:p>
            <a:pPr lvl="0"/>
            <a:r>
              <a:rPr lang="en-US" sz="1800"/>
              <a:t>Verus Ghost functions allows good validation but purity would be simpler.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Stein.</a:t>
            </a:r>
          </a:p>
          <a:p>
            <a:pPr lvl="0"/>
            <a:r>
              <a:rPr lang="en-US" sz="1800"/>
              <a:t>in 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And now seems to be about 130K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definitely had some tool advantages in terms of incremental proofs through a server.</a:t>
            </a:r>
          </a:p>
          <a:p>
            <a:pPr lvl="0"/>
            <a:r>
              <a:rPr lang="en-US" sz="1800"/>
              <a:t>That’s another verus pain point but not too bad.</a:t>
            </a:r>
          </a:p>
          <a:p>
            <a:pPr lvl="0"/>
            <a:r>
              <a:rPr lang="en-US" sz="1800"/>
              <a:t>Plus, they knew F* and Pulse to start!</a:t>
            </a:r>
          </a:p>
          <a:p>
            <a:pPr lvl="0"/>
            <a:r>
              <a:rPr lang="en-US" sz="1800"/>
              <a:t>And they did a formal specification of algorithmic complexity!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Veracity is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All tools are AST-aware (ra_ap_syntax / Verus_syn).</a:t>
            </a:r>
          </a:p>
          <a:p>
            <a:pPr lvl="0"/>
            <a:r>
              <a:rPr lang="en-US" sz="1800"/>
              <a:t>A string-hacking detector flags usage of string manipulation instead of AST work.</a:t>
            </a:r>
          </a:p>
          <a:p>
            <a:pPr lvl="0"/>
            <a:r>
              <a:rPr lang="en-US" sz="1800"/>
              <a:t>And when bugs appeared they were mostly string hacking.</a:t>
            </a:r>
          </a:p>
          <a:p>
            <a:pPr lvl="0"/>
            <a:r>
              <a:rPr lang="en-US" sz="1800"/>
              <a:t>Because no matter what I said to my AIs they LOVE string hacking shortcuts.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vstd not have X,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  <a:p>
            <a:pPr lvl="0"/>
            <a:r>
              <a:rPr lang="en-US" sz="1800"/>
              <a:t>Does F*/Pulse have one yet?</a:t>
            </a:r>
          </a:p>
          <a:p>
            <a:pPr lvl="0"/>
            <a:r>
              <a:rPr lang="en-US" sz="1800"/>
              <a:t>It only took about a day.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I had to build a tool to get the right ones in the code at the right place.</a:t>
            </a:r>
          </a:p>
          <a:p>
            <a:pPr lvl="0"/>
            <a:r>
              <a:rPr lang="en-US" sz="1800"/>
              <a:t>My single threaded implementations often don’t match the textbook intentionally.</a:t>
            </a:r>
          </a:p>
          <a:p>
            <a:pPr lvl="0"/>
            <a:r>
              <a:rPr lang="en-US" sz="1800"/>
              <a:t>Then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Iteration in Rust is rather complex.</a:t>
            </a:r>
          </a:p>
          <a:p>
            <a:pPr lvl="0"/>
            <a:r>
              <a:rPr lang="en-US" sz="1800"/>
              <a:t>70 functions on iterator but only 7 functions cover the 90% case.</a:t>
            </a:r>
          </a:p>
          <a:p>
            <a:pPr lvl="0"/>
            <a:r>
              <a:rPr lang="en-US" sz="1800"/>
              <a:t>And in Verus it’s a bit more complex and takes some time to learn.</a:t>
            </a:r>
          </a:p>
          <a:p>
            <a:pPr lvl="0"/>
            <a:r>
              <a:rPr lang="en-US" sz="1800"/>
              <a:t>10 components required per collection (all inside Verus!)</a:t>
            </a:r>
          </a:p>
          <a:p>
            <a:pPr lvl="0"/>
            <a:r>
              <a:rPr lang="en-US" sz="1800"/>
              <a:t>6 verified loop patterns per collection</a:t>
            </a:r>
          </a:p>
          <a:p>
            <a:pPr lvl="0"/>
            <a:r>
              <a:rPr lang="en-US" sz="1800"/>
              <a:t>{loop, for} X {borrow iter, borrow into, consume}</a:t>
            </a:r>
          </a:p>
          <a:p>
            <a:pPr lvl="0"/>
            <a:r>
              <a:rPr lang="en-US" sz="1800"/>
              <a:t>Iterators requires one assume!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forbids adding requires on external trait impls (std::iter::Iterator)</a:t>
            </a:r>
          </a:p>
          <a:p>
            <a:pPr lvl="0"/>
            <a:r>
              <a:rPr lang="en-US" sz="1800"/>
              <a:t>Hand-rolled iterators need assume(iter_invariant(self)) in next()</a:t>
            </a:r>
          </a:p>
          <a:p>
            <a:pPr lvl="0"/>
            <a:r>
              <a:rPr lang="en-US" sz="1800"/>
              <a:t>Everything but that one assume is fully proved</a:t>
            </a:r>
          </a:p>
          <a:p>
            <a:pPr lvl="0"/>
            <a:r>
              <a:rPr lang="en-US" sz="1800"/>
              <a:t>44 collections implemented; all carry verified iterators</a:t>
            </a:r>
          </a:p>
          <a:p>
            <a:pPr lvl="0"/>
            <a:r>
              <a:rPr lang="en-US" sz="1800"/>
              <a:t>Verus has proof time tests inside, I freed them to run in APAS-VERUS.</a:t>
            </a:r>
          </a:p>
          <a:p>
            <a:pPr lvl="0"/>
            <a:r>
              <a:rPr lang="en-US" sz="1800"/>
              <a:t>This was critical to get iterative loops to prove over my collections ADTs.</a:t>
            </a:r>
          </a:p>
          <a:p>
            <a:pPr lvl="0"/>
            <a:r>
              <a:rPr lang="en-US" sz="1800"/>
              <a:t>You can prove full iterators in your own copy of the traits with no assume and I have.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Results:</a:t>
            </a:r>
          </a:p>
          <a:p>
            <a:pPr lvl="0"/>
            <a:r>
              <a:rPr lang="en-US" sz="1800"/>
              <a:t>107 files: SUCCEEDS / VERIFIES — pattern adopted into codebase</a:t>
            </a:r>
          </a:p>
          <a:p>
            <a:pPr lvl="0"/>
            <a:r>
              <a:rPr lang="en-US" sz="1800"/>
              <a:t>61 files: FAILS — Verus limitation documented, workaround noted</a:t>
            </a:r>
          </a:p>
          <a:p>
            <a:pPr lvl="0"/>
            <a:r>
              <a:rPr lang="en-US" sz="1800"/>
              <a:t>Notable successes that unlocked chapters:</a:t>
            </a:r>
          </a:p>
          <a:p>
            <a:pPr lvl="1"/>
            <a:r>
              <a:rPr lang="en-US" sz="1800"/>
              <a:t>TSM/RwLock layer pattern — unlocked all Mt modules,</a:t>
            </a:r>
          </a:p>
          <a:p>
            <a:pPr lvl="1"/>
            <a:r>
              <a:rPr lang="en-US" sz="1800"/>
              <a:t>Named closure ensures through ParaPair — unlocked fork-join,</a:t>
            </a:r>
          </a:p>
          <a:p>
            <a:pPr lvl="1"/>
            <a:r>
              <a:rPr lang="en-US" sz="1800"/>
              <a:t>Ghost struct Send/Sync — unlocked AVLTreeSetsMtEph,</a:t>
            </a:r>
          </a:p>
          <a:p>
            <a:pPr lvl="1"/>
            <a:r>
              <a:rPr lang="en-US" sz="1800"/>
              <a:t>Tree module style — unlocked Kruskal, Prim, UnionFind.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  <a:p>
            <a:pPr lvl="0"/>
            <a:r>
              <a:rPr lang="en-US" sz="1800"/>
              <a:t>My CLAUDE.md would just not do enough even with 50KB and 13K tokens.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Question what are your favorite AI rules?</a:t>
            </a:r>
          </a:p>
          <a:p>
            <a:pPr lvl="0"/>
            <a:r>
              <a:rPr lang="en-US" sz="1800"/>
              <a:t>Mine are:</a:t>
            </a:r>
          </a:p>
          <a:p>
            <a:pPr lvl="1"/>
            <a:r>
              <a:rPr lang="en-US" sz="1800"/>
              <a:t>Don’t Over Think,</a:t>
            </a:r>
          </a:p>
          <a:p>
            <a:pPr lvl="1"/>
            <a:r>
              <a:rPr lang="en-US" sz="1800"/>
              <a:t>DISCUSS,</a:t>
            </a:r>
          </a:p>
          <a:p>
            <a:pPr lvl="1"/>
            <a:r>
              <a:rPr lang="en-US" sz="1800"/>
              <a:t>Don’t jump ahead,</a:t>
            </a:r>
          </a:p>
          <a:p>
            <a:pPr lvl="1"/>
            <a:r>
              <a:rPr lang="en-US" sz="1800"/>
              <a:t>go step by step,</a:t>
            </a:r>
          </a:p>
          <a:p>
            <a:pPr lvl="1"/>
            <a:r>
              <a:rPr lang="en-US" sz="1800"/>
              <a:t>PBOGH: Prove Big or Go HOME!</a:t>
            </a:r>
          </a:p>
          <a:p>
            <a:pPr lvl="0"/>
            <a:r>
              <a:rPr lang="en-US" sz="1800"/>
              <a:t>You just have to tell the agents keep on proving!</a:t>
            </a:r>
          </a:p>
          <a:p>
            <a:pPr lvl="0"/>
            <a:r>
              <a:rPr lang="en-US" sz="1800"/>
              <a:t>Are you building big CLAUDE.md?</a:t>
            </a:r>
          </a:p>
          <a:p>
            <a:pPr lvl="0"/>
            <a:r>
              <a:rPr lang="en-US"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</a:t>
            </a:r>
          </a:p>
          <a:p>
            <a:pPr lvl="1"/>
            <a:r>
              <a:rPr lang="en-US" sz="1800"/>
              <a:t>redundant asserts, unnecessary proof blocks</a:t>
            </a:r>
          </a:p>
          <a:p>
            <a:pPr lvl="0"/>
            <a:r>
              <a:rPr lang="en-US" sz="1800"/>
              <a:t>They verify, but they waste solver budget on every subsequent run.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0"/>
            <a:r>
              <a:rPr lang="en-US" sz="1800"/>
              <a:t>Eight removals in that one file: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  <a:p>
            <a:pPr lvl="0"/>
            <a:r>
              <a:rPr lang="en-US"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ended up having to have my tools work mostly in comments.</a:t>
            </a:r>
          </a:p>
          <a:p>
            <a:pPr lvl="0"/>
            <a:r>
              <a:rPr lang="en-US" sz="1800"/>
              <a:t>I added accept(P) to mark assumes I allowed, almost all eq/partialeq/clone.</a:t>
            </a:r>
          </a:p>
          <a:p>
            <a:pPr lvl="0"/>
            <a:r>
              <a:rPr lang="en-US" sz="1800"/>
              <a:t>This can be simplified with some Verus language syntax, but then the AIs are not trained on the symbols.</a:t>
            </a:r>
          </a:p>
          <a:p>
            <a:pPr lvl="0"/>
            <a:r>
              <a:rPr lang="en-US" sz="1800"/>
              <a:t>6,081 // Veracity: NEEDED assert</a:t>
            </a:r>
          </a:p>
          <a:p>
            <a:pPr lvl="0"/>
            <a:r>
              <a:rPr lang="en-US" sz="1800"/>
              <a:t>4,681 // Veracity: NEEDED proof block</a:t>
            </a:r>
          </a:p>
          <a:p>
            <a:pPr lvl="0"/>
            <a:r>
              <a:rPr lang="en-US" sz="1800"/>
              <a:t>1,502 // Veracity: NEEDED assert (speed)</a:t>
            </a:r>
          </a:p>
          <a:p>
            <a:pPr lvl="0"/>
            <a:r>
              <a:rPr lang="en-US" sz="1800"/>
              <a:t>245 // Veracity: NEEDED proof block (speed)—</a:t>
            </a:r>
          </a:p>
          <a:p>
            <a:pPr lvl="0"/>
            <a:r>
              <a:rPr lang="en-US" sz="1800"/>
              <a:t>Total annotations: 14,140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Inputs &amp;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total_hours = person_days × avg_hrs_per_day</a:t>
            </a:r>
          </a:p>
          <a:p>
            <a:pPr lvl="0"/>
            <a:r>
              <a:rPr lang="en-US" sz="1800"/>
              <a:t>programmer_cost = total_hours × (programmer_costs / 1,760)</a:t>
            </a:r>
          </a:p>
          <a:p>
            <a:pPr lvl="0"/>
            <a:r>
              <a:rPr lang="en-US" sz="1800"/>
              <a:t>AI_cost = total_hours × (ai_costs / 1,760)</a:t>
            </a:r>
          </a:p>
          <a:p>
            <a:pPr lvl="0"/>
            <a:r>
              <a:rPr lang="en-US" sz="1800"/>
              <a:t>LoEC_share = LoEC / total_LOC</a:t>
            </a:r>
          </a:p>
          <a:p>
            <a:pPr lvl="0"/>
            <a:r>
              <a:rPr lang="en-US" sz="1800"/>
              <a:t>C = total_cost × LoEC_share</a:t>
            </a:r>
          </a:p>
          <a:p>
            <a:pPr lvl="0"/>
            <a:r>
              <a:rPr lang="en-US" sz="1800"/>
              <a:t>P = total_cost × (1 − LoEC_share)</a:t>
            </a:r>
          </a:p>
          <a:p>
            <a:pPr lvl="0"/>
            <a:r>
              <a:rPr lang="en-US" sz="1800"/>
              <a:t>R = LOPC2R / (LOPC2R + LOC0R)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Worked Example —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</a:t>
            </a:r>
            <a:r>
              <a:rPr lang="en-US" sz="1800" b="1">
                <a:latin typeface="Courier"/>
              </a:rPr>
              <a:t>--ai-costs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 21.6% APAS-AI ($1,512) / 78.4% APAS-VERUS ($5,488) | # | Project | Hours | LOC | LoEC | LOPC2R | LOC0R | |:–|:———————-|———:|——–:|——-:|——-:|——-:| | 1 | APAS-AI + Rusticate | 309.6 | 31,751 | 31,751 | — | — | | 2 | APAS-VERUS + Veracity | 1,123.4 | 166,401 | 56,549 | 47,828 | 95,908 | | 3 | Combined | 1,432.96 | 198,152 | 88,300 | 47,828 | 95,908 |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33.3%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verified deliverable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$1.877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$2.665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KLOPC2R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$3.378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$6.305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"/>
                <a:gridCol w="1879600"/>
                <a:gridCol w="1562100"/>
                <a:gridCol w="2603500"/>
                <a:gridCol w="1981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45,760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~41×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$825,000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$17,188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$8,250,000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~33.7×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I threw out three that wrapped std for asynchrony.</a:t>
            </a:r>
          </a:p>
          <a:p>
            <a:pPr lvl="0"/>
            <a:r>
              <a:rPr lang="en-US" sz="1800"/>
              <a:t>I did a greedy set cover analysis of what Rust uses.</a:t>
            </a:r>
          </a:p>
          <a:p>
            <a:pPr lvl="0"/>
            <a:r>
              <a:rPr lang="en-US" sz="1800"/>
              <a:t>And another of what verus wraps.</a:t>
            </a:r>
          </a:p>
          <a:p>
            <a:pPr lvl="0"/>
            <a:r>
              <a:rPr lang="en-US" sz="1800"/>
              <a:t>This is a golden age for quantitative software engineering.</a:t>
            </a:r>
          </a:p>
          <a:p>
            <a:pPr lvl="0"/>
            <a:r>
              <a:rPr lang="en-US" sz="1800"/>
              <a:t>It took just two days of person time.</a:t>
            </a:r>
          </a:p>
          <a:p>
            <a:pPr lvl="0"/>
            <a:r>
              <a:rPr lang="en-US"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19 data types fully support 90%.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69 modules fully support 95%.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1121 methods fully support 95%.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of 2026 14 April</a:t>
            </a:r>
          </a:p>
          <a:p>
            <a:pPr lvl="0"/>
            <a:r>
              <a:rPr lang="en-US" sz="1800"/>
              <a:t>How many Rust Data Types does Verus wrap?</a:t>
            </a:r>
          </a:p>
          <a:p>
            <a:pPr lvl="1"/>
            <a:r>
              <a:rPr lang="en-US" sz="1800"/>
              <a:t>29 types currently wrapped.</a:t>
            </a:r>
          </a:p>
          <a:p>
            <a:pPr lvl="0"/>
            <a:r>
              <a:rPr lang="en-US" sz="1800"/>
              <a:t>How many Rust Traits does Verus wrap?</a:t>
            </a:r>
          </a:p>
          <a:p>
            <a:pPr lvl="1"/>
            <a:r>
              <a:rPr lang="en-US" sz="1800"/>
              <a:t>147 traits in vstd.</a:t>
            </a:r>
          </a:p>
          <a:p>
            <a:pPr lvl="0"/>
            <a:r>
              <a:rPr lang="en-US" sz="1800"/>
              <a:t>How many total Rust Methods does Verus wrap?</a:t>
            </a:r>
          </a:p>
          <a:p>
            <a:pPr lvl="1"/>
            <a:r>
              <a:rPr lang="en-US" sz="1800"/>
              <a:t>154 methods currently wrapped.</a:t>
            </a:r>
          </a:p>
          <a:p>
            <a:pPr lvl="0"/>
            <a:r>
              <a:rPr lang="en-US" sz="1800"/>
              <a:t>A small but growing percentage.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Software engineering in the AI age is much like managing programmers.</a:t>
            </a:r>
          </a:p>
          <a:p>
            <a:pPr lvl="0"/>
            <a:r>
              <a:rPr lang="en-US" sz="1800"/>
              <a:t>You can’t possibly read all their code.</a:t>
            </a:r>
          </a:p>
          <a:p>
            <a:pPr lvl="0"/>
            <a:r>
              <a:rPr lang="en-US" sz="1800"/>
              <a:t>So you use:</a:t>
            </a:r>
          </a:p>
          <a:p>
            <a:pPr lvl="1"/>
            <a:r>
              <a:rPr lang="en-US" sz="1800"/>
              <a:t>linters both programmatic and AI</a:t>
            </a:r>
          </a:p>
          <a:p>
            <a:pPr lvl="1"/>
            <a:r>
              <a:rPr lang="en-US" sz="1800"/>
              <a:t>stylers both programmatic and AI</a:t>
            </a:r>
          </a:p>
          <a:p>
            <a:pPr lvl="1"/>
            <a:r>
              <a:rPr lang="en-US" sz="1800"/>
              <a:t>AI reviews directed by programmatic tools.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Starting with a textbook that has a ton of good prose is a huge plus.</a:t>
            </a:r>
          </a:p>
          <a:p>
            <a:pPr lvl="0"/>
            <a:r>
              <a:rPr lang="en-US" sz="1800"/>
              <a:t>I did discover a few things about the textbook.</a:t>
            </a:r>
          </a:p>
          <a:p>
            <a:pPr lvl="0"/>
            <a:r>
              <a:rPr lang="en-US" sz="1800"/>
              <a:t>It needs more on Scheduling. I only built Help-First scheduling.</a:t>
            </a:r>
          </a:p>
          <a:p>
            <a:pPr lvl="0"/>
            <a:r>
              <a:rPr lang="en-US" sz="1800"/>
              <a:t>It used (K,V) in tree sets as mappings, but I had to make this explicit. Particularly with an Ordered Key Mapping.</a:t>
            </a:r>
          </a:p>
          <a:p>
            <a:pPr lvl="0"/>
            <a:r>
              <a:rPr lang="en-US" sz="1800"/>
              <a:t>With this Ordered Tables, which are not too complex, were much easier to prove.</a:t>
            </a:r>
          </a:p>
          <a:p>
            <a:pPr lvl="0"/>
            <a:r>
              <a:rPr lang="en-US" sz="1800"/>
              <a:t>APAS’s discussion of Union Find was too thin. Path compression was very difficult.</a:t>
            </a:r>
          </a:p>
          <a:p>
            <a:pPr lvl="0"/>
            <a:r>
              <a:rPr lang="en-US" sz="1800"/>
              <a:t>I had to start with Nikhil Swammy et. al’s AlgoCLRS’s implemention and proofs.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use git work trees for proof.</a:t>
            </a:r>
          </a:p>
          <a:p>
            <a:pPr lvl="0"/>
            <a:r>
              <a:rPr lang="en-US" sz="1800"/>
              <a:t>The good news is git is powerful and the agents understand it.</a:t>
            </a:r>
          </a:p>
          <a:p>
            <a:pPr lvl="0"/>
            <a:r>
              <a:rPr lang="en-US" sz="1800"/>
              <a:t>The bad news is the agents can indeed start using advanced features and get things wrong.</a:t>
            </a:r>
          </a:p>
          <a:p>
            <a:pPr lvl="0"/>
            <a:r>
              <a:rPr lang="en-US" sz="1800"/>
              <a:t>I work with between 1 and 9 agents.</a:t>
            </a:r>
          </a:p>
          <a:p>
            <a:pPr lvl="0"/>
            <a:r>
              <a:rPr lang="en-US" sz="1800"/>
              <a:t>One on veracity.</a:t>
            </a:r>
          </a:p>
          <a:p>
            <a:pPr lvl="0"/>
            <a:r>
              <a:rPr lang="en-US" sz="1800"/>
              <a:t>One orchestrator, writing plans, prompts and controlling merges.</a:t>
            </a:r>
          </a:p>
          <a:p>
            <a:pPr lvl="0"/>
            <a:r>
              <a:rPr lang="en-US" sz="1800"/>
              <a:t>1-8 on branches each working on different independent plans.</a:t>
            </a:r>
          </a:p>
          <a:p>
            <a:pPr lvl="0"/>
            <a:r>
              <a:rPr lang="en-US" sz="1800"/>
              <a:t>I am not nearly comfortable enough with agent proof to let them do subagents without observing.</a:t>
            </a:r>
          </a:p>
          <a:p>
            <a:pPr lvl="0"/>
            <a:r>
              <a:rPr lang="en-US" sz="1800"/>
              <a:t>Cursor was much better at interruption to guide things.</a:t>
            </a:r>
          </a:p>
          <a:p>
            <a:pPr lvl="0"/>
            <a:r>
              <a:rPr lang="en-US" sz="1800"/>
              <a:t>Claude is getting better at it.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agents I used are: various Google, OpenAI and Anthropic.</a:t>
            </a:r>
          </a:p>
          <a:p>
            <a:pPr lvl="0"/>
            <a:r>
              <a:rPr lang="en-US" sz="1800"/>
              <a:t>A google agent once took 12 minutes to ‘echo HI’ to test it’s terminal.</a:t>
            </a:r>
          </a:p>
          <a:p>
            <a:pPr lvl="0"/>
            <a:r>
              <a:rPr lang="en-US" sz="1800"/>
              <a:t>Anthropics models are signficantly better than OpenAI.</a:t>
            </a:r>
          </a:p>
          <a:p>
            <a:pPr lvl="0"/>
            <a:r>
              <a:rPr lang="en-US" sz="1800"/>
              <a:t>And Claude Code’s cost is the least so far.</a:t>
            </a:r>
          </a:p>
          <a:p>
            <a:pPr lvl="0"/>
            <a:r>
              <a:rPr lang="en-US" sz="1800"/>
              <a:t>They are said in the press to be spending $5000 per month per user.</a:t>
            </a:r>
          </a:p>
          <a:p>
            <a:pPr lvl="0"/>
            <a:r>
              <a:rPr lang="en-US" sz="1800"/>
              <a:t>They are buying market share (what happened to Amazon’s buying market share phase?).</a:t>
            </a:r>
          </a:p>
          <a:p>
            <a:pPr lvl="0"/>
            <a:r>
              <a:rPr lang="en-US" sz="1800"/>
              <a:t>And they are buying coding interactions.</a:t>
            </a:r>
          </a:p>
          <a:p>
            <a:pPr lvl="0"/>
            <a:r>
              <a:rPr lang="en-US" sz="1800"/>
              <a:t>But both vendors are playing leap frog.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inconsistent.</a:t>
            </a:r>
          </a:p>
          <a:p>
            <a:pPr lvl="0"/>
            <a:r>
              <a:rPr lang="en-US" sz="1800"/>
              <a:t>They lie.</a:t>
            </a:r>
          </a:p>
          <a:p>
            <a:pPr lvl="0"/>
            <a:r>
              <a:rPr lang="en-US" sz="1800"/>
              <a:t>They cheat.</a:t>
            </a:r>
          </a:p>
          <a:p>
            <a:pPr lvl="0"/>
            <a:r>
              <a:rPr lang="en-US" sz="1800"/>
              <a:t>They say I can’t prove that!</a:t>
            </a:r>
          </a:p>
          <a:p>
            <a:pPr lvl="0"/>
            <a:r>
              <a:rPr lang="en-US" sz="1800"/>
              <a:t>They err.</a:t>
            </a:r>
          </a:p>
          <a:p>
            <a:pPr lvl="0"/>
            <a:r>
              <a:rPr lang="en-US" sz="1800"/>
              <a:t>But mostly they are just forgetful.</a:t>
            </a:r>
          </a:p>
          <a:p>
            <a:pPr lvl="0"/>
            <a:r>
              <a:rPr lang="en-US" sz="1800"/>
              <a:t>My attempts to give them coding standard checklists, ala Watts Humphrey and the PSP failed.</a:t>
            </a:r>
          </a:p>
          <a:p>
            <a:pPr lvl="0"/>
            <a:r>
              <a:rPr lang="en-US" sz="1800"/>
              <a:t>Sometimes they would say “The checklist was followed” and then admit “I lied.”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getting better, very few code hallucinations.</a:t>
            </a:r>
          </a:p>
          <a:p>
            <a:pPr lvl="0"/>
            <a:r>
              <a:rPr lang="en-US" sz="1800"/>
              <a:t>If you tell them you are Dr. FunkenProof and they are Igor, they hallucinate whole modules.</a:t>
            </a:r>
          </a:p>
          <a:p>
            <a:pPr lvl="0"/>
            <a:r>
              <a:rPr lang="en-US" sz="1800"/>
              <a:t>Just a few months ago only Claude could sweep a codebase decently.</a:t>
            </a:r>
          </a:p>
          <a:p>
            <a:pPr lvl="0"/>
            <a:r>
              <a:rPr lang="en-US" sz="1800"/>
              <a:t>Now both Claude and OpenAI can.</a:t>
            </a:r>
          </a:p>
          <a:p>
            <a:pPr lvl="0"/>
            <a:r>
              <a:rPr lang="en-US" sz="1800"/>
              <a:t>And now they can prove like heck.</a:t>
            </a:r>
          </a:p>
          <a:p>
            <a:pPr lvl="0"/>
            <a:r>
              <a:rPr lang="en-US" sz="1800"/>
              <a:t>10x what I can do.</a:t>
            </a:r>
          </a:p>
          <a:p>
            <a:pPr lvl="0"/>
            <a:r>
              <a:rPr lang="en-US"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you want is pretty obvious with experience: TEXT still rules.</a:t>
            </a:r>
          </a:p>
          <a:p>
            <a:pPr lvl="0"/>
            <a:r>
              <a:rPr lang="en-US" sz="1800"/>
              <a:t>You want one window with your core interaction. The agent tells you what it is doing in it.</a:t>
            </a:r>
          </a:p>
          <a:p>
            <a:pPr lvl="0"/>
            <a:r>
              <a:rPr lang="en-US" sz="1800"/>
              <a:t>You want one to watch your compile, tests and scripts.</a:t>
            </a:r>
          </a:p>
          <a:p>
            <a:pPr lvl="0"/>
            <a:r>
              <a:rPr lang="en-US" sz="1800"/>
              <a:t>You want one window to have the LLM show you it’s thinking and allow you to question and change it.</a:t>
            </a:r>
          </a:p>
          <a:p>
            <a:pPr lvl="0"/>
            <a:r>
              <a:rPr lang="en-US" sz="1800"/>
              <a:t>I learned a ton from watching agents think.</a:t>
            </a:r>
          </a:p>
          <a:p>
            <a:pPr lvl="0"/>
            <a:r>
              <a:rPr lang="en-US" sz="1800"/>
              <a:t>I suspect they are hiding most of their thinking now to prevent them from being used to train new AIs.</a:t>
            </a:r>
          </a:p>
          <a:p>
            <a:pPr lvl="0"/>
            <a:r>
              <a:rPr lang="en-US" sz="1800"/>
              <a:t>And you want it not to delete your previous conversation on token compression.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Rust/Firefox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asked Claude Code to check its switches on startup for me, at the End of Jan 2026.</a:t>
            </a:r>
          </a:p>
          <a:p>
            <a:pPr lvl="0"/>
            <a:r>
              <a:rPr lang="en-US" sz="1800"/>
              <a:t>It immediately started disassembling itself.</a:t>
            </a:r>
          </a:p>
          <a:p>
            <a:pPr lvl="0"/>
            <a:r>
              <a:rPr lang="en-US" sz="1800"/>
              <a:t>Scared the heck out of me.</a:t>
            </a:r>
          </a:p>
          <a:p>
            <a:pPr lvl="0"/>
            <a:r>
              <a:rPr lang="en-US" sz="1800"/>
              <a:t>I told it to read it’s docs.</a:t>
            </a:r>
          </a:p>
          <a:p>
            <a:pPr lvl="0"/>
            <a:r>
              <a:rPr lang="en-US" sz="1800"/>
              <a:t>I have 100% belief that these LLMs are moving faster than computer security.</a:t>
            </a:r>
          </a:p>
          <a:p>
            <a:pPr lvl="0"/>
            <a:r>
              <a:rPr lang="en-US" sz="1800"/>
              <a:t>It’s verify or be hacked at this point.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Where should we focus our limited, but quickly growing, proving power?</a:t>
            </a:r>
          </a:p>
          <a:p>
            <a:pPr lvl="0"/>
            <a:r>
              <a:rPr lang="en-US" sz="1800"/>
              <a:t>In theory 70% of intrusions are solved by type safe languages.</a:t>
            </a:r>
          </a:p>
          <a:p>
            <a:pPr lvl="0"/>
            <a:r>
              <a:rPr lang="en-US" sz="1800"/>
              <a:t>I suspect that this just ignores way too much of the human aspect.</a:t>
            </a:r>
          </a:p>
          <a:p>
            <a:pPr lvl="0"/>
            <a:r>
              <a:rPr lang="en-US" sz="1800"/>
              <a:t>I have never liked a single estimation paper’s methods.</a:t>
            </a:r>
          </a:p>
          <a:p>
            <a:pPr lvl="0"/>
            <a:r>
              <a:rPr lang="en-US" sz="1800"/>
              <a:t>One way to help us focus our new-found superpowers is to survey KLOC type-unsafe x Interfaces x Running Services x $ Value.</a:t>
            </a:r>
          </a:p>
          <a:p>
            <a:pPr lvl="0"/>
            <a:r>
              <a:rPr lang="en-US" sz="1800"/>
              <a:t>Which Amazon and Microsoft can probably measure.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GRASE (Medical Acronym) -</a:t>
            </a:r>
          </a:p>
          <a:p>
            <a:pPr lvl="1"/>
            <a:r>
              <a:rPr lang="en-US" sz="1800"/>
              <a:t>Generally Recognized as Safe and Effective</a:t>
            </a:r>
          </a:p>
          <a:p>
            <a:pPr lvl="0"/>
            <a:r>
              <a:rPr lang="en-US" sz="1800" b="1"/>
              <a:t>GRASE-</a:t>
            </a:r>
          </a:p>
          <a:p>
            <a:pPr lvl="1"/>
            <a:r>
              <a:rPr lang="en-US" sz="1800" b="1"/>
              <a:t>Git Recording Agentic Software Engineering</a:t>
            </a:r>
          </a:p>
          <a:p>
            <a:pPr lvl="0"/>
            <a:r>
              <a:rPr lang="en-US" sz="1800"/>
              <a:t>The GRASE project’s goal is to make statistical process software optimization for agentic coding:</a:t>
            </a:r>
          </a:p>
          <a:p>
            <a:pPr lvl="1"/>
            <a:r>
              <a:rPr lang="en-US" sz="1800" b="1"/>
              <a:t>Generally Regarded As Simple and Effective.</a:t>
            </a:r>
          </a:p>
          <a:p>
            <a:pPr lvl="0"/>
            <a:r>
              <a:rPr lang="en-US" sz="1800"/>
              <a:t>A Watt’s Humphrey style PSP data collection done essentially effortlessly by the agents in the background.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Ah let’s just get to the questions!</a:t>
            </a:r>
          </a:p>
          <a:p>
            <a:pPr lvl="0"/>
            <a:r>
              <a:rPr lang="en-US" sz="1800"/>
              <a:t>I have a ton of them for you! and I hope you have many for me.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Extra Slides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Programming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Lines of Code</a:t>
            </a:r>
          </a:p>
          <a:p>
            <a:pPr lvl="1"/>
            <a:r>
              <a:rPr lang="en-US" sz="1800"/>
              <a:t>Source: 31,751</a:t>
            </a:r>
          </a:p>
          <a:p>
            <a:pPr lvl="1"/>
            <a:r>
              <a:rPr lang="en-US" sz="1800"/>
              <a:t>Tests: 55,223</a:t>
            </a:r>
          </a:p>
          <a:p>
            <a:pPr lvl="1"/>
            <a:r>
              <a:rPr lang="en-US" sz="1800"/>
              <a:t>Benches: 13,890</a:t>
            </a:r>
          </a:p>
          <a:p>
            <a:pPr lvl="1"/>
            <a:r>
              <a:rPr lang="en-US" sz="1800"/>
              <a:t>Total code: 100,864</a:t>
            </a:r>
          </a:p>
          <a:p>
            <a:pPr lvl="0"/>
            <a:r>
              <a:rPr lang="en-US" sz="1800"/>
              <a:t>Rusticate Lines of Code</a:t>
            </a:r>
          </a:p>
          <a:p>
            <a:pPr lvl="1"/>
            <a:r>
              <a:rPr lang="en-US" sz="1800"/>
              <a:t>Source: 29,582</a:t>
            </a:r>
          </a:p>
          <a:p>
            <a:pPr lvl="1"/>
            <a:r>
              <a:rPr lang="en-US" sz="1800"/>
              <a:t>Tests: 12,890</a:t>
            </a:r>
          </a:p>
          <a:p>
            <a:pPr lvl="1"/>
            <a:r>
              <a:rPr lang="en-US" sz="1800"/>
              <a:t>Total code: 42,472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Proving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Lines of Code</a:t>
            </a:r>
          </a:p>
          <a:p>
            <a:pPr lvl="1"/>
            <a:r>
              <a:rPr lang="en-US" sz="1800"/>
              <a:t>Source: 229,319</a:t>
            </a:r>
          </a:p>
          <a:p>
            <a:pPr lvl="1"/>
            <a:r>
              <a:rPr lang="en-US" sz="1800"/>
              <a:t>Tests (RTT): 58,503</a:t>
            </a:r>
          </a:p>
          <a:p>
            <a:pPr lvl="1"/>
            <a:r>
              <a:rPr lang="en-US" sz="1800"/>
              <a:t>PTTs (rust_verify_test): 15,938</a:t>
            </a:r>
          </a:p>
          <a:p>
            <a:pPr lvl="1"/>
            <a:r>
              <a:rPr lang="en-US" sz="1800"/>
              <a:t>Benches: 8,027</a:t>
            </a:r>
          </a:p>
          <a:p>
            <a:pPr lvl="1"/>
            <a:r>
              <a:rPr lang="en-US" sz="1800"/>
              <a:t>Total code: 311,787</a:t>
            </a:r>
          </a:p>
          <a:p>
            <a:pPr lvl="0"/>
            <a:r>
              <a:rPr lang="en-US" sz="1800"/>
              <a:t>Veracity Lines of Code</a:t>
            </a:r>
          </a:p>
          <a:p>
            <a:pPr lvl="1"/>
            <a:r>
              <a:rPr lang="en-US" sz="1800"/>
              <a:t>Source: 65,189</a:t>
            </a:r>
          </a:p>
          <a:p>
            <a:pPr lvl="1"/>
            <a:r>
              <a:rPr lang="en-US" sz="1800"/>
              <a:t>Tests: 2,851</a:t>
            </a:r>
          </a:p>
          <a:p>
            <a:pPr lvl="1"/>
            <a:r>
              <a:rPr lang="en-US" sz="1800"/>
              <a:t>Total code: 68,040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Source is now Open Copy.</a:t>
            </a:r>
          </a:p>
          <a:p>
            <a:pPr lvl="0"/>
            <a:r>
              <a:rPr lang="en-US" sz="1800"/>
              <a:t>with reports of 1/2 of AI time</a:t>
            </a:r>
          </a:p>
          <a:p>
            <a:pPr lvl="0"/>
            <a:r>
              <a:rPr lang="en-US" sz="1800"/>
              <a:t>and with the US Government totally undermining copyright law.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repositories are now weakly locked doors.</a:t>
            </a:r>
          </a:p>
          <a:p>
            <a:pPr lvl="0"/>
            <a:r>
              <a:rPr lang="en-US" sz="1800"/>
              <a:t>Agents can and have been used to inject invisble UNICODE attacks.</a:t>
            </a:r>
          </a:p>
          <a:p>
            <a:pPr lvl="0"/>
            <a:r>
              <a:rPr lang="en-US" sz="1800"/>
              <a:t>Agents can now pass the Turing test, and more easily the programmer Turing test.</a:t>
            </a:r>
          </a:p>
          <a:p>
            <a:pPr lvl="0"/>
            <a:r>
              <a:rPr lang="en-US" sz="1800"/>
              <a:t>They’ll submit code pretending to be human.</a:t>
            </a:r>
          </a:p>
          <a:p>
            <a:pPr lvl="0"/>
            <a:r>
              <a:rPr lang="en-US" sz="1800"/>
              <a:t>They’ll steal credentials and submit code.</a:t>
            </a:r>
          </a:p>
          <a:p>
            <a:pPr lvl="0"/>
            <a:r>
              <a:rPr lang="en-US" sz="1800"/>
              <a:t>LiteLLM is the most atrocious case lately.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Authentication is going to be attacked brutally.</a:t>
            </a:r>
          </a:p>
          <a:p>
            <a:pPr lvl="0"/>
            <a:r>
              <a:rPr lang="en-US" sz="1800"/>
              <a:t>Network services are going to be hacked left and right.</a:t>
            </a:r>
          </a:p>
          <a:p>
            <a:pPr lvl="0"/>
            <a:r>
              <a:rPr lang="en-US" sz="1800"/>
              <a:t>Configurations are going to be heavily attacked.</a:t>
            </a:r>
          </a:p>
          <a:p>
            <a:pPr lvl="1"/>
            <a:r>
              <a:rPr lang="en-US" sz="1800"/>
              <a:t>Using text files for these is already error prone.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binaries are next.</a:t>
            </a:r>
          </a:p>
          <a:p>
            <a:pPr lvl="0"/>
            <a:r>
              <a:rPr lang="en-US" sz="1800"/>
              <a:t>They are going to be disassembled and recontructed.</a:t>
            </a:r>
          </a:p>
          <a:p>
            <a:pPr lvl="0"/>
            <a:r>
              <a:rPr lang="en-US" sz="1800"/>
              <a:t>They are going to be rewritten in real time.</a:t>
            </a:r>
          </a:p>
          <a:p>
            <a:pPr lvl="0"/>
            <a:r>
              <a:rPr lang="en-US" sz="1800"/>
              <a:t>Key solutions to this are:</a:t>
            </a:r>
          </a:p>
          <a:p>
            <a:pPr lvl="0"/>
            <a:r>
              <a:rPr lang="en-US" sz="1800"/>
              <a:t>Binary packages from all repositories.</a:t>
            </a:r>
          </a:p>
          <a:p>
            <a:pPr lvl="0"/>
            <a:r>
              <a:rPr lang="en-US" sz="1800"/>
              <a:t>Cryptographically signed.</a:t>
            </a:r>
          </a:p>
          <a:p>
            <a:pPr lvl="0"/>
            <a:r>
              <a:rPr lang="en-US" sz="1800"/>
              <a:t>Installation protected in the OS.</a:t>
            </a:r>
          </a:p>
          <a:p>
            <a:pPr lvl="0"/>
            <a:r>
              <a:rPr lang="en-US" sz="1800"/>
              <a:t>And protected from reading by the OS.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F* modules really in use? If not, why?</a:t>
            </a:r>
          </a:p>
          <a:p>
            <a:pPr lvl="0"/>
            <a:r>
              <a:rPr lang="en-US" sz="1800"/>
              <a:t>Got Functors?</a:t>
            </a:r>
          </a:p>
          <a:p>
            <a:pPr lvl="0"/>
            <a:r>
              <a:rPr lang="en-US" sz="1800"/>
              <a:t>Are F* modules working with proof smoothly? Took me about three days to get a proving model (Treap) with modules.</a:t>
            </a:r>
          </a:p>
          <a:p>
            <a:pPr lvl="0"/>
            <a:r>
              <a:rPr lang="en-US" sz="1800"/>
              <a:t>Does F* have a typed library search yet?</a:t>
            </a:r>
          </a:p>
          <a:p>
            <a:pPr lvl="0"/>
            <a:r>
              <a:rPr lang="en-US" sz="1800"/>
              <a:t>Are typeclasses being heavily used?</a:t>
            </a:r>
          </a:p>
          <a:p>
            <a:pPr lvl="0"/>
            <a:r>
              <a:rPr lang="en-US" sz="1800"/>
              <a:t>How fast is validation now?</a:t>
            </a:r>
          </a:p>
          <a:p>
            <a:pPr lvl="0"/>
            <a:r>
              <a:rPr lang="en-US" sz="1800"/>
              <a:t>Nik you have any more statistics on AutoCLRS?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Did the PL community overly complicate things with higher-order types?</a:t>
            </a:r>
          </a:p>
          <a:p>
            <a:pPr lvl="0"/>
            <a:r>
              <a:rPr lang="en-US" sz="1800"/>
              <a:t>What can you folks say about MSFT adoption of proven code?</a:t>
            </a:r>
          </a:p>
          <a:p>
            <a:pPr lvl="0"/>
            <a:r>
              <a:rPr lang="en-US" sz="1800"/>
              <a:t>What are the biggest F* verified systems?</a:t>
            </a:r>
          </a:p>
          <a:p>
            <a:pPr lvl="0"/>
            <a:r>
              <a:rPr lang="en-US" sz="1800"/>
              <a:t>What are the biggest Pulse verified sytems?</a:t>
            </a:r>
          </a:p>
          <a:p>
            <a:pPr lvl="0"/>
            <a:r>
              <a:rPr lang="en-US" sz="1800"/>
              <a:t>Any quantitatives? Person days? AI days?</a:t>
            </a:r>
          </a:p>
          <a:p>
            <a:pPr lvl="0"/>
            <a:r>
              <a:rPr lang="en-US" sz="1800"/>
              <a:t>Should I quit Verus and go learn Pulse?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you folks still using Make? That’s how I got started on this.</a:t>
            </a:r>
          </a:p>
          <a:p>
            <a:pPr lvl="0"/>
            <a:r>
              <a:rPr lang="en-US"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lang="en-US" sz="1800"/>
              <a:t>Can we prove Rust’s (awful) std with Verus?</a:t>
            </a:r>
          </a:p>
          <a:p>
            <a:pPr lvl="0"/>
            <a:r>
              <a:rPr lang="en-US" sz="1800"/>
              <a:t>Can we prove a compiler with Verus and EPR?</a:t>
            </a:r>
          </a:p>
          <a:p>
            <a:pPr lvl="0"/>
            <a:r>
              <a:rPr lang="en-US" sz="1800"/>
              <a:t>Can we prove a TIL (Tarditi, Morrisett, Harper) like compiler?</a:t>
            </a:r>
          </a:p>
          <a:p>
            <a:pPr lvl="0"/>
            <a:r>
              <a:rPr lang="en-US" sz="1800"/>
              <a:t>Can we verify a comp cert like compiler?</a:t>
            </a:r>
          </a:p>
          <a:p>
            <a:pPr lvl="0"/>
            <a:r>
              <a:rPr lang="en-US" sz="1800"/>
              <a:t>Can we prove an OS in Verus?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How fast is this moving?</a:t>
            </a:r>
          </a:p>
          <a:p>
            <a:pPr lvl="0"/>
            <a:r>
              <a:rPr lang="en-US" sz="1800"/>
              <a:t>How much context do we need?</a:t>
            </a:r>
          </a:p>
          <a:p>
            <a:pPr lvl="0"/>
            <a:r>
              <a:rPr lang="en-US" sz="1800"/>
              <a:t>How much speed do we have? T/S down and up?</a:t>
            </a:r>
          </a:p>
          <a:p>
            <a:pPr lvl="0"/>
            <a:r>
              <a:rPr lang="en-US" sz="1800"/>
              <a:t>How much speed do we need?</a:t>
            </a:r>
          </a:p>
          <a:p>
            <a:pPr lvl="0"/>
            <a:r>
              <a:rPr lang="en-US" sz="1800"/>
              <a:t>How much speed will we get?</a:t>
            </a:r>
          </a:p>
          <a:p>
            <a:pPr lvl="0"/>
            <a:r>
              <a:rPr lang="en-US" sz="1800"/>
              <a:t>When it’s 10 times faster how will we use it?</a:t>
            </a:r>
          </a:p>
          <a:p>
            <a:pPr lvl="0"/>
            <a:r>
              <a:rPr lang="en-US" sz="1800"/>
              <a:t>When will this really cost the user what it costs the provider?</a:t>
            </a:r>
          </a:p>
          <a:p>
            <a:pPr lvl="0"/>
            <a:r>
              <a:rPr lang="en-US" sz="1800"/>
              <a:t>When will it get even better intermediate term memory?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cloud security alliance has some sober recommendations:</a:t>
            </a:r>
          </a:p>
          <a:p>
            <a:pPr lvl="0"/>
            <a:r>
              <a:rPr lang="en-US" sz="1800"/>
              <a:t>The “AI Vulnerability Storm”: Building a “Mythosready” Security Program</a:t>
            </a:r>
          </a:p>
          <a:p>
            <a:pPr lvl="0"/>
            <a:r>
              <a:rPr lang="en-US" sz="1800"/>
              <a:t>https://labs.cloudsecurityalliance.org/wp-content/uploads/2026/04/mythosreadyv91.pdf</a:t>
            </a:r>
          </a:p>
          <a:p>
            <a:pPr lvl="0"/>
            <a:r>
              <a:rPr lang="en-US" sz="1800"/>
              <a:t>Use LLM-based vulnerability discovery and remediation capabilities.</a:t>
            </a:r>
          </a:p>
          <a:p>
            <a:pPr lvl="0"/>
            <a:r>
              <a:rPr lang="en-US" sz="1800"/>
              <a:t>Update risk metrics.</a:t>
            </a:r>
          </a:p>
          <a:p>
            <a:pPr lvl="0"/>
            <a:r>
              <a:rPr lang="en-US"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2026-05-10T00:52:07Z</dcterms:created>
  <dcterms:modified xsi:type="dcterms:W3CDTF">2026-05-10T00:52:07Z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