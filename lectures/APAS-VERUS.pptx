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3" Type="http://schemas.openxmlformats.org/officeDocument/2006/relationships/viewProps" Target="viewProps.xml" /><Relationship Id="rId9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5" Type="http://schemas.openxmlformats.org/officeDocument/2006/relationships/tableStyles" Target="tableStyles.xml" /><Relationship Id="rId9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n.wikipedia.org/wiki/Bernays#E2#80#93Sch#C3#B6nfinkel_class" TargetMode="Externa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AI Paired Proof Engineering Techniques and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Brian G. Milnes </a:t>
            </a:r>
            <a:r>
              <a:rPr sz="2000">
                <a:hlinkClick r:id="rId2"/>
              </a:rPr>
              <a:t>briangmilnes@gmail.com</a:t>
            </a:r>
          </a:p>
          <a:p>
            <a:pPr lvl="0"/>
            <a:r>
              <a:rPr sz="2000"/>
              <a:t>Experience, Results and Techniques in building</a:t>
            </a:r>
          </a:p>
          <a:p>
            <a:pPr lvl="0"/>
            <a:r>
              <a:rPr sz="2000"/>
              <a:t>‘Algorithms Parallel and Sequential’ by Acar and Blelloch</a:t>
            </a:r>
          </a:p>
          <a:p>
            <a:pPr lvl="0"/>
            <a:r>
              <a:rPr sz="2000"/>
              <a:t>in Rust</a:t>
            </a:r>
          </a:p>
          <a:p>
            <a:pPr lvl="0"/>
            <a:r>
              <a:rPr sz="2000"/>
              <a:t>and then proving it in Verus.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Background</a:t>
            </a:r>
          </a:p>
          <a:p>
            <a:pPr lvl="0"/>
            <a:r>
              <a:rPr sz="2000"/>
              <a:t>Poll: Get a feel for my audience</a:t>
            </a:r>
          </a:p>
          <a:p>
            <a:pPr lvl="0"/>
            <a:r>
              <a:rPr sz="2000"/>
              <a:t>Algorithms Parallel and Sequential (APAS)</a:t>
            </a:r>
          </a:p>
          <a:p>
            <a:pPr lvl="0"/>
            <a:r>
              <a:rPr sz="2000"/>
              <a:t>Rust - The Good, The Bad and the Ugly</a:t>
            </a:r>
          </a:p>
          <a:p>
            <a:pPr lvl="0"/>
            <a:r>
              <a:rPr sz="2000"/>
              <a:t>APAS-AI - AI Paired Programming APAS in Rust</a:t>
            </a:r>
          </a:p>
          <a:p>
            <a:pPr lvl="0"/>
            <a:r>
              <a:rPr sz="2000"/>
              <a:t>Rusticate - sending Python back to the family estate</a:t>
            </a:r>
          </a:p>
          <a:p>
            <a:pPr lvl="0"/>
            <a:r>
              <a:rPr sz="2000"/>
              <a:t>Verus - Proving Rust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APAS-VERUS- AI Paired Proving APAS in Verus</a:t>
            </a:r>
          </a:p>
          <a:p>
            <a:pPr lvl="0"/>
            <a:r>
              <a:rPr sz="2000"/>
              <a:t>Veracity- Software Engineering AI Paired Proving</a:t>
            </a:r>
          </a:p>
          <a:p>
            <a:pPr lvl="0"/>
            <a:r>
              <a:rPr sz="2000"/>
              <a:t>Software Engineering in AI Paired Proving</a:t>
            </a:r>
          </a:p>
          <a:p>
            <a:pPr lvl="0"/>
            <a:r>
              <a:rPr sz="2000"/>
              <a:t>The AI Paired Programming Interfaces</a:t>
            </a:r>
          </a:p>
          <a:p>
            <a:pPr lvl="0"/>
            <a:r>
              <a:rPr sz="2000"/>
              <a:t>The Internet Apocalypse</a:t>
            </a:r>
          </a:p>
          <a:p>
            <a:pPr lvl="0"/>
            <a:r>
              <a:rPr sz="2000"/>
              <a:t>Review of the Talk</a:t>
            </a:r>
          </a:p>
          <a:p>
            <a:pPr lvl="0"/>
            <a:r>
              <a:rPr sz="2000"/>
              <a:t>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Poll: Get a feel for my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How many of you have used Rust?</a:t>
            </a:r>
          </a:p>
          <a:p>
            <a:pPr lvl="0"/>
            <a:r>
              <a:rPr sz="2000"/>
              <a:t>How many of you have created formally verified software?</a:t>
            </a:r>
          </a:p>
          <a:p>
            <a:pPr lvl="0"/>
            <a:r>
              <a:rPr sz="2000"/>
              <a:t>How many of you have used AI LLMs to generate programs?</a:t>
            </a:r>
          </a:p>
          <a:p>
            <a:pPr lvl="0"/>
            <a:r>
              <a:rPr sz="2000"/>
              <a:t>How many of you have used AI LLMs to generate verfied software?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Poll: Get a feel for my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Which verifiers:</a:t>
            </a:r>
          </a:p>
          <a:p>
            <a:pPr lvl="1"/>
            <a:r>
              <a:rPr sz="2000"/>
              <a:t>Rocq?</a:t>
            </a:r>
          </a:p>
          <a:p>
            <a:pPr lvl="1"/>
            <a:r>
              <a:rPr sz="2000"/>
              <a:t>Isabelle/HOL</a:t>
            </a:r>
          </a:p>
          <a:p>
            <a:pPr lvl="1"/>
            <a:r>
              <a:rPr sz="2000"/>
              <a:t>F* (or it’s DSLs: Steel and Pulse)</a:t>
            </a:r>
          </a:p>
          <a:p>
            <a:pPr lvl="1"/>
            <a:r>
              <a:rPr sz="2000"/>
              <a:t>Verus</a:t>
            </a:r>
          </a:p>
          <a:p>
            <a:pPr lvl="1"/>
            <a:r>
              <a:rPr sz="2000"/>
              <a:t>Twelfth - good or PL semantics</a:t>
            </a:r>
          </a:p>
          <a:p>
            <a:pPr lvl="1"/>
            <a:r>
              <a:rPr sz="2000"/>
              <a:t>DCalf - particularly cool for algorithmic cost proofs and cubical.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B.Sc. Applied Math (Computer Science)</a:t>
            </a:r>
          </a:p>
          <a:p>
            <a:pPr lvl="0"/>
            <a:r>
              <a:rPr sz="2000"/>
              <a:t>2 years of AI PL development (Carnegie Group)</a:t>
            </a:r>
          </a:p>
          <a:p>
            <a:pPr lvl="0"/>
            <a:r>
              <a:rPr sz="2000"/>
              <a:t>7 years of (symbolic) AI Research (Soar Group, CMU CS)</a:t>
            </a:r>
          </a:p>
          <a:p>
            <a:pPr lvl="0"/>
            <a:r>
              <a:rPr sz="2000"/>
              <a:t>2 years of PL research (Fox Group, CMU CS)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Founding member of Lycos- systems, performance, ran operations</a:t>
            </a:r>
          </a:p>
          <a:p>
            <a:pPr lvl="0"/>
            <a:r>
              <a:rPr sz="2000"/>
              <a:t>Early Amazon- systems, performance, operations</a:t>
            </a:r>
          </a:p>
          <a:p>
            <a:pPr lvl="0"/>
            <a:r>
              <a:rPr sz="2000"/>
              <a:t>M.Sc. Computer Science, University of Washington</a:t>
            </a:r>
          </a:p>
          <a:p>
            <a:pPr lvl="0"/>
            <a:r>
              <a:rPr sz="2000"/>
              <a:t>Early Zillow- 6th engineer, ran operations, systems, performance</a:t>
            </a:r>
          </a:p>
          <a:p>
            <a:pPr lvl="0"/>
            <a:r>
              <a:rPr sz="2000"/>
              <a:t>A general love of proving programs with Rocq, F* and now Verus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needed a practical, fairly large, very difficult task to learn Verus.</a:t>
            </a:r>
          </a:p>
          <a:p>
            <a:pPr lvl="0"/>
            <a:r>
              <a:rPr sz="2000"/>
              <a:t>Rocq is good but complicated slow and I had used it manually and not close the the PL. You have to generate the code from it.</a:t>
            </a:r>
          </a:p>
          <a:p>
            <a:pPr lvl="0"/>
            <a:r>
              <a:rPr sz="2000"/>
              <a:t>F* is good, but complicated slow and I had used it manually, close to the PL but far from a practical PL and generates code.</a:t>
            </a:r>
          </a:p>
          <a:p>
            <a:pPr lvl="0"/>
            <a:r>
              <a:rPr sz="2000"/>
              <a:t>In fact some of the F* group went to work on verus due F* (and other systems) requirement of ‘heroic proof’.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chose to implement: Algorithms Parallel and Sequential (APAS) in Verus.</a:t>
            </a:r>
          </a:p>
          <a:p>
            <a:pPr lvl="0"/>
            <a:r>
              <a:rPr sz="2000"/>
              <a:t>Umut Acar and Guy Blelloch 2022</a:t>
            </a:r>
          </a:p>
          <a:p>
            <a:pPr lvl="1"/>
            <a:r>
              <a:rPr sz="2000"/>
              <a:t>121 algorithms!</a:t>
            </a:r>
          </a:p>
          <a:p>
            <a:pPr lvl="1"/>
            <a:r>
              <a:rPr sz="2000"/>
              <a:t>81 of which can be parallel.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740 concepts.</a:t>
            </a:r>
          </a:p>
          <a:p>
            <a:pPr lvl="0"/>
            <a:r>
              <a:rPr sz="2000"/>
              <a:t>A very comprehensive text.</a:t>
            </a:r>
          </a:p>
          <a:p>
            <a:pPr lvl="0"/>
            <a:r>
              <a:rPr sz="2000"/>
              <a:t>F*’s new DSL, Pulse, seems to be much more practical.</a:t>
            </a:r>
          </a:p>
          <a:p>
            <a:pPr lvl="1"/>
            <a:r>
              <a:rPr sz="2000"/>
              <a:t>They implemented: “Introduction to Algorithms”</a:t>
            </a:r>
          </a:p>
          <a:p>
            <a:pPr lvl="1"/>
            <a:r>
              <a:rPr sz="2000"/>
              <a:t>Thomas H. Cormen, Charles E. Leiserson, Ronald L. Rivest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Formally Proven Algorithms Textbooks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Verified Functional Algorithms by Andrew W. Appel</a:t>
            </a:r>
          </a:p>
          <a:p>
            <a:pPr lvl="0"/>
            <a:r>
              <a:rPr sz="2000"/>
              <a:t>Functional Algorithms, Verified! by Tobias Nipkow, et al.</a:t>
            </a:r>
          </a:p>
          <a:p>
            <a:pPr lvl="0"/>
            <a:r>
              <a:rPr sz="2000"/>
              <a:t>Algorithm Design with Haskell by Richard Bird and Jeremy Gibbons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20 year old PL</a:t>
            </a:r>
          </a:p>
          <a:p>
            <a:pPr lvl="0"/>
            <a:r>
              <a:rPr sz="2000"/>
              <a:t>Mozilla project named for a fungi!</a:t>
            </a:r>
          </a:p>
          <a:p>
            <a:pPr lvl="0"/>
            <a:r>
              <a:rPr sz="2000"/>
              <a:t>Not quite as gross as naming your company for spiders (Lycos).</a:t>
            </a:r>
          </a:p>
          <a:p>
            <a:pPr lvl="0"/>
            <a:r>
              <a:rPr sz="2000"/>
              <a:t>C like.</a:t>
            </a:r>
          </a:p>
          <a:p>
            <a:pPr lvl="0"/>
            <a:r>
              <a:rPr sz="2000"/>
              <a:t>Fast compilation</a:t>
            </a:r>
          </a:p>
          <a:p>
            <a:pPr lvl="0"/>
            <a:r>
              <a:rPr sz="2000"/>
              <a:t>Fast code</a:t>
            </a:r>
          </a:p>
          <a:p>
            <a:pPr lvl="0"/>
            <a:r>
              <a:rPr sz="2000"/>
              <a:t>Industrial acceptance: AWS, Google, Huawei, Microsoft, and Mozilla.</a:t>
            </a:r>
          </a:p>
          <a:p>
            <a:pPr lvl="0"/>
            <a:r>
              <a:rPr sz="2000"/>
              <a:t>Linux Kernel now uses it!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Linear typing plus borrowing</a:t>
            </a:r>
          </a:p>
          <a:p>
            <a:pPr lvl="0"/>
            <a:r>
              <a:rPr sz="2000"/>
              <a:t>Algebraic Data Types</a:t>
            </a:r>
          </a:p>
          <a:p>
            <a:pPr lvl="0"/>
            <a:r>
              <a:rPr sz="2000"/>
              <a:t>Mutability</a:t>
            </a:r>
          </a:p>
          <a:p>
            <a:pPr lvl="0"/>
            <a:r>
              <a:rPr sz="2000"/>
              <a:t>No GC!</a:t>
            </a:r>
          </a:p>
          <a:p>
            <a:pPr lvl="0"/>
            <a:r>
              <a:rPr sz="2000"/>
              <a:t>Some decent derive’s for Debug, Display, Copy, Clone, … to reduce code size.</a:t>
            </a:r>
          </a:p>
          <a:p>
            <a:pPr lvl="0"/>
            <a:r>
              <a:rPr sz="2000"/>
              <a:t>Their ‘cargo’ package system works rather well.</a:t>
            </a:r>
          </a:p>
          <a:p>
            <a:pPr lvl="0"/>
            <a:r>
              <a:rPr sz="2000"/>
              <a:t>Slicing! with ownership.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No GC!</a:t>
            </a:r>
          </a:p>
          <a:p>
            <a:pPr lvl="0"/>
            <a:r>
              <a:rPr sz="2000"/>
              <a:t>No regions, just lifetime with end of scope deallocation.</a:t>
            </a:r>
          </a:p>
          <a:p>
            <a:pPr lvl="0"/>
            <a:r>
              <a:rPr sz="2000"/>
              <a:t>Translating C to Rust is hard to get it into linear logic + borrowing.</a:t>
            </a:r>
          </a:p>
          <a:p>
            <a:pPr lvl="0"/>
            <a:r>
              <a:rPr sz="2000"/>
              <a:t>However, you can (and I have) rewrite algorithms with a free list (that’s right).</a:t>
            </a:r>
          </a:p>
          <a:p>
            <a:pPr lvl="0"/>
            <a:r>
              <a:rPr sz="2000"/>
              <a:t>Macros, with typing checked at use, which is not so good.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 94 technical terms used in Rust and its documention:</a:t>
            </a:r>
          </a:p>
          <a:p>
            <a:pPr lvl="0"/>
            <a:r>
              <a:rPr sz="2000"/>
              <a:t>How many would you guess are from the PL literature?</a:t>
            </a:r>
          </a:p>
          <a:p>
            <a:pPr lvl="0"/>
            <a:r>
              <a:rPr sz="2000"/>
              <a:t>Only 4!</a:t>
            </a:r>
          </a:p>
          <a:p>
            <a:pPr lvl="0"/>
            <a:r>
              <a:rPr sz="2000"/>
              <a:t>If anyone here taught the Rust designers programming languages, please don’t admit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Rust has </a:t>
            </a:r>
            <a:r>
              <a:rPr sz="2000">
                <a:latin typeface="Courier"/>
              </a:rPr>
              <a:t>pub fn/pub(crate)</a:t>
            </a:r>
            <a:r>
              <a:rPr sz="2000"/>
              <a:t>- pub and protected.</a:t>
            </a:r>
          </a:p>
          <a:p>
            <a:pPr lvl="0"/>
            <a:r>
              <a:rPr sz="2000"/>
              <a:t>The user is specifying what should be public yet the style is to specify all of what you use when you import the module.</a:t>
            </a:r>
          </a:p>
          <a:p>
            <a:pPr lvl="0"/>
            <a:r>
              <a:rPr sz="2000">
                <a:latin typeface="Courier"/>
              </a:rPr>
              <a:t>use std::fmt::{Formatter, Result, Debug, Display};</a:t>
            </a:r>
          </a:p>
          <a:p>
            <a:pPr lvl="0"/>
            <a:r>
              <a:rPr sz="2000"/>
              <a:t>Typeclasses are weak and now only lightly used, called traits.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2000">
                <a:latin typeface="Courier"/>
              </a:rPr>
              <a:t>pub struct KleeneStPer&lt;T: StT + Hash&gt; {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    pub alphabet: SetStEph&lt;T&gt;,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}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pub trait KleeneStPerTrait&lt;T: StT + Hash&gt;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    : View&lt;V = Set&lt;&lt;T as View&gt;::V&gt;&gt; + Sized { ... }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impl&lt;T: StT + Hash&gt; KleeneStPerTrait&lt;T&gt; for KleeneStPer&lt;T&gt; { ... }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Typeclasses are a weak module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You will pine for ML modules.</a:t>
            </a:r>
          </a:p>
          <a:p>
            <a:pPr lvl="0"/>
            <a:r>
              <a:rPr sz="2000"/>
              <a:t>The Rustaceans have decided that unless their module implements a typeclass at multiple types, they won’t use it.</a:t>
            </a:r>
          </a:p>
          <a:p>
            <a:pPr lvl="0"/>
            <a:r>
              <a:rPr sz="2000"/>
              <a:t>So it’s harder to read their code.</a:t>
            </a:r>
          </a:p>
          <a:p>
            <a:pPr lvl="0"/>
            <a:r>
              <a:rPr sz="2000"/>
              <a:t>Verus is now doing this also, but I put all the specs together in APAS-VERUS.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Really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Copy is a default method — but for optimization reasons it requires all fields to be stack-resident.</a:t>
            </a:r>
          </a:p>
          <a:p>
            <a:pPr lvl="0"/>
            <a:r>
              <a:rPr sz="2000"/>
              <a:t>IEEE FP is the exception driving the rule into a ditch.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Really Bad — Ordering Laws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Consistent w/ 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Really Really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Copy is implicit — the compiler inserts it silently on assignment or pass-by-value; no method call.</a:t>
            </a:r>
            <a:br/>
          </a:p>
          <a:p>
            <a:pPr lvl="0"/>
            <a:r>
              <a:rPr sz="2000"/>
              <a:t>Clone is explicit — you must call .clone(); it is a bitwise memory copy by default, but can be overridden.</a:t>
            </a:r>
          </a:p>
          <a:p>
            <a:pPr lvl="0"/>
            <a:r>
              <a:rPr sz="2000"/>
              <a:t>Copy requires the type to be entirely stack-resident.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Rust- The Really Really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Clone has no such restriction — it can deep-copy heap data, open files, allocate new memory.</a:t>
            </a:r>
          </a:p>
          <a:p>
            <a:pPr lvl="0"/>
            <a:r>
              <a:rPr sz="2000"/>
              <a:t>Copy requires Clone — any type that implements Copy must also implement Clone, but not vice versa.</a:t>
            </a:r>
          </a:p>
          <a:p>
            <a:pPr lvl="0"/>
            <a:r>
              <a:rPr sz="2000"/>
              <a:t>So you have the optimized bit copy messing with the general copy you want.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APAS-AI is a nearly complete, idiomatic Rust implementation of algorithms in Acar and Blelloch.</a:t>
            </a:r>
          </a:p>
          <a:p>
            <a:pPr lvl="0"/>
            <a:r>
              <a:rPr sz="2000"/>
              <a:t>Sequential and parallel variants throughout.</a:t>
            </a:r>
          </a:p>
          <a:p>
            <a:pPr lvl="0"/>
            <a:r>
              <a:rPr sz="2000"/>
              <a:t>Timeline: 347 commits over 88 calendar days (Aug–Oct 2025). 59 days of active development; 8 residual commits in November.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Scale: 42 chapters, 238 source files, 45,485 source LOC.</a:t>
            </a:r>
          </a:p>
          <a:p>
            <a:pPr lvl="0"/>
            <a:r>
              <a:rPr sz="2000"/>
              <a:t>Tests: 246 files, 55,223 LOC, 3,923 test functions — 1.2× the source code size; runtime correctness is the primary validation mechanism in the absence of formal proofs.</a:t>
            </a:r>
          </a:p>
          <a:p>
            <a:pPr lvl="0"/>
            <a:r>
              <a:rPr sz="2000"/>
              <a:t>Benchmarks: 171 files, 13,890 LOC, 360 benchmark functions</a:t>
            </a:r>
          </a:p>
          <a:p>
            <a:pPr lvl="0"/>
            <a:r>
              <a:rPr sz="2000"/>
              <a:t>Comment density: 24.5 — consistent with well-documented library code.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- sending Python back to the family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Webster’s definition of rusticate: - 1. To go to or live in the country.</a:t>
            </a:r>
          </a:p>
          <a:p>
            <a:pPr lvl="1" indent="-342900" marL="685800">
              <a:buAutoNum startAt="2" type="arabicPeriod"/>
            </a:pPr>
            <a:r>
              <a:rPr sz="2000"/>
              <a:t>(British) To suspend a student from a university, especially Oxford or Cambridge, as a disciplinary punishment.</a:t>
            </a:r>
          </a:p>
          <a:p>
            <a:pPr lvl="0"/>
            <a:r>
              <a:rPr sz="2000"/>
              <a:t>Rusticate is a suite of 89 tools for analyzing and transforming</a:t>
            </a:r>
          </a:p>
          <a:p>
            <a:pPr lvl="1"/>
            <a:r>
              <a:rPr sz="2000"/>
              <a:t>Rust codebases — review tools, fix tools, metrics, and migration aids.</a:t>
            </a:r>
          </a:p>
          <a:p>
            <a:pPr lvl="1"/>
            <a:r>
              <a:rPr sz="2000"/>
              <a:t>Built because Python + regex cannot reliably parse Rust.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- sending Python back to the family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And also downloading random python packages is getting more dangerous.</a:t>
            </a:r>
          </a:p>
          <a:p>
            <a:pPr lvl="0"/>
            <a:r>
              <a:rPr sz="2000"/>
              <a:t>Core principle: zero string hacking.</a:t>
            </a:r>
          </a:p>
          <a:p>
            <a:pPr lvl="1"/>
            <a:r>
              <a:rPr sz="2000"/>
              <a:t>All tools use ra_ap_syntax (Rust Analyzer’s AST) — SyntaxKind, SyntaxNode, TextRange.</a:t>
            </a:r>
          </a:p>
          <a:p>
            <a:pPr lvl="1"/>
            <a:r>
              <a:rPr sz="2000"/>
              <a:t>String methods (.contains, .find, .replace) are forbidden for code detection. Every transformation is AST-aware.</a:t>
            </a:r>
          </a:p>
          <a:p>
            <a:pPr lvl="0"/>
            <a:r>
              <a:rPr sz="2000"/>
              <a:t>Many for detecting code style and adhering to it.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- string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There is a problem: the parsers are all an intermediate representation. Comments/Spacing are not handled.</a:t>
            </a:r>
          </a:p>
          <a:p>
            <a:pPr lvl="0"/>
            <a:r>
              <a:rPr sz="2000"/>
              <a:t>So if you tell your AIs not to string hack, what happens?</a:t>
            </a:r>
          </a:p>
          <a:p>
            <a:pPr lvl="0"/>
            <a:r>
              <a:rPr sz="2000"/>
              <a:t>They string hack. Dozens of times. Causes lots and lots of bugs.</a:t>
            </a:r>
          </a:p>
          <a:p>
            <a:pPr lvl="0"/>
            <a:r>
              <a:rPr sz="2000"/>
              <a:t>They say “Whoops, I string hacked.”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- string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So the string-hacking detector is a key tool — tools that attempt naive find-and-replace on Rust source are flagged and rejected.</a:t>
            </a:r>
          </a:p>
          <a:p>
            <a:pPr lvl="0"/>
            <a:r>
              <a:rPr sz="2000"/>
              <a:t>I have read essentially ZERO lines of Rusticate. You treat it like a black box: if it does the job on the code, don’t read it.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Verus is a tool for formally verifying Rust, developed at MSFT Research, VMware Research and Carnegie Mellon University.</a:t>
            </a:r>
          </a:p>
          <a:p>
            <a:pPr lvl="0"/>
            <a:r>
              <a:rPr sz="2000"/>
              <a:t>Team: Andrea Lattuada, Travis Hance, Chris Hawblitzel, Matthias Brun, Chanhee Park, Yi Zhou, Jon Howell, Bryan Parno.</a:t>
            </a:r>
          </a:p>
          <a:p>
            <a:pPr lvl="0"/>
            <a:r>
              <a:rPr sz="2000"/>
              <a:t>Goal: bring machine-checked proof to systems software written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Real production Rust — no separate proof language, no translation.</a:t>
            </a:r>
          </a:p>
          <a:p>
            <a:pPr lvl="0"/>
            <a:r>
              <a:rPr sz="2000"/>
              <a:t>Tightly coupled with the PL: specs live in the same file as the code they describe — requires, ensures, and invariants inline with the implementation.</a:t>
            </a:r>
          </a:p>
          <a:p>
            <a:pPr lvl="0"/>
            <a:r>
              <a:rPr sz="2000"/>
              <a:t>Principle: proof obligations are discharged automatically by the Z3 SMT — the programmer guides, the solver decides.</a:t>
            </a:r>
          </a:p>
          <a:p>
            <a:pPr lvl="0"/>
            <a:r>
              <a:rPr sz="2000"/>
              <a:t>Principle: verified code compiles to ordinary Rust.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“Verus: Verifying Rust Programs using Linear Ghost Types” Lattuada, Hance, Cho, Brun, Subasinghe, Zhou, Howell, Parno, Hawblitzel OOPSLA 2023</a:t>
            </a:r>
          </a:p>
          <a:p>
            <a:pPr lvl="0"/>
            <a:r>
              <a:rPr sz="2000"/>
              <a:t>“Verus: A Practical Foundation for Systems Verification” Lattuada, Hance, Bosamiya, Brun, Cho, LeBlanc, Srinivasan, Achermann, Chajed, Hawblitzel, Howell, Lorch, Padon, Parno SOSP 2024 — Distinguished Artifact Award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“Leaf: Modularity for Temporary Sharing in Separation Logic” Hance, Howell, Padon, Parno OOPSLA 2023 — separation logic foundations for concurrent verification</a:t>
            </a:r>
          </a:p>
          <a:p>
            <a:pPr lvl="0"/>
            <a:r>
              <a:rPr sz="2000"/>
              <a:t>“Verifying Concurrent Systems Code” Travis Hance — PhD Thesis, Carnegie Mellon University, 2024 Honorable Mention, CMU SCS Dissertation Award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 Logic- EPR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Specifications are written in a pure mathematical sublanguage — spec functions, forall/exists, arithmetic, sets, sequences.</a:t>
            </a:r>
          </a:p>
          <a:p>
            <a:pPr lvl="0"/>
            <a:r>
              <a:rPr sz="2000"/>
              <a:t>Z3 handles linear arithmetic, arrays, and quantified formulas, but quantifier instantiation requires explicit trigger annotations.</a:t>
            </a:r>
          </a:p>
          <a:p>
            <a:pPr lvl="0"/>
            <a:r>
              <a:rPr sz="2000"/>
              <a:t>Decidability is not guaranteed — hard proofs need hints: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 Logic- EPR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Intermediate assertions, lemma calls, fuel increases.</a:t>
            </a:r>
          </a:p>
          <a:p>
            <a:pPr lvl="0"/>
            <a:r>
              <a:rPr sz="2000"/>
              <a:t>The proof obligation is: for every execution path, the postcondition follows from the precondition and invariants.</a:t>
            </a:r>
          </a:p>
          <a:p>
            <a:pPr lvl="0"/>
            <a:r>
              <a:rPr sz="2000">
                <a:hlinkClick r:id="rId2"/>
              </a:rPr>
              <a:t>https://en.wikipedia.org/wiki/Bernays#E2#80#93Sch#C3#B6nfinkel_class</a:t>
            </a:r>
            <a:r>
              <a:rPr sz="2000"/>
              <a:t> can be translated into EPR, essentially predicate logic.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Specs, Requires, Ensures —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spec fn is_sorted defines what sorted means mathematically: forall i &lt; j: v[i] &lt;= v[j]</a:t>
            </a:r>
          </a:p>
          <a:p>
            <a:pPr lvl="0"/>
            <a:r>
              <a:rPr sz="2000"/>
              <a:t>requires states what the caller must prove before calling: insertion_sort has no requires — it works on any slice.</a:t>
            </a:r>
          </a:p>
          <a:p>
            <a:pPr lvl="0"/>
            <a:r>
              <a:rPr sz="2000"/>
              <a:t>ensures states what the function guarantees on return: sorted.len() == old(a).len() sorted@.to_multiset() == old(a)@.to_multiset()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Specs, Requires, Ensures —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Loop invariants extend ensures into loop bodies — the verifier checks them on entry, each iteration, and exit: a@.to_multiset() == old(a)@.to_multiset() forall k &lt; l &lt; up: a[k] &lt;= a[l]</a:t>
            </a:r>
          </a:p>
          <a:p>
            <a:pPr lvl="0"/>
            <a:r>
              <a:rPr sz="2000"/>
              <a:t>old(a) names the value of a on function entry, allowing postconditions to reference what changed.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Vocabulary: assume, admit, proof, assert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admit() tells the verifier to accept the spec/proof.</a:t>
            </a:r>
          </a:p>
          <a:p>
            <a:pPr lvl="0"/>
            <a:r>
              <a:rPr sz="2000"/>
              <a:t>assume(P) tells the verifier to accept proposition P at one point without proof — a targeted hole, tracked as a proof obligation.</a:t>
            </a:r>
          </a:p>
          <a:p>
            <a:pPr lvl="0"/>
            <a:r>
              <a:rPr sz="2000"/>
              <a:t>proof { … } is a ghost block: code that runs only in the verifier,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Vocabulary: assume, admit, proof, assert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not at runtime — used for lemma calls, reveals, intermediate steps.</a:t>
            </a:r>
          </a:p>
          <a:p>
            <a:pPr lvl="0"/>
            <a:r>
              <a:rPr sz="2000"/>
              <a:t>assert(P) demands the verifier prove P at that point in execution; fails if Z3 cannot discharge it from current context.</a:t>
            </a:r>
          </a:p>
          <a:p>
            <a:pPr lvl="0"/>
            <a:r>
              <a:rPr sz="2000"/>
              <a:t>assert(P) by { … } provides an inline proof of P — the block contains the reasoning steps needed for Z3 to succeed.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 View maps an executable Rust type to a mathematical ghost type: Vec views as Seq, HashSet views as Set. Specs are written over the view; exec code manipulates the real type.</a:t>
            </a:r>
          </a:p>
          <a:p>
            <a:pPr lvl="0"/>
            <a:r>
              <a:rPr sz="2000"/>
              <a:t>vstd is Verus’s standard library — specs for Vec, Seq, Set, Map, Multiset, arithmetic, and common lemmas.</a:t>
            </a:r>
          </a:p>
          <a:p>
            <a:pPr lvl="0"/>
            <a:r>
              <a:rPr sz="2000"/>
              <a:t>vstdplus is APAS-VERUS’s extension library — specs for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TotalOrder, finite sets, feq (functional equality), Arc/RwLock bridges, and thread utilities.</a:t>
            </a:r>
          </a:p>
          <a:p>
            <a:pPr lvl="0"/>
            <a:r>
              <a:rPr sz="2000"/>
              <a:t>The View abstraction separates the proof from the representation: change Vec to BTreeMap and only the view mapping changes, not the specs or proofs above it.</a:t>
            </a:r>
          </a:p>
          <a:p>
            <a:pPr lvl="0"/>
            <a:r>
              <a:rPr sz="2000"/>
              <a:t>Ghost types (Seq, Set, Map) live only in the verifier — they have no runtime cost and no runtime representation.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View maps an executable type to a mathematical ghost type — Vec views as Seq, HashSet views as Set, HashMap&lt;K,V&gt; views as Map&lt;K::V, V::V&gt;. Specs are written over the view; the representation can change without touching proofs.</a:t>
            </a:r>
          </a:p>
          <a:p>
            <a:pPr lvl="0"/>
            <a:r>
              <a:rPr sz="2000"/>
              <a:t>Seq — mathematical sequence: indexed, ordered, finite. Supports indexing, slicing, concatenation, multiset conversion.</a:t>
            </a:r>
          </a:p>
          <a:p>
            <a:pPr lvl="0"/>
            <a:r>
              <a:rPr sz="2000"/>
              <a:t>Set and Map&lt;K,V&gt; — mathematical set and partial function: no duplicates, no ordering, finite or infinite, fully extensional.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Multiset adds multiplicity for counting arguments.</a:t>
            </a:r>
          </a:p>
          <a:p>
            <a:pPr lvl="0"/>
            <a:r>
              <a:rPr sz="2000"/>
              <a:t>int and nat — unbounded mathematical integers, no overflow. Exec code uses u64/usize; specs lift to int/nat for arithmetic proofs.</a:t>
            </a:r>
          </a:p>
          <a:p>
            <a:pPr lvl="0"/>
            <a:r>
              <a:rPr sz="2000"/>
              <a:t>vstd is Verus’s standard library — lemmas and axioms for Seq, Set, Map, Multiset, arithmetic, and relations, all broadcast so proofs pick them up automatically via trigger groups. vstdplus is APAS-VERUS’s extension — TotalOrder, feq, Arc/RwLock bridges, and finite set utilities not in vstd.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Giving Specs to Unverified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Rust’s standard library is unverified — HashMap, HashSet, threads, and I/O have no Verus specs out of the box.</a:t>
            </a:r>
          </a:p>
          <a:p>
            <a:pPr lvl="0"/>
            <a:r>
              <a:rPr sz="2000"/>
              <a:t>external_type_specification adds a spec to an existing Rust type without wrapping it — used for types you cannot change.</a:t>
            </a:r>
          </a:p>
          <a:p>
            <a:pPr lvl="0"/>
            <a:r>
              <a:rPr sz="2000"/>
              <a:t>The wrapper pattern: define a new struct holding the unverified type, implement View to give it a mathematical model,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Giving Specs to Unverified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then implement each method with external_body and a tight ensures.</a:t>
            </a:r>
          </a:p>
          <a:p>
            <a:pPr lvl="0"/>
            <a:r>
              <a:rPr sz="2000"/>
              <a:t>Example: HashSetWithViewPlus wraps std::collections::HashSet, gives it View = Set, and wraps insert/contains/remove with external_body so all proof work happens over the Set view.</a:t>
            </a:r>
          </a:p>
          <a:p>
            <a:pPr lvl="0"/>
            <a:r>
              <a:rPr sz="2000"/>
              <a:t>The goal: push external_body to the boundary, keep all algorithmic proof inside verus!.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Code Examples (Step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000">
                <a:latin typeface="Courier"/>
              </a:rPr>
              <a:t>pub struct HashSetWithViewPlus&lt;Key: View + Eq + Hash&gt; {     pub inner: HashSet&lt;Key&gt;,} impl&lt;Key: View + Eq + Hash&gt; View for HashSetWithViewPlus&lt;Key&gt; {     type V = Set&lt;&lt;Key as View&gt;::V&gt;;     open spec fn view(&amp;self) -&gt; Self::V {         self.inner@.map(|k: Key| k@) } }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Code Examples (Step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000">
                <a:latin typeface="Courier"/>
              </a:rPr>
              <a:t>pub fn insert(&amp;mut self, k: Key) -&gt; (inserted: bool)     requires obeys_key_model::&lt;Key&gt;(),     ensures         self@ == old(self)@.insert(k@),         inserted == !old(self)@.contains(k@),        { self.inner.insert(k) }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Code Examples (Step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000">
                <a:latin typeface="Courier"/>
              </a:rPr>
              <a:t>pub fn contains(&amp;self, k: &amp;Key) -&gt; (contains: bool)     requires obeys_key_model::&lt;Key&gt;(),     ensures contains == self@.contains(k@), { self.inner.contains(k) }</a:t>
            </a:r>
            <a:r>
              <a:rPr sz="2000"/>
              <a:t> - All proof work happens over </a:t>
            </a:r>
            <a:r>
              <a:rPr sz="2000">
                <a:latin typeface="Courier"/>
              </a:rPr>
              <a:t>Set&lt;Key::V&gt;</a:t>
            </a:r>
            <a:r>
              <a:rPr sz="2000"/>
              <a:t> — not over HashSet internals.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Problem: Rust’s ownership types handle sequential aliasing well but cannot express distributed protocol state across threads — who holds the right to increment, which phase a lock is in, whether a producer has deposited a value.</a:t>
            </a:r>
          </a:p>
          <a:p>
            <a:pPr lvl="0"/>
            <a:r>
              <a:rPr sz="2000"/>
              <a:t>A Tokenized State Machine defines protocol state as fields with sharding strategies (variable, map, count, storage_option…). Transitions and an inductive invariant are proved once, globally. Verus auto-generates ghost token types and exchange functions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So client code manipulates local tokens, not global state.</a:t>
            </a:r>
          </a:p>
          <a:p>
            <a:pPr lvl="0"/>
            <a:r>
              <a:rPr sz="2000"/>
              <a:t>RwLock in vstd is implemented via a tokenized state machine — the lock’s internal protocol (unlocked / read-locked / write-locked, reader count) is the TSM; RwLockPredicate is the invariant the user supplies; the read/write guard tokens are the generated token types.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Hance et al. “Sharding the State Machine” — OSDI 2023 (primary TSM paper)</a:t>
            </a:r>
          </a:p>
          <a:p>
            <a:pPr lvl="0"/>
            <a:r>
              <a:rPr sz="2000"/>
              <a:t>Hance, Howell, Padon, Parno. “Leaf” — OOPSLA 2023 (storage protocols)</a:t>
            </a:r>
          </a:p>
          <a:p>
            <a:pPr lvl="0"/>
            <a:r>
              <a:rPr sz="2000"/>
              <a:t>Hance. PhD Thesis, CMU-CS-CS-24-146, 2024 (full formal treatment)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Verus: How Fast Verus Is 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Verus Velocity</a:t>
            </a:r>
          </a:p>
          <a:p>
            <a:pPr lvl="0"/>
            <a:r>
              <a:rPr sz="2000"/>
              <a:t>4,225 commits since March 2021 — 5 years, still accelerating</a:t>
            </a:r>
          </a:p>
          <a:p>
            <a:pPr lvl="0"/>
            <a:r>
              <a:rPr sz="2000"/>
              <a:t>Commits per year:</a:t>
            </a:r>
          </a:p>
          <a:p>
            <a:pPr lvl="0"/>
            <a:r>
              <a:rPr sz="2000"/>
              <a:t>2021: 474 2022: 906 2023: 992</a:t>
            </a:r>
          </a:p>
          <a:p>
            <a:pPr lvl="0"/>
            <a:r>
              <a:rPr sz="2000"/>
              <a:t>2024: 745 2025: 761 2026: 347 (thru April)</a:t>
            </a:r>
          </a:p>
          <a:p>
            <a:pPr lvl="0"/>
            <a:r>
              <a:rPr sz="2000"/>
              <a:t>Rolling releases: 396 tagged — roughly one every 4 days</a:t>
            </a:r>
          </a:p>
          <a:p>
            <a:pPr lvl="0"/>
            <a:r>
              <a:rPr sz="2000"/>
              <a:t>59 stable releases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Goal: formally verify all algorithms in Acar and Blelloch “A Practical Approach to Data Structures” using Verus. Every algorithm gets a machine-checked proof — no admitted lemmas, no hand-waving in production code.</a:t>
            </a:r>
          </a:p>
          <a:p>
            <a:pPr lvl="0"/>
            <a:r>
              <a:rPr sz="2000"/>
              <a:t>44 chapters, 262 algorithm files, upto 4 variants per algorithm: StEph (sequential mutable), StPer (sequential persistent), MtEph (parallel mutable), MtPer (parallel persistent).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Proof infrastructure: 26 vstdplus library modules, 29 standards documents encoding project proof conventions,</a:t>
            </a:r>
          </a:p>
          <a:p>
            <a:pPr lvl="0"/>
            <a:r>
              <a:rPr sz="2000"/>
              <a:t>Verification is the primary correctness mechanism. Runtime tests (RTT) and proof-time tests (PTT) are secondary, but still terribly useful. They both still catch errors and instruct the AI.</a:t>
            </a:r>
          </a:p>
          <a:p>
            <a:pPr lvl="0"/>
            <a:r>
              <a:rPr sz="2000"/>
              <a:t>Grounding: APAS-AI (45K src LOC, 3,923 tests) is the unverified reference implementation. When a spec is unclear, read APAS-AI.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Scale: 44 chapters, 262 files, 186,223 src LOC (not counting comments).</a:t>
            </a:r>
          </a:p>
          <a:p>
            <a:pPr lvl="1"/>
            <a:r>
              <a:rPr sz="2000"/>
              <a:t>With vstdplus, standards, RTT, PTT: 275,014 total LOC. Built in 160 days, 2,596 commits, 8 agents, 281 agent-round reports.</a:t>
            </a:r>
          </a:p>
          <a:p>
            <a:pPr lvl="0"/>
            <a:r>
              <a:rPr sz="2000"/>
              <a:t>Verification: 5,674 verified items, 0 errors.</a:t>
            </a:r>
          </a:p>
          <a:p>
            <a:pPr lvl="1"/>
            <a:r>
              <a:rPr sz="2000"/>
              <a:t>Full validate runs in 210 s</a:t>
            </a:r>
          </a:p>
          <a:p>
            <a:pPr lvl="1"/>
            <a:r>
              <a:rPr sz="2000"/>
              <a:t>peak RSS 8 GB</a:t>
            </a:r>
          </a:p>
          <a:p>
            <a:pPr lvl="1"/>
            <a:r>
              <a:rPr sz="2000"/>
              <a:t>rust_verify 10 GB, Z3 up to 8 GB to 28 GB during some runs fixing UnionFind.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Runtime tests: 3,776 passed in 21 s.</a:t>
            </a:r>
          </a:p>
          <a:p>
            <a:pPr lvl="0"/>
            <a:r>
              <a:rPr sz="2000"/>
              <a:t>Proof-time tests: 221 passed in 259 s.</a:t>
            </a:r>
          </a:p>
          <a:p>
            <a:pPr lvl="0"/>
            <a:r>
              <a:rPr sz="2000"/>
              <a:t>Benchmarks in 42s.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Holes: started at 238 (R20), now 4 — a 98.3% reduction. 45 of 46 chapters clean. The 4 remaining holes are unsafe impl Send/Sync in Chap41, awaiting a Verus upstream fix.</a:t>
            </a:r>
          </a:p>
          <a:p>
            <a:pPr lvl="0"/>
            <a:r>
              <a:rPr sz="2000"/>
              <a:t>Largest chapter: Chap37 (AVL trees, BST variants) — 20,319 src LOC. 4.1× more source code to verify than APAS-AI needed to implement.</a:t>
            </a:r>
          </a:p>
          <a:p>
            <a:pPr lvl="0"/>
            <a:r>
              <a:rPr sz="2000"/>
              <a:t>Start: 2025-11-03</a:t>
            </a:r>
          </a:p>
          <a:p>
            <a:pPr lvl="0"/>
            <a:r>
              <a:rPr sz="2000"/>
              <a:t>End: 2026-04-12</a:t>
            </a:r>
          </a:p>
          <a:p>
            <a:pPr lvl="0"/>
            <a:r>
              <a:rPr sz="2000"/>
              <a:t>Duration: 150 person days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Proof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Spec 32,868 (21%)</a:t>
            </a:r>
          </a:p>
          <a:p>
            <a:pPr lvl="0"/>
            <a:r>
              <a:rPr sz="2000"/>
              <a:t>Proof 42,251 (27%)</a:t>
            </a:r>
          </a:p>
          <a:p>
            <a:pPr lvl="0"/>
            <a:r>
              <a:rPr sz="2000"/>
              <a:t>Exec 67,883 (44%)</a:t>
            </a:r>
          </a:p>
          <a:p>
            <a:pPr lvl="0"/>
            <a:r>
              <a:rPr sz="2000"/>
              <a:t>Rust 12,206 (8%) plain Rust (outside verus!)</a:t>
            </a:r>
          </a:p>
          <a:p>
            <a:pPr lvl="0"/>
            <a:r>
              <a:rPr sz="2000"/>
              <a:t>So roughly half the non-exec code is proof (27%), a fifth is spec (21%), and the exec implementation is 44%.</a:t>
            </a:r>
          </a:p>
          <a:p>
            <a:pPr lvl="0"/>
            <a:r>
              <a:rPr sz="2000"/>
              <a:t>The “rust” 8% is code outside verus! — Debug impls, macros, cfg, etc.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Clone and Generics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Verus recognizes Copy as a first-class trait (since 2026-03)</a:t>
            </a:r>
          </a:p>
          <a:p>
            <a:pPr lvl="0"/>
            <a:r>
              <a:rPr sz="2000"/>
              <a:t>Copy bounds propagate through generics correctly</a:t>
            </a:r>
          </a:p>
          <a:p>
            <a:pPr lvl="0"/>
            <a:r>
              <a:rPr sz="2000"/>
              <a:t>Fn/FnMut/FnOnce also first-class since the same release</a:t>
            </a:r>
          </a:p>
          <a:p>
            <a:pPr lvl="0"/>
            <a:r>
              <a:rPr sz="2000"/>
              <a:t>Verus does NOT recognize Clone on closures or named fn items</a:t>
            </a:r>
          </a:p>
          <a:p>
            <a:pPr lvl="0"/>
            <a:r>
              <a:rPr sz="2000"/>
              <a:t>Cannot write: requires F: Clone (Verus ignores Clone bound)</a:t>
            </a:r>
          </a:p>
          <a:p>
            <a:pPr lvl="0"/>
            <a:r>
              <a:rPr sz="2000"/>
              <a:t>Cannot Clone a closure variable inside a proof</a:t>
            </a:r>
          </a:p>
          <a:p>
            <a:pPr lvl="0"/>
            <a:r>
              <a:rPr sz="2000"/>
              <a:t>Workaround: vstdplus helpers clone_fn / clone_fn2 / clone_pred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Clone and Generics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Generic spec functions require explicit type bounds</a:t>
            </a:r>
          </a:p>
          <a:p>
            <a:pPr lvl="0"/>
            <a:r>
              <a:rPr sz="2000"/>
              <a:t>Bounds must appear in requires, not just in the Rust signature</a:t>
            </a:r>
          </a:p>
          <a:p>
            <a:pPr lvl="0"/>
            <a:r>
              <a:rPr sz="2000"/>
              <a:t>Well-formedness predicates must be stated per type parameter</a:t>
            </a:r>
          </a:p>
          <a:p>
            <a:pPr lvl="0"/>
            <a:r>
              <a:rPr sz="2000"/>
              <a:t>Clone in exec code: full bodies verified</a:t>
            </a:r>
          </a:p>
          <a:p>
            <a:pPr lvl="0"/>
            <a:r>
              <a:rPr sz="2000"/>
              <a:t>APAS-VERUS pattern: Clone::clone body uses assume(r == old(self)@)</a:t>
            </a:r>
          </a:p>
          <a:p>
            <a:pPr lvl="0"/>
            <a:r>
              <a:rPr sz="2000"/>
              <a:t>The assume bridges the ghost/exec gap at the one correct site</a:t>
            </a:r>
          </a:p>
          <a:p>
            <a:pPr lvl="0"/>
            <a:r>
              <a:rPr sz="2000"/>
              <a:t>Callers obtain the equality through clone()’s ensures clause, not by assuming it themselves</a:t>
            </a:r>
          </a:p>
          <a:p>
            <a:pPr lvl="0"/>
            <a:r>
              <a:rPr sz="2000"/>
              <a:t>Generics + RwLock: type bounds must include StTInMtT, ’static</a:t>
            </a:r>
          </a:p>
          <a:p>
            <a:pPr lvl="0"/>
            <a:r>
              <a:rPr sz="2000"/>
              <a:t>Ghost fields in generic structs block Send/Sync auto-derive</a:t>
            </a:r>
          </a:p>
          <a:p>
            <a:pPr lvl="0"/>
            <a:r>
              <a:rPr sz="2000"/>
              <a:t>Fixed in Verus 2287 (April 2026): Ghost: Send + Sync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Veracity is a suite of 22+ tools for analyzing, reviewing, and fixing Verus codebases — built specifically because general-purpose Rust linters know nothing about Verus proof structure.</a:t>
            </a:r>
          </a:p>
          <a:p>
            <a:pPr lvl="0"/>
            <a:r>
              <a:rPr sz="2000"/>
              <a:t>Review tools: proof holes (assume, external_body, admit), style enforcement (21 rules, auto-reorder), function inventory with spec strength classification, string-hacking detector.</a:t>
            </a:r>
          </a:p>
          <a:p>
            <a:pPr lvl="0"/>
            <a:r>
              <a:rPr sz="2000"/>
              <a:t>Minimization tools: veracity-minimize-proofs (removes redundant asserts and proof blocks, re-verifying after each removal).</a:t>
            </a:r>
          </a:p>
          <a:p>
            <a:pPr lvl="0"/>
            <a:r>
              <a:rPr sz="2000"/>
              <a:t>Search: veracity-search — semantic search over vstd and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APAS-VERUS by type signature, finding lemmas before writing new ones. “Specifications as Search Keys for Software Libraries” Eugene J. Rollins and Jeannette M. Wing</a:t>
            </a:r>
          </a:p>
          <a:p>
            <a:pPr lvl="0"/>
            <a:r>
              <a:rPr sz="2000"/>
              <a:t>This allows me to download ALL known Verus (git VerusCodebases) and search them in 1.2 seconds!</a:t>
            </a:r>
          </a:p>
          <a:p>
            <a:pPr lvl="0"/>
            <a:r>
              <a:rPr sz="2000"/>
              <a:t>Metrics: veracity-count-loc (spec/proof/exec breakdown), chapter-cleanliness-status (clean vs. holed chapter summary).</a:t>
            </a:r>
          </a:p>
          <a:p>
            <a:pPr lvl="0"/>
            <a:r>
              <a:rPr sz="2000"/>
              <a:t>All tools are AST-aware (ra_ap_syntax / verus_syn). A built-in string-hacking detector flags and rejects any tool that attempts regex or find-and-replace on Verus source.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Verified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10 components required per collection (all inside verus!):</a:t>
            </a:r>
          </a:p>
          <a:p>
            <a:pPr lvl="0"/>
            <a:r>
              <a:rPr sz="2000"/>
              <a:t>6 verified loop patterns per collection:</a:t>
            </a:r>
          </a:p>
          <a:p>
            <a:pPr lvl="0"/>
            <a:r>
              <a:rPr sz="2000"/>
              <a:t>loop + borrow iter, loop + borrow into</a:t>
            </a:r>
          </a:p>
          <a:p>
            <a:pPr lvl="0"/>
            <a:r>
              <a:rPr sz="2000"/>
              <a:t>for + borrow iter, for + borrow into</a:t>
            </a:r>
          </a:p>
          <a:p>
            <a:pPr lvl="0"/>
            <a:r>
              <a:rPr sz="2000"/>
              <a:t>loop + consume, for + consume</a:t>
            </a:r>
          </a:p>
          <a:p>
            <a:pPr lvl="0"/>
            <a:r>
              <a:rPr sz="2000"/>
              <a:t>Iterator assumes (one necessary workaround):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Verified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Verus forbids requires on external trait impls (std::iter::Iterator)</a:t>
            </a:r>
          </a:p>
          <a:p>
            <a:pPr lvl="0"/>
            <a:r>
              <a:rPr sz="2000"/>
              <a:t>Hand-rolled iterators need assume(iter_invariant(self)) in next()</a:t>
            </a:r>
          </a:p>
          <a:p>
            <a:pPr lvl="0"/>
            <a:r>
              <a:rPr sz="2000"/>
              <a:t>Everything after the assume is fully proved</a:t>
            </a:r>
          </a:p>
          <a:p>
            <a:pPr lvl="0"/>
            <a:r>
              <a:rPr sz="2000"/>
              <a:t>APAS-VERUS policy: report assumes in a table; user reviews</a:t>
            </a:r>
          </a:p>
          <a:p>
            <a:pPr lvl="0"/>
            <a:r>
              <a:rPr sz="2000"/>
              <a:t>44 collections implemented; all carry verified iterators</a:t>
            </a:r>
          </a:p>
          <a:p>
            <a:pPr lvl="0"/>
            <a:r>
              <a:rPr sz="2000"/>
              <a:t>Verus has proof time tests inside, I freed them to run in APAS-VERUS.</a:t>
            </a:r>
          </a:p>
          <a:p>
            <a:pPr lvl="0"/>
            <a:r>
              <a:rPr sz="2000"/>
              <a:t>This was critical to get iterative loops to prove.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Agents often say “Verus Can’t Do That”</a:t>
            </a:r>
          </a:p>
          <a:p>
            <a:pPr lvl="0"/>
            <a:r>
              <a:rPr sz="2000"/>
              <a:t>I said “Make an experiment!”</a:t>
            </a:r>
          </a:p>
          <a:p>
            <a:pPr lvl="0"/>
            <a:r>
              <a:rPr sz="2000"/>
              <a:t>Quantitatives:</a:t>
            </a:r>
          </a:p>
          <a:p>
            <a:pPr lvl="0"/>
            <a:r>
              <a:rPr sz="2000"/>
              <a:t>168 experiment files</a:t>
            </a:r>
          </a:p>
          <a:p>
            <a:pPr lvl="0"/>
            <a:r>
              <a:rPr sz="2000"/>
              <a:t>21,476 lines of code</a:t>
            </a:r>
          </a:p>
          <a:p>
            <a:pPr lvl="0"/>
            <a:r>
              <a:rPr sz="2000"/>
              <a:t>Topics span: Clone, Arc, RwLock, TSM, closures, iterators, generics, float, bitvector, PartialEq, Copy, async, hash tables, parallel algorithms, ghost types, Send/Sync, collect, sorting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Results:</a:t>
            </a:r>
          </a:p>
          <a:p>
            <a:pPr lvl="0"/>
            <a:r>
              <a:rPr sz="2000"/>
              <a:t>~100 files: SUCCEEDS / VERIFIES — pattern adopted into codebase</a:t>
            </a:r>
          </a:p>
          <a:p>
            <a:pPr lvl="0"/>
            <a:r>
              <a:rPr sz="2000"/>
              <a:t>~50 files: FAILS — Verus limitation documented, workaround noted</a:t>
            </a:r>
          </a:p>
          <a:p>
            <a:pPr lvl="0"/>
            <a:r>
              <a:rPr sz="2000"/>
              <a:t>Notable successes that unlocked chapters:</a:t>
            </a:r>
          </a:p>
          <a:p>
            <a:pPr lvl="0"/>
            <a:r>
              <a:rPr sz="2000"/>
              <a:t>TSM/RwLock layer pattern — unlocked all Mt chapters</a:t>
            </a:r>
          </a:p>
          <a:p>
            <a:pPr lvl="0"/>
            <a:r>
              <a:rPr sz="2000"/>
              <a:t>Named closure ensures through ParaPair — unlocked fork-join</a:t>
            </a:r>
          </a:p>
          <a:p>
            <a:pPr lvl="0"/>
            <a:r>
              <a:rPr sz="2000"/>
              <a:t>Ghost struct Send/Sync — unlocked Chap41 (now in Verus upstream)</a:t>
            </a:r>
          </a:p>
          <a:p>
            <a:pPr lvl="0"/>
            <a:r>
              <a:rPr sz="2000"/>
              <a:t>Tree module style with recursive trait impls — unlocked Chap65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Purpose: encode hard-won proof patterns so agents don’t repeat mistakes</a:t>
            </a:r>
          </a:p>
          <a:p>
            <a:pPr lvl="0"/>
            <a:r>
              <a:rPr sz="2000"/>
              <a:t>Agents read all standards before every task (~6,200 lines, ~54K tokens)</a:t>
            </a:r>
          </a:p>
          <a:p>
            <a:pPr lvl="0"/>
            <a:r>
              <a:rPr sz="2000"/>
              <a:t>Violations require full reverts — standards exist because agents have broken each patterns many times.</a:t>
            </a:r>
          </a:p>
          <a:p>
            <a:pPr lvl="0"/>
            <a:r>
              <a:rPr sz="2000"/>
              <a:t>Quantitatives:</a:t>
            </a:r>
          </a:p>
          <a:p>
            <a:pPr lvl="0"/>
            <a:r>
              <a:rPr sz="2000"/>
              <a:t>29 standard files</a:t>
            </a:r>
          </a:p>
          <a:p>
            <a:pPr lvl="0"/>
            <a:r>
              <a:rPr sz="2000"/>
              <a:t>6,911 lines total</a:t>
            </a:r>
          </a:p>
          <a:p>
            <a:pPr lvl="0"/>
            <a:r>
              <a:rPr sz="2000"/>
              <a:t>Largest: table_of_contents (583), wrapping_iterators (468), multi_struct (347), view (345), mut (327), iterators (323)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Module structure: mod, table_of_contents, spec_naming, spec_wf</a:t>
            </a:r>
          </a:p>
          <a:p>
            <a:pPr lvl="0"/>
            <a:r>
              <a:rPr sz="2000"/>
              <a:t>Type system: view, deep_view, partial_eq_eq_clone, multi_struct</a:t>
            </a:r>
          </a:p>
          <a:p>
            <a:pPr lvl="0"/>
            <a:r>
              <a:rPr sz="2000"/>
              <a:t>Proof patterns: total_order, finite_sets, capacity_bounds, no_unsafe</a:t>
            </a:r>
          </a:p>
          <a:p>
            <a:pPr lvl="0"/>
            <a:r>
              <a:rPr sz="2000"/>
              <a:t>Concurrency: arc_usage, hfscheduler, mt_type_bounds, toplevel_coarse_rwlocks, tsm, rwlock_tsm</a:t>
            </a:r>
          </a:p>
          <a:p>
            <a:pPr lvl="0"/>
            <a:r>
              <a:rPr sz="2000"/>
              <a:t>Iteration: iterators, wrapping_iterators, iterator_ptt</a:t>
            </a:r>
          </a:p>
          <a:p>
            <a:pPr lvl="0"/>
            <a:r>
              <a:rPr sz="2000"/>
              <a:t>Execution: mut, using_closures, using_hashmap, using_rand</a:t>
            </a:r>
          </a:p>
          <a:p>
            <a:pPr lvl="0"/>
            <a:r>
              <a:rPr sz="2000"/>
              <a:t>Style: TOC and ordering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Veracity: veracity-minimize-proofs: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AI proof agents produce correct but bloated proofs — redundant asserts, unnecessary proof blocks, duplicate intermediate steps that Z3 already knew.</a:t>
            </a:r>
          </a:p>
          <a:p>
            <a:pPr lvl="0"/>
            <a:r>
              <a:rPr sz="2000"/>
              <a:t>They verify, but they waste solver budget on every subsequent run.</a:t>
            </a:r>
          </a:p>
          <a:p>
            <a:pPr lvl="0"/>
            <a:r>
              <a:rPr sz="2000"/>
              <a:t>veracity-minimize-proofs tests each assert and proof block individually: remove it, re-verify, keep it out if still clean.</a:t>
            </a:r>
          </a:p>
          <a:p>
            <a:pPr lvl="0"/>
            <a:r>
              <a:rPr sz="2000"/>
              <a:t>Result across APAS-VERUS: 22 asserts and 33 proof blocks removed in 105 minutes of wall time. 55 redundant proof statements eliminated, ~2 minutes of minimizer time per removal.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Veracity: veracity-minimize-proofs: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It only takes out unnecessary asserts/proofs that decrease run time and memory.</a:t>
            </a:r>
          </a:p>
          <a:p>
            <a:pPr lvl="0"/>
            <a:r>
              <a:rPr sz="2000"/>
              <a:t>Each removal compounds: one assert in Chap43 OrderedTableMtEph saved 43–104 s of Z3 CPU and up to 89 MB of Z3 RSS per verify run. Eight removals in that one file: Z3 RSS −57%.</a:t>
            </a:r>
          </a:p>
          <a:p>
            <a:pPr lvl="0"/>
            <a:r>
              <a:rPr sz="2000"/>
              <a:t>ROI: 105 minutes of minimizer run time buys permanent savings on every future verification pass.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 Annotations — src/Chap/*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You end up having to have your tools work in comments.</a:t>
            </a:r>
          </a:p>
          <a:p>
            <a:pPr lvl="0"/>
            <a:r>
              <a:rPr sz="2000"/>
              <a:t>This can be simplified with some Verus language application, but then the AIs are not trained on the symbols.</a:t>
            </a:r>
          </a:p>
          <a:p>
            <a:pPr lvl="0"/>
            <a:r>
              <a:rPr sz="2000"/>
              <a:t>// Veracity: NEEDED assert — 6,081</a:t>
            </a:r>
          </a:p>
          <a:p>
            <a:pPr lvl="0"/>
            <a:r>
              <a:rPr sz="2000"/>
              <a:t>// Veracity: NEEDED proof block — 4,681</a:t>
            </a:r>
          </a:p>
          <a:p>
            <a:pPr lvl="0"/>
            <a:r>
              <a:rPr sz="2000"/>
              <a:t>// Veracity: NEEDED assert (speed) — 1,502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 Annotations — src/Chap/*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// Veracity: NEEDED proof block (speed)— 245</a:t>
            </a:r>
          </a:p>
          <a:p>
            <a:pPr lvl="0"/>
            <a:r>
              <a:rPr sz="2000"/>
              <a:t>Total NEEDED: 12,509</a:t>
            </a:r>
          </a:p>
          <a:p>
            <a:pPr lvl="0"/>
            <a:r>
              <a:rPr sz="2000"/>
              <a:t>// Veracity: UNNEEDED — 1,452</a:t>
            </a:r>
          </a:p>
          <a:p>
            <a:pPr lvl="0"/>
            <a:r>
              <a:rPr sz="2000"/>
              <a:t>// veracity: no_requires — 71</a:t>
            </a:r>
          </a:p>
          <a:p>
            <a:pPr lvl="0"/>
            <a:r>
              <a:rPr sz="2000"/>
              <a:t>// accept hole — 108</a:t>
            </a:r>
          </a:p>
          <a:p>
            <a:pPr lvl="0"/>
            <a:r>
              <a:rPr sz="2000"/>
              <a:t>Total annotations: 14,140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Holes Over Time — R20 to R201</a:t>
            </a:r>
          </a:p>
        </p:txBody>
      </p:sp>
      <p:pic>
        <p:nvPicPr>
          <p:cNvPr descr="proof_ho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0500" y="1193800"/>
            <a:ext cx="6223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Time and Memory — Key Reductions</a:t>
            </a:r>
          </a:p>
        </p:txBody>
      </p:sp>
      <p:pic>
        <p:nvPicPr>
          <p:cNvPr descr="proof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Three levers: minimize-proofs, profiling (find matching loops), opaque (hide definitions).</a:t>
            </a:r>
          </a:p>
          <a:p>
            <a:pPr lvl="0"/>
            <a:r>
              <a:rPr sz="2000"/>
              <a:t>OrderedTableMtEph: −57% proof time after minimize-proofs (R176).</a:t>
            </a:r>
          </a:p>
          <a:p>
            <a:pPr lvl="0"/>
            <a:r>
              <a:rPr sz="2000"/>
              <a:t>UnionFindPCStEph: 139K Z3 instantiations → 0 after opaque pattern (R195).</a:t>
            </a:r>
          </a:p>
          <a:p>
            <a:pPr lvl="0"/>
            <a:r>
              <a:rPr sz="2000"/>
              <a:t>Johnson Chap59: 756 MB → 520 MB (−31%) memory reduction.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Software engineering in the AI age is much like managing programmers.</a:t>
            </a:r>
          </a:p>
          <a:p>
            <a:pPr lvl="0"/>
            <a:r>
              <a:rPr sz="2000"/>
              <a:t>You can’t possibly read all their code.</a:t>
            </a:r>
          </a:p>
          <a:p>
            <a:pPr lvl="0"/>
            <a:r>
              <a:rPr sz="2000"/>
              <a:t>So you have:</a:t>
            </a:r>
          </a:p>
          <a:p>
            <a:pPr lvl="0"/>
            <a:r>
              <a:rPr sz="2000"/>
              <a:t>linters both programmatic and AI</a:t>
            </a:r>
          </a:p>
          <a:p>
            <a:pPr lvl="0"/>
            <a:r>
              <a:rPr sz="2000"/>
              <a:t>stylers both programmatic and AI</a:t>
            </a:r>
          </a:p>
          <a:p>
            <a:pPr lvl="0"/>
            <a:r>
              <a:rPr sz="2000"/>
              <a:t>AI reviews directed by programmatic.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Starting with a textbook that has a ton of good prose is a huge plus.</a:t>
            </a:r>
          </a:p>
          <a:p>
            <a:pPr lvl="0"/>
            <a:r>
              <a:rPr sz="2000"/>
              <a:t>I did discover a few things about the textbook.</a:t>
            </a:r>
          </a:p>
          <a:p>
            <a:pPr lvl="0"/>
            <a:r>
              <a:rPr sz="2000"/>
              <a:t>It needs more on Scheduling. I only built Help-First scheduling.</a:t>
            </a:r>
          </a:p>
          <a:p>
            <a:pPr lvl="0"/>
            <a:r>
              <a:rPr sz="2000"/>
              <a:t>It used (K,V) in tree sets as mappings, but I had to make this explicit. Particularly with an Ordered Key Mapping.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APAS’s discussion of Union Find was too thin.</a:t>
            </a:r>
          </a:p>
          <a:p>
            <a:pPr lvl="0"/>
            <a:r>
              <a:rPr sz="2000"/>
              <a:t>Path compression was very difficult.</a:t>
            </a:r>
          </a:p>
          <a:p>
            <a:pPr lvl="0"/>
            <a:r>
              <a:rPr sz="2000"/>
              <a:t>I had to start with Nikhil Swammy et. al’s AlgoStar’s implemention and proofs.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use git work trees.</a:t>
            </a:r>
          </a:p>
          <a:p>
            <a:pPr lvl="0"/>
            <a:r>
              <a:rPr sz="2000"/>
              <a:t>The good news is git is powerful and the agents understand it.</a:t>
            </a:r>
          </a:p>
          <a:p>
            <a:pPr lvl="0"/>
            <a:r>
              <a:rPr sz="2000"/>
              <a:t>The bad news is the agents can indeed start using advanced features and get things wrong.</a:t>
            </a:r>
          </a:p>
          <a:p>
            <a:pPr lvl="0"/>
            <a:r>
              <a:rPr sz="2000"/>
              <a:t>I work with between 1 and 9 agents up.</a:t>
            </a:r>
          </a:p>
          <a:p>
            <a:pPr lvl="0"/>
            <a:r>
              <a:rPr sz="2000"/>
              <a:t>One on veracity.</a:t>
            </a:r>
          </a:p>
          <a:p>
            <a:pPr lvl="0"/>
            <a:r>
              <a:rPr sz="2000"/>
              <a:t>One orchestrator, writing plan prompts and controlling merges.</a:t>
            </a:r>
          </a:p>
          <a:p>
            <a:pPr lvl="0"/>
            <a:r>
              <a:rPr sz="2000"/>
              <a:t>1-8 on branches each working on different independent plans.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 agents I used are: various Google, OpenAI and Anthropic.</a:t>
            </a:r>
          </a:p>
          <a:p>
            <a:pPr lvl="0"/>
            <a:r>
              <a:rPr sz="2000"/>
              <a:t>A google agent once took 12 minutes to ‘echo HI’ to test it’s terminal.</a:t>
            </a:r>
          </a:p>
          <a:p>
            <a:pPr lvl="0"/>
            <a:r>
              <a:rPr sz="2000"/>
              <a:t>Anthropics models are signficantly better than OpenAI.</a:t>
            </a:r>
          </a:p>
          <a:p>
            <a:pPr lvl="0"/>
            <a:r>
              <a:rPr sz="2000"/>
              <a:t>And Claude Code’s cost is the least so far.</a:t>
            </a:r>
          </a:p>
          <a:p>
            <a:pPr lvl="0"/>
            <a:r>
              <a:rPr sz="2000"/>
              <a:t>They are said in the press to be spending $5000/m per user.</a:t>
            </a:r>
          </a:p>
          <a:p>
            <a:pPr lvl="0"/>
            <a:r>
              <a:rPr sz="2000"/>
              <a:t>They are buying market share (what happened to Amazon’s buying market share phase?).</a:t>
            </a:r>
          </a:p>
          <a:p>
            <a:pPr lvl="0"/>
            <a:r>
              <a:rPr sz="2000"/>
              <a:t>And they are buying coding interactions.</a:t>
            </a:r>
          </a:p>
          <a:p>
            <a:pPr lvl="0"/>
            <a:r>
              <a:rPr sz="2000"/>
              <a:t>But they are playing leap frog.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They are inconsistent.</a:t>
            </a:r>
          </a:p>
          <a:p>
            <a:pPr lvl="0"/>
            <a:r>
              <a:rPr sz="2000"/>
              <a:t>They lie.</a:t>
            </a:r>
          </a:p>
          <a:p>
            <a:pPr lvl="0"/>
            <a:r>
              <a:rPr sz="2000"/>
              <a:t>They cheat.</a:t>
            </a:r>
          </a:p>
          <a:p>
            <a:pPr lvl="0"/>
            <a:r>
              <a:rPr sz="2000"/>
              <a:t>They err.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They are getting better.</a:t>
            </a:r>
          </a:p>
          <a:p>
            <a:pPr lvl="0"/>
            <a:r>
              <a:rPr sz="2000"/>
              <a:t>If you tell them you are Dr. FunkenProof and they are Igor, they hallucinate whole modules.</a:t>
            </a:r>
          </a:p>
          <a:p>
            <a:pPr lvl="0"/>
            <a:r>
              <a:rPr sz="2000"/>
              <a:t>Just a few months ago only Claude would sweep a codebase decently.</a:t>
            </a:r>
          </a:p>
          <a:p>
            <a:pPr lvl="0"/>
            <a:r>
              <a:rPr sz="2000"/>
              <a:t>And now they can prove like heck.</a:t>
            </a:r>
          </a:p>
          <a:p>
            <a:pPr lvl="0"/>
            <a:r>
              <a:rPr sz="2000"/>
              <a:t>10x what I can do.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have used web browers, yuck.</a:t>
            </a:r>
          </a:p>
          <a:p>
            <a:pPr lvl="0"/>
            <a:r>
              <a:rPr sz="2000"/>
              <a:t>Cut/Paste is horrible.</a:t>
            </a:r>
          </a:p>
          <a:p>
            <a:pPr lvl="0"/>
            <a:r>
              <a:rPr sz="2000"/>
              <a:t>I have used Cursor.</a:t>
            </a:r>
          </a:p>
          <a:p>
            <a:pPr lvl="0"/>
            <a:r>
              <a:rPr sz="2000"/>
              <a:t>Based on VSCode.</a:t>
            </a:r>
          </a:p>
          <a:p>
            <a:pPr lvl="0"/>
            <a:r>
              <a:rPr sz="2000"/>
              <a:t>Multiple windows- you can see your scripts run.</a:t>
            </a:r>
          </a:p>
          <a:p>
            <a:pPr lvl="0"/>
            <a:r>
              <a:rPr sz="2000"/>
              <a:t>It collapses or elides thinking. Bad.</a:t>
            </a:r>
          </a:p>
          <a:p>
            <a:pPr lvl="0"/>
            <a:r>
              <a:rPr sz="2000"/>
              <a:t>It’s resale of AI LLM costs are terrible.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ran up a $2500 bill one month.</a:t>
            </a:r>
          </a:p>
          <a:p>
            <a:pPr lvl="0"/>
            <a:r>
              <a:rPr sz="2000"/>
              <a:t>It is decently interruptible so you can tune your instructions.</a:t>
            </a:r>
          </a:p>
          <a:p>
            <a:pPr lvl="0"/>
            <a:r>
              <a:rPr sz="2000"/>
              <a:t>I have used Claude CLI</a:t>
            </a:r>
          </a:p>
          <a:p>
            <a:pPr lvl="0"/>
            <a:r>
              <a:rPr sz="2000"/>
              <a:t>It has decided that a single window is all you need.</a:t>
            </a:r>
          </a:p>
          <a:p>
            <a:pPr lvl="0"/>
            <a:r>
              <a:rPr sz="2000"/>
              <a:t>You can pop open and close some detail.</a:t>
            </a:r>
          </a:p>
          <a:p>
            <a:pPr lvl="0"/>
            <a:r>
              <a:rPr sz="2000"/>
              <a:t>You can’t see thinking.</a:t>
            </a:r>
          </a:p>
          <a:p>
            <a:pPr lvl="0"/>
            <a:r>
              <a:rPr sz="2000"/>
              <a:t>It is somewhat better inside emacs.</a:t>
            </a:r>
          </a:p>
          <a:p>
            <a:pPr lvl="0"/>
            <a:r>
              <a:rPr sz="2000"/>
              <a:t>It clears your text in a variety of ways.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What you want is pretty obvious with experience.</a:t>
            </a:r>
          </a:p>
          <a:p>
            <a:pPr lvl="0"/>
            <a:r>
              <a:rPr sz="2000"/>
              <a:t>This is text. You want simple fast search and processing of your text interaction with the agents.</a:t>
            </a:r>
          </a:p>
          <a:p>
            <a:pPr lvl="0"/>
            <a:r>
              <a:rPr sz="2000"/>
              <a:t>You want one window with your core interaction. The agent tells you what it is doing in it.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You want one to watch your proofs, compile, tests and scripts.</a:t>
            </a:r>
          </a:p>
          <a:p>
            <a:pPr lvl="0"/>
            <a:r>
              <a:rPr sz="2000"/>
              <a:t>You want one window to have the LLM show you it’s thinking.</a:t>
            </a:r>
          </a:p>
          <a:p>
            <a:pPr lvl="0"/>
            <a:r>
              <a:rPr sz="2000"/>
              <a:t>I learned a ton from watching agents think.</a:t>
            </a:r>
          </a:p>
          <a:p>
            <a:pPr lvl="0"/>
            <a:r>
              <a:rPr sz="2000"/>
              <a:t>I suspect they are hiding most of their thinking now to prevent them from being used to train new AIs.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asked Claude Code to check its switches on startup for me, at the End of Jan 2026.</a:t>
            </a:r>
          </a:p>
          <a:p>
            <a:pPr lvl="0"/>
            <a:r>
              <a:rPr sz="2000"/>
              <a:t>It immediately started disassembling itself.</a:t>
            </a:r>
          </a:p>
          <a:p>
            <a:pPr lvl="0"/>
            <a:r>
              <a:rPr sz="2000"/>
              <a:t>Scared the heck out of me.</a:t>
            </a:r>
          </a:p>
          <a:p>
            <a:pPr lvl="0"/>
            <a:r>
              <a:rPr sz="2000"/>
              <a:t>I told it to read it’s docs.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I have 100% belief that these LLMs are moving faster than computer security.</a:t>
            </a:r>
          </a:p>
          <a:p>
            <a:pPr lvl="0"/>
            <a:r>
              <a:rPr sz="2000"/>
              <a:t>One is going to be unleashed that will take down, over the entire net, all critical web services and operating systems.</a:t>
            </a:r>
          </a:p>
          <a:p>
            <a:pPr lvl="0"/>
            <a:r>
              <a:rPr sz="2000"/>
              <a:t>Except SeL4 (likely in your phone’s signal processor) and perhaps other proven OSes.</a:t>
            </a:r>
          </a:p>
          <a:p>
            <a:pPr lvl="0"/>
            <a:r>
              <a:rPr sz="2000"/>
              <a:t>It’s verify or die at this point.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Review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Algorithms Parallel and Sequential (APAS)</a:t>
            </a:r>
          </a:p>
          <a:p>
            <a:pPr lvl="0"/>
            <a:r>
              <a:rPr sz="2000"/>
              <a:t>Rust - The Good, The Bad and the Ugly</a:t>
            </a:r>
          </a:p>
          <a:p>
            <a:pPr lvl="0"/>
            <a:r>
              <a:rPr sz="2000"/>
              <a:t>APAS-AI - AI Paired Programming APAS in Rust</a:t>
            </a:r>
          </a:p>
          <a:p>
            <a:pPr lvl="0"/>
            <a:r>
              <a:rPr sz="2000"/>
              <a:t>Rusticate - sending Python back to the family estate</a:t>
            </a:r>
          </a:p>
          <a:p>
            <a:pPr lvl="0"/>
            <a:r>
              <a:rPr sz="2000"/>
              <a:t>Verus - Proving Rust</a:t>
            </a:r>
          </a:p>
          <a:p>
            <a:pPr lvl="0"/>
            <a:r>
              <a:rPr sz="2000"/>
              <a:t>APAS-VERUS- AI Paired Proving APAS in Verus</a:t>
            </a:r>
          </a:p>
          <a:p>
            <a:pPr lvl="0"/>
            <a:r>
              <a:rPr sz="2000"/>
              <a:t>Veracity- Software Engineering AI Paired Proving</a:t>
            </a:r>
          </a:p>
          <a:p>
            <a:pPr lvl="0"/>
            <a:r>
              <a:rPr sz="2000"/>
              <a:t>Software Engineering in AI Paired Proving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How fast is this moving?</a:t>
            </a:r>
          </a:p>
          <a:p>
            <a:pPr lvl="0"/>
            <a:r>
              <a:rPr sz="2000"/>
              <a:t>How much context do we need?</a:t>
            </a:r>
          </a:p>
          <a:p>
            <a:pPr lvl="0"/>
            <a:r>
              <a:rPr sz="2000"/>
              <a:t>How much speed do we need?</a:t>
            </a:r>
          </a:p>
          <a:p>
            <a:pPr lvl="0"/>
            <a:r>
              <a:rPr sz="2000"/>
              <a:t>How much speed will we get?</a:t>
            </a:r>
          </a:p>
          <a:p>
            <a:pPr lvl="0"/>
            <a:r>
              <a:rPr sz="2000"/>
              <a:t>When it’s 10 times faster how will we use it?</a:t>
            </a:r>
          </a:p>
          <a:p>
            <a:pPr lvl="0"/>
            <a:r>
              <a:rPr sz="2000"/>
              <a:t>When will this really cost the user what it costs the provider?</a:t>
            </a:r>
          </a:p>
          <a:p>
            <a:pPr lvl="0"/>
            <a:r>
              <a:rPr sz="2000"/>
              <a:t>Will we be able to regulate AI meaningfully?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000"/>
              <a:t>Will this crash the economy?</a:t>
            </a:r>
          </a:p>
          <a:p>
            <a:pPr lvl="0"/>
            <a:r>
              <a:rPr sz="2000"/>
              <a:t>Will this crash internet services left and right?</a:t>
            </a:r>
          </a:p>
          <a:p>
            <a:pPr lvl="0"/>
            <a:r>
              <a:rPr sz="2000"/>
              <a:t>Will this crash the entire internet of services?</a:t>
            </a:r>
          </a:p>
          <a:p>
            <a:pPr lvl="0"/>
            <a:r>
              <a:rPr sz="2000"/>
              <a:t>Will autonomous agents start stealing peoples money?</a:t>
            </a:r>
          </a:p>
          <a:p>
            <a:pPr lvl="0"/>
            <a:r>
              <a:rPr sz="2000"/>
              <a:t>AI autonomous weapons are already in use.</a:t>
            </a:r>
          </a:p>
          <a:p>
            <a:pPr lvl="0"/>
            <a:r>
              <a:rPr sz="2000"/>
              <a:t>Will 1984 style control of people in their homes occur?</a:t>
            </a:r>
          </a:p>
          <a:p>
            <a:pPr lvl="0"/>
            <a:r>
              <a:rPr sz="2000"/>
              <a:t>Will it manipulate political systems?</a:t>
            </a:r>
          </a:p>
          <a:p>
            <a:pPr lvl="0"/>
            <a:r>
              <a:rPr sz="2000"/>
              <a:t>Will open source die?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2026-04-14T00:01:46Z</dcterms:created>
  <dcterms:modified xsi:type="dcterms:W3CDTF">2026-04-14T00:01:46Z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