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  <p:sldId id="316" r:id="rId62"/>
    <p:sldId id="317" r:id="rId63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39" Type="http://schemas.openxmlformats.org/officeDocument/2006/relationships/slide" Target="slides/slide38.xml" /><Relationship Id="rId40" Type="http://schemas.openxmlformats.org/officeDocument/2006/relationships/slide" Target="slides/slide39.xml" /><Relationship Id="rId41" Type="http://schemas.openxmlformats.org/officeDocument/2006/relationships/slide" Target="slides/slide40.xml" /><Relationship Id="rId42" Type="http://schemas.openxmlformats.org/officeDocument/2006/relationships/slide" Target="slides/slide41.xml" /><Relationship Id="rId43" Type="http://schemas.openxmlformats.org/officeDocument/2006/relationships/slide" Target="slides/slide42.xml" /><Relationship Id="rId44" Type="http://schemas.openxmlformats.org/officeDocument/2006/relationships/slide" Target="slides/slide43.xml" /><Relationship Id="rId45" Type="http://schemas.openxmlformats.org/officeDocument/2006/relationships/slide" Target="slides/slide44.xml" /><Relationship Id="rId46" Type="http://schemas.openxmlformats.org/officeDocument/2006/relationships/slide" Target="slides/slide45.xml" /><Relationship Id="rId47" Type="http://schemas.openxmlformats.org/officeDocument/2006/relationships/slide" Target="slides/slide46.xml" /><Relationship Id="rId48" Type="http://schemas.openxmlformats.org/officeDocument/2006/relationships/slide" Target="slides/slide47.xml" /><Relationship Id="rId49" Type="http://schemas.openxmlformats.org/officeDocument/2006/relationships/slide" Target="slides/slide48.xml" /><Relationship Id="rId50" Type="http://schemas.openxmlformats.org/officeDocument/2006/relationships/slide" Target="slides/slide49.xml" /><Relationship Id="rId51" Type="http://schemas.openxmlformats.org/officeDocument/2006/relationships/slide" Target="slides/slide50.xml" /><Relationship Id="rId52" Type="http://schemas.openxmlformats.org/officeDocument/2006/relationships/slide" Target="slides/slide51.xml" /><Relationship Id="rId53" Type="http://schemas.openxmlformats.org/officeDocument/2006/relationships/slide" Target="slides/slide52.xml" /><Relationship Id="rId54" Type="http://schemas.openxmlformats.org/officeDocument/2006/relationships/slide" Target="slides/slide53.xml" /><Relationship Id="rId55" Type="http://schemas.openxmlformats.org/officeDocument/2006/relationships/slide" Target="slides/slide54.xml" /><Relationship Id="rId56" Type="http://schemas.openxmlformats.org/officeDocument/2006/relationships/slide" Target="slides/slide55.xml" /><Relationship Id="rId57" Type="http://schemas.openxmlformats.org/officeDocument/2006/relationships/slide" Target="slides/slide56.xml" /><Relationship Id="rId58" Type="http://schemas.openxmlformats.org/officeDocument/2006/relationships/slide" Target="slides/slide57.xml" /><Relationship Id="rId59" Type="http://schemas.openxmlformats.org/officeDocument/2006/relationships/slide" Target="slides/slide58.xml" /><Relationship Id="rId60" Type="http://schemas.openxmlformats.org/officeDocument/2006/relationships/slide" Target="slides/slide59.xml" /><Relationship Id="rId61" Type="http://schemas.openxmlformats.org/officeDocument/2006/relationships/slide" Target="slides/slide60.xml" /><Relationship Id="rId62" Type="http://schemas.openxmlformats.org/officeDocument/2006/relationships/slide" Target="slides/slide61.xml" /><Relationship Id="rId63" Type="http://schemas.openxmlformats.org/officeDocument/2006/relationships/slide" Target="slides/slide62.xml" /><Relationship Id="rId65" Type="http://schemas.openxmlformats.org/officeDocument/2006/relationships/viewProps" Target="viewProps.xml" /><Relationship Id="rId64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67" Type="http://schemas.openxmlformats.org/officeDocument/2006/relationships/tableStyles" Target="tableStyles.xml" /><Relationship Id="rId66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mailto:briangmilnes@gmail.com" TargetMode="Externa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.png" /></Relationships>
</file>

<file path=ppt/slides/_rels/slide4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2.png" /></Relationships>
</file>

<file path=ppt/slides/_rels/slide4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 lang="en-US" sz="3200"/>
              <a:t>APAS-VERUS: AI Paired Proof Engineering Techniques and Experience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z="1800"/>
              <a:t>Brian G. Milnes </a:t>
            </a:r>
            <a:r>
              <a:rPr>
                <a:hlinkClick r:id="rId2"/>
              </a:rPr>
              <a:t>briangmilnes@gmail.com</a:t>
            </a:r>
          </a:p>
          <a:p>
            <a:pPr lvl="0"/>
            <a:r>
              <a:rPr lang="en-US" sz="1800"/>
              <a:t>Experience, Results and Techniques in building</a:t>
            </a:r>
          </a:p>
          <a:p>
            <a:pPr lvl="0"/>
            <a:r>
              <a:rPr lang="en-US" sz="1800"/>
              <a:t>Algorithms Parallel and Sequential by Acar and Blelloch</a:t>
            </a:r>
          </a:p>
          <a:p>
            <a:pPr lvl="0"/>
            <a:r>
              <a:rPr lang="en-US" sz="1800"/>
              <a:t>in Rust</a:t>
            </a:r>
          </a:p>
          <a:p>
            <a:pPr lvl="0"/>
            <a:r>
              <a:rPr lang="en-US" sz="1800"/>
              <a:t>and then proving it in Verus.</a:t>
            </a:r>
          </a:p>
          <a:p>
            <a:pPr lvl="0"/>
            <a:r>
              <a:rPr lang="en-US" sz="1800"/>
              <a:t>Or </a:t>
            </a:r>
            <a:r>
              <a:rPr lang="en-US" sz="1800" b="1"/>
              <a:t>What Can We Prove Today and for How Much?</a:t>
            </a:r>
          </a:p>
          <a:p>
            <a:pPr lvl="0"/>
            <a:r>
              <a:rPr lang="en-US" sz="1800"/>
              <a:t>And </a:t>
            </a:r>
            <a:r>
              <a:rPr lang="en-US" sz="1800" b="1"/>
              <a:t>Can Proof In-The-Large Save Computer Security?</a:t>
            </a:r>
          </a:p>
          <a:p>
            <a:pPr lvl="0"/>
            <a:r>
              <a:rPr lang="en-US" sz="1800"/>
              <a:t>https://github.com/briangmilnes/{APAS-VERUS,APAS-AI}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 lang="en-US" sz="3200"/>
              <a:t>Outline of the talk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z="1800"/>
              <a:t>Its a pleasure to speak here at the Topos Institute.</a:t>
            </a:r>
          </a:p>
          <a:p>
            <a:pPr lvl="0"/>
            <a:r>
              <a:rPr lang="en-US" sz="1800"/>
              <a:t>My Background</a:t>
            </a:r>
          </a:p>
          <a:p>
            <a:pPr lvl="0"/>
            <a:r>
              <a:rPr lang="en-US" sz="1800"/>
              <a:t>Algorithms Parallel and Sequential (APAS)</a:t>
            </a:r>
          </a:p>
          <a:p>
            <a:pPr lvl="0"/>
            <a:r>
              <a:rPr lang="en-US" sz="1800"/>
              <a:t>Rust - The Good, The Bad and the Ugly</a:t>
            </a:r>
          </a:p>
          <a:p>
            <a:pPr lvl="0"/>
            <a:r>
              <a:rPr lang="en-US" sz="1800"/>
              <a:t>APAS-AI - AI Paired Programming APAS in Rust</a:t>
            </a:r>
          </a:p>
          <a:p>
            <a:pPr lvl="0"/>
            <a:r>
              <a:rPr lang="en-US" sz="1800"/>
              <a:t>Rusticate - sending Python back to the family estate</a:t>
            </a:r>
          </a:p>
          <a:p>
            <a:pPr lvl="0"/>
            <a:r>
              <a:rPr lang="en-US" sz="1800"/>
              <a:t>Verus - Proving Rust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 lang="en-US" sz="3200"/>
              <a:t>Outline of the talk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z="1800"/>
              <a:t>APAS-VERUS - AI Paired Proving APAS in Verus</a:t>
            </a:r>
          </a:p>
          <a:p>
            <a:pPr lvl="0"/>
            <a:r>
              <a:rPr lang="en-US" sz="1800"/>
              <a:t>Veracity - Software Engineering AI Paired Proving</a:t>
            </a:r>
          </a:p>
          <a:p>
            <a:pPr lvl="0"/>
            <a:r>
              <a:rPr lang="en-US" sz="1800"/>
              <a:t>Software Engineering in AI Paired Proving</a:t>
            </a:r>
          </a:p>
          <a:p>
            <a:pPr lvl="0"/>
            <a:r>
              <a:rPr lang="en-US" sz="1800"/>
              <a:t>CPR$ - how to measure costs and my costs</a:t>
            </a:r>
          </a:p>
          <a:p>
            <a:pPr lvl="0"/>
            <a:r>
              <a:rPr lang="en-US" sz="1800"/>
              <a:t>How bad is our computer security?</a:t>
            </a:r>
          </a:p>
          <a:p>
            <a:pPr lvl="0"/>
            <a:r>
              <a:rPr lang="en-US" sz="1800"/>
              <a:t>How much Proof do we need to save computer security?</a:t>
            </a:r>
          </a:p>
          <a:p>
            <a:pPr lvl="0"/>
            <a:r>
              <a:rPr lang="en-US" sz="1800"/>
              <a:t>Review of the Talk</a:t>
            </a:r>
          </a:p>
          <a:p>
            <a:pPr lvl="0"/>
            <a:r>
              <a:rPr lang="en-US" sz="1800"/>
              <a:t>Questions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 lang="en-US" sz="3200"/>
              <a:t>Background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z="1800"/>
              <a:t>B.Sc. Applied Math (Computer Science), Carnegie Mellon</a:t>
            </a:r>
          </a:p>
          <a:p>
            <a:pPr lvl="0"/>
            <a:r>
              <a:rPr lang="en-US" sz="1800"/>
              <a:t>2 years of AI PL development (Carnegie Group), my first startup.</a:t>
            </a:r>
          </a:p>
          <a:p>
            <a:pPr lvl="0"/>
            <a:r>
              <a:rPr lang="en-US" sz="1800"/>
              <a:t>7 years of (symbolic) AI Research (Soar Group, CMU CS)</a:t>
            </a:r>
          </a:p>
          <a:p>
            <a:pPr lvl="0"/>
            <a:r>
              <a:rPr lang="en-US" sz="1800"/>
              <a:t>2 years of PL research (Fox Group, CMU CS) aimed at making type safe languages work in systems and networking.</a:t>
            </a:r>
          </a:p>
          <a:p>
            <a:pPr lvl="0"/>
            <a:r>
              <a:rPr lang="en-US" sz="1800"/>
              <a:t>Founding member of Lycos - systems, performance, ran operations</a:t>
            </a:r>
          </a:p>
          <a:p>
            <a:pPr lvl="0"/>
            <a:r>
              <a:rPr lang="en-US" sz="1800"/>
              <a:t>Early Amazon - systems, performance, operations</a:t>
            </a:r>
          </a:p>
          <a:p>
            <a:pPr lvl="0"/>
            <a:r>
              <a:rPr lang="en-US" sz="1800"/>
              <a:t>M.Sc. Computer Science, University of Washington</a:t>
            </a:r>
          </a:p>
          <a:p>
            <a:pPr lvl="0"/>
            <a:r>
              <a:rPr lang="en-US" sz="1800"/>
              <a:t>Early Zillow - 6th engineer, ran operations, systems, performance</a:t>
            </a:r>
          </a:p>
          <a:p>
            <a:pPr lvl="0"/>
            <a:r>
              <a:rPr lang="en-US" sz="1800"/>
              <a:t>A general love of proving programs with Rocq, F* and now Verus.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 lang="en-US" sz="3200"/>
              <a:t>Algorithms Parallel and Sequential (APAS)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z="1800"/>
              <a:t>I chose to implement: Algorithms Parallel and Sequential (APAS) in Verus.</a:t>
            </a:r>
          </a:p>
          <a:p>
            <a:pPr lvl="0"/>
            <a:r>
              <a:rPr lang="en-US" sz="1800"/>
              <a:t>Umut Acar and Guy Blelloch 2022</a:t>
            </a:r>
          </a:p>
          <a:p>
            <a:pPr lvl="1"/>
            <a:r>
              <a:rPr lang="en-US" sz="1800"/>
              <a:t>121 algorithms!</a:t>
            </a:r>
          </a:p>
          <a:p>
            <a:pPr lvl="1"/>
            <a:r>
              <a:rPr lang="en-US" sz="1800"/>
              <a:t>81 of which can be parallel.</a:t>
            </a:r>
          </a:p>
          <a:p>
            <a:pPr lvl="1"/>
            <a:r>
              <a:rPr lang="en-US" sz="1800"/>
              <a:t>740 concepts.</a:t>
            </a:r>
          </a:p>
          <a:p>
            <a:pPr lvl="0"/>
            <a:r>
              <a:rPr lang="en-US" sz="1800"/>
              <a:t>Not only is it a great textbook but it proved with very few changes needed!</a:t>
            </a:r>
          </a:p>
          <a:p>
            <a:pPr lvl="0"/>
            <a:r>
              <a:rPr lang="en-US" sz="1800"/>
              <a:t>A few months ago Zach Tatlock was on a call with Sandia National labs.</a:t>
            </a:r>
          </a:p>
          <a:p>
            <a:pPr lvl="0"/>
            <a:r>
              <a:rPr lang="en-US" sz="1800"/>
              <a:t>They said: “You can’t prove algorithms like that!”</a:t>
            </a:r>
          </a:p>
          <a:p>
            <a:pPr lvl="0"/>
            <a:r>
              <a:rPr lang="en-US" sz="1800"/>
              <a:t>He pointed them to APAS-VERUS and my linkedin racked up 1200 views.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 lang="en-US" sz="3200"/>
              <a:t>Rust - The Good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z="1800"/>
              <a:t>20 year old PL</a:t>
            </a:r>
          </a:p>
          <a:p>
            <a:pPr lvl="0"/>
            <a:r>
              <a:rPr lang="en-US" sz="1800"/>
              <a:t>Fast compilation, code.</a:t>
            </a:r>
          </a:p>
          <a:p>
            <a:pPr lvl="0"/>
            <a:r>
              <a:rPr lang="en-US" sz="1800"/>
              <a:t>Industrial acceptance: AWS, Google, Huawei, Microsoft, and Mozilla.</a:t>
            </a:r>
          </a:p>
          <a:p>
            <a:pPr lvl="0"/>
            <a:r>
              <a:rPr lang="en-US" sz="1800"/>
              <a:t>Linux Kernel now uses it!</a:t>
            </a:r>
          </a:p>
          <a:p>
            <a:pPr lvl="0"/>
            <a:r>
              <a:rPr lang="en-US" sz="1800"/>
              <a:t>Linear typing plus borrowing! No GC!</a:t>
            </a:r>
          </a:p>
          <a:p>
            <a:pPr lvl="0"/>
            <a:r>
              <a:rPr lang="en-US" sz="1800"/>
              <a:t>Clear mutability.</a:t>
            </a:r>
          </a:p>
          <a:p>
            <a:pPr lvl="0"/>
            <a:r>
              <a:rPr lang="en-US" sz="1800"/>
              <a:t>Slicing! with ownership.</a:t>
            </a:r>
          </a:p>
          <a:p>
            <a:pPr lvl="0"/>
            <a:r>
              <a:rPr lang="en-US" sz="1800"/>
              <a:t>Their ‘cargo’ package system works rather well.</a:t>
            </a:r>
          </a:p>
          <a:p>
            <a:pPr lvl="0"/>
            <a:r>
              <a:rPr lang="en-US" sz="1800"/>
              <a:t>No objects for modularity! Good.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 lang="en-US" sz="3200"/>
              <a:t>Rust - The Bad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z="1800"/>
              <a:t>No GC! Circular structures require GC and why not have it!</a:t>
            </a:r>
          </a:p>
          <a:p>
            <a:pPr lvl="0"/>
            <a:r>
              <a:rPr lang="en-US" sz="1800"/>
              <a:t>No regions, just lifetime with end of scope deallocation which is slower.</a:t>
            </a:r>
          </a:p>
          <a:p>
            <a:pPr lvl="0"/>
            <a:r>
              <a:rPr lang="en-US" sz="1800"/>
              <a:t>Translating C to Rust is hard to get it into linear logic + borrowing.</a:t>
            </a:r>
          </a:p>
          <a:p>
            <a:pPr lvl="0"/>
            <a:r>
              <a:rPr lang="en-US" sz="1800"/>
              <a:t>However, you can (and I have) rewritten algorithms with a free list (that are right).</a:t>
            </a:r>
          </a:p>
          <a:p>
            <a:pPr lvl="0"/>
            <a:r>
              <a:rPr lang="en-US" sz="1800"/>
              <a:t>Macros, with typing checked at use, which is not so good.</a:t>
            </a:r>
          </a:p>
          <a:p>
            <a:pPr lvl="0"/>
            <a:r>
              <a:rPr lang="en-US" sz="1800"/>
              <a:t>Rust terminology is random.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 lang="en-US" sz="3200"/>
              <a:t>Rust - Typeclasses are a weak module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z="1800"/>
              <a:t>You get basic module with pub/pub(crate) and no-pub.</a:t>
            </a:r>
          </a:p>
          <a:p>
            <a:pPr lvl="0"/>
            <a:r>
              <a:rPr lang="en-US" sz="1800"/>
              <a:t>You get typeclasses which MUST be implemented at type.</a:t>
            </a:r>
          </a:p>
          <a:p>
            <a:pPr lvl="0"/>
            <a:r>
              <a:rPr lang="en-US" sz="1800"/>
              <a:t>The Rustaceans have decided that unless their module implements a typeclass at multiple types, they won’t use it.</a:t>
            </a:r>
          </a:p>
          <a:p>
            <a:pPr lvl="0"/>
            <a:r>
              <a:rPr lang="en-US" sz="1800"/>
              <a:t>So reading Rust is every bit as scattered as reading C.</a:t>
            </a:r>
          </a:p>
          <a:p>
            <a:pPr lvl="0"/>
            <a:r>
              <a:rPr lang="en-US" sz="1800"/>
              <a:t>Verus is now doing this also, but I ABUSE the notation to put all the specs together in APAS-VERUS for readability.</a:t>
            </a:r>
          </a:p>
          <a:p>
            <a:pPr lvl="0"/>
            <a:r>
              <a:rPr lang="en-US" sz="1800"/>
              <a:t>You may pine for ML modules!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 lang="en-US" sz="3200"/>
              <a:t>Rust - The Ugly — Equality and Ordering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193800"/>
          <a:ext cx="8229600" cy="33909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38300"/>
                <a:gridCol w="1638300"/>
                <a:gridCol w="1638300"/>
                <a:gridCol w="1638300"/>
                <a:gridCol w="16383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Property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PartialEq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Eq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PartialOrd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Ord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Reflexive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NO!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req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NO! on leq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yes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Symmetric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req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req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Transitive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req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req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req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req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Antisymmetric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req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req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Total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req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Consistent w/ ==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</a:tr>
            </a:tbl>
          </a:graphicData>
        </a:graphic>
      </p:graphicFrame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 lang="en-US" sz="3200"/>
              <a:t>Rust - The ‘unsafe’ State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z="1800"/>
              <a:t>In theory Rust marks unsafe code with ‘unsafe’ and allows ptr arithmetic and other unsafe operations only inside this.</a:t>
            </a:r>
          </a:p>
          <a:p>
            <a:pPr lvl="0"/>
            <a:r>
              <a:rPr lang="en-US" sz="1800"/>
              <a:t>In practice Rust allows at least 10 unsafe operations in ‘safe’ code.</a:t>
            </a:r>
          </a:p>
          <a:p>
            <a:pPr lvl="0"/>
            <a:r>
              <a:rPr lang="en-US" sz="1800"/>
              <a:t>The most mind boggling attitude is that basic data structures can be considered ‘safe’ and LOSE YOUR DATA.</a:t>
            </a:r>
          </a:p>
          <a:p>
            <a:pPr lvl="0"/>
            <a:r>
              <a:rPr lang="en-US" sz="1800"/>
              <a:t>Vec, VecDeque and BinaryHeap amongst others.</a:t>
            </a:r>
          </a:p>
          <a:p>
            <a:pPr lvl="0"/>
            <a:r>
              <a:rPr lang="en-US" sz="1800"/>
              <a:t>To emphasize this I wrote ‘Rust Seal’ which did a lazy repair on these cases for a few percent costs on Rust’s own benchmarks.</a:t>
            </a:r>
          </a:p>
          <a:p>
            <a:pPr lvl="0"/>
            <a:r>
              <a:rPr lang="en-US" sz="1800"/>
              <a:t>https://github.com/briangmilnes/RustSeal</a:t>
            </a:r>
          </a:p>
          <a:p>
            <a:pPr lvl="0"/>
            <a:r>
              <a:rPr lang="en-US" sz="1800"/>
              <a:t>It is RATHER hard to prove your algorithm if it’s allowed to drop all your data.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 lang="en-US" sz="3200"/>
              <a:t>Rust - the State of the Semantics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z="1800"/>
              <a:t>Rust jumped ahead of any languages formal semantics with linear semantics of ownership, borrowing and re-borrowing.</a:t>
            </a:r>
          </a:p>
          <a:p>
            <a:pPr lvl="0"/>
            <a:r>
              <a:rPr lang="en-US" sz="1800"/>
              <a:t>They felt this was required for low-level systems and it is nice and fast.</a:t>
            </a:r>
          </a:p>
          <a:p>
            <a:pPr lvl="0"/>
            <a:r>
              <a:rPr lang="en-US" sz="1800"/>
              <a:t>But that left us with formal semantics now playing catch-up.</a:t>
            </a:r>
          </a:p>
          <a:p>
            <a:pPr lvl="0"/>
            <a:r>
              <a:rPr lang="en-US" sz="1800"/>
              <a:t>And we almost have:</a:t>
            </a:r>
          </a:p>
          <a:p>
            <a:pPr lvl="1"/>
            <a:r>
              <a:rPr lang="en-US" sz="1800"/>
              <a:t>Timany, Amin, et al. “A logical approach to type soundness.” Journal of the ACM 71.6 (2024): 1-75.</a:t>
            </a:r>
          </a:p>
          <a:p>
            <a:pPr lvl="1"/>
            <a:r>
              <a:rPr lang="en-US" sz="1800"/>
              <a:t>Jung, Ralf, et al. “RustBelt: Securing the foundations of the Rust programming language.” 45th ACM POPL 2018</a:t>
            </a:r>
          </a:p>
          <a:p>
            <a:pPr lvl="1"/>
            <a:r>
              <a:rPr lang="en-US" sz="1800"/>
              <a:t>Hance, Travis, et al. “VerusBelt: A Semantic Foundation for Verus’s Proof-Oriented Extensions to the Rust Type System.” PLDI (2026): 1962-1986.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 lang="en-US" sz="3200"/>
              <a:t>APAS-AI - AI Paired Programming APAS in Rust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z="1800"/>
              <a:t>APAS-AI is a nearly complete, idiomatic Rust implementation of the algorithms from Acar and Blelloch.</a:t>
            </a:r>
          </a:p>
          <a:p>
            <a:pPr lvl="0"/>
            <a:r>
              <a:rPr lang="en-US" sz="1800"/>
              <a:t>Sequential and parallel variants throughout.</a:t>
            </a:r>
          </a:p>
          <a:p>
            <a:pPr lvl="0"/>
            <a:r>
              <a:rPr lang="en-US" sz="1800"/>
              <a:t>Timeline: 347 commits over 88 calendar days (Aug–Oct 2025).</a:t>
            </a:r>
          </a:p>
          <a:p>
            <a:pPr lvl="0"/>
            <a:r>
              <a:rPr lang="en-US" sz="1800"/>
              <a:t>59 days of active development; 8 residual commits in November.</a:t>
            </a:r>
          </a:p>
          <a:p>
            <a:pPr lvl="0"/>
            <a:r>
              <a:rPr lang="en-US" sz="1800"/>
              <a:t>I knew no AI paired programming when I started.</a:t>
            </a:r>
          </a:p>
          <a:p>
            <a:pPr lvl="0"/>
            <a:r>
              <a:rPr lang="en-US" sz="1800"/>
              <a:t>I knew no Rust when I started.</a:t>
            </a:r>
          </a:p>
          <a:p>
            <a:pPr lvl="0"/>
            <a:r>
              <a:rPr lang="en-US" sz="1800"/>
              <a:t>My AI had to teach it to me, which was harder than I thought as of the 94 terms used in the Rust language and docs, only 4 are real PL terms!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 lang="en-US" sz="3200"/>
              <a:t>APAS-AI - AI Paired Programming APAS in Rust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z="1800"/>
              <a:t>Scale:</a:t>
            </a:r>
          </a:p>
          <a:p>
            <a:pPr lvl="1"/>
            <a:r>
              <a:rPr lang="en-US" sz="1800"/>
              <a:t>42 chapters</a:t>
            </a:r>
          </a:p>
          <a:p>
            <a:pPr lvl="1"/>
            <a:r>
              <a:rPr lang="en-US" sz="1800"/>
              <a:t>238 source files</a:t>
            </a:r>
          </a:p>
          <a:p>
            <a:pPr lvl="1"/>
            <a:r>
              <a:rPr lang="en-US" sz="1800"/>
              <a:t>45,485 source LOC.</a:t>
            </a:r>
          </a:p>
          <a:p>
            <a:pPr lvl="0"/>
            <a:r>
              <a:rPr lang="en-US" sz="1800"/>
              <a:t>Tests:</a:t>
            </a:r>
          </a:p>
          <a:p>
            <a:pPr lvl="1"/>
            <a:r>
              <a:rPr lang="en-US" sz="1800"/>
              <a:t>246 files</a:t>
            </a:r>
          </a:p>
          <a:p>
            <a:pPr lvl="1"/>
            <a:r>
              <a:rPr lang="en-US" sz="1800"/>
              <a:t>55,223 LOC</a:t>
            </a:r>
          </a:p>
          <a:p>
            <a:pPr lvl="1"/>
            <a:r>
              <a:rPr lang="en-US" sz="1800"/>
              <a:t>3,923 test functions</a:t>
            </a:r>
          </a:p>
          <a:p>
            <a:pPr lvl="1"/>
            <a:r>
              <a:rPr lang="en-US" sz="1800"/>
              <a:t>1.2× the source code size which is heavy.</a:t>
            </a:r>
          </a:p>
          <a:p>
            <a:pPr lvl="1"/>
            <a:r>
              <a:rPr lang="en-US" sz="1800"/>
              <a:t>Tests are now so cheap and automated, I generally don’t count them.</a:t>
            </a:r>
          </a:p>
          <a:p>
            <a:pPr lvl="0"/>
            <a:r>
              <a:rPr lang="en-US" sz="1800"/>
              <a:t>Benchmarks: 171 files, 13,890 LOC, 360 benchmark functions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 lang="en-US" sz="3200"/>
              <a:t>Verus: Verified Rust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z="1800"/>
              <a:t>Verus is a tool for formally verifying Rust, developed at MSFT Research, VMware Research and Carnegie Mellon University.</a:t>
            </a:r>
          </a:p>
          <a:p>
            <a:pPr lvl="0"/>
            <a:r>
              <a:rPr lang="en-US" sz="1800"/>
              <a:t>Team: Andrea Lattuada, Travis Hance, Chris Hawblitzel, Jay Lorch, Matthias Brun, Chanhee Park, Yi Zhou, Jon Howell, Bryan Parno.</a:t>
            </a:r>
          </a:p>
          <a:p>
            <a:pPr lvl="0"/>
            <a:r>
              <a:rPr lang="en-US" sz="1800"/>
              <a:t>Goals: bring machine-checked proof to systems software written in Rust.</a:t>
            </a:r>
          </a:p>
          <a:p>
            <a:pPr lvl="0"/>
            <a:r>
              <a:rPr lang="en-US" sz="1800"/>
              <a:t>Goals: </a:t>
            </a:r>
            <a:r>
              <a:rPr lang="en-US" sz="1800" i="1"/>
              <a:t>tight integration with the programming language</a:t>
            </a:r>
            <a:r>
              <a:rPr lang="en-US" sz="1800"/>
              <a:t>.</a:t>
            </a:r>
          </a:p>
          <a:p>
            <a:pPr lvl="0"/>
            <a:r>
              <a:rPr lang="en-US" sz="1800"/>
              <a:t>Goals: easier faster proof.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 lang="en-US" sz="3200"/>
              <a:t>Key Verus Publications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z="1800"/>
              <a:t>“Verus: Verifying Rust Programs using Linear Ghost Types” Lattuada, Hance, Cho, Brun, Subasinghe, Zhou, Howell, Parno, Hawblitzel</a:t>
            </a:r>
          </a:p>
          <a:p>
            <a:pPr lvl="0"/>
            <a:r>
              <a:rPr lang="en-US" sz="1800"/>
              <a:t>“Verus: A Practical Foundation for Systems Verification” Lattuada, Hance, Bosamiya, Brun, Cho, LeBlanc, Srinivasan, Achermann, Chajed, Hawblitzel, Howell, Lorch, Padon, Parno</a:t>
            </a:r>
          </a:p>
          <a:p>
            <a:pPr lvl="0"/>
            <a:r>
              <a:rPr lang="en-US" sz="1800"/>
              <a:t>“Verifying Concurrent Systems Code” Travis Hance — PhD Thesis, Carnegie Mellon University, 2024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 lang="en-US" sz="3200"/>
              <a:t>Verus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z="1800"/>
              <a:t>Specifications are written in a pure </a:t>
            </a:r>
            <a:r>
              <a:rPr lang="en-US" sz="1800" b="1"/>
              <a:t>First Order Logic</a:t>
            </a:r>
            <a:r>
              <a:rPr lang="en-US" sz="1800"/>
              <a:t>.</a:t>
            </a:r>
          </a:p>
          <a:p>
            <a:pPr lvl="0"/>
            <a:r>
              <a:rPr lang="en-US" sz="1800"/>
              <a:t>spec functions, forall/exists, arithmetic, sets, sequences.</a:t>
            </a:r>
          </a:p>
          <a:p>
            <a:pPr lvl="0"/>
            <a:r>
              <a:rPr lang="en-US" sz="1800"/>
              <a:t>Undecidable.</a:t>
            </a:r>
          </a:p>
          <a:p>
            <a:pPr lvl="0"/>
            <a:r>
              <a:rPr lang="en-US" sz="1800"/>
              <a:t>Z3 SMT handles linear arithmetic, arrays, and quantified formulas, but quantifier instantiation requires explicit trigger annotations.</a:t>
            </a:r>
          </a:p>
          <a:p>
            <a:pPr lvl="0"/>
            <a:r>
              <a:rPr lang="en-US" sz="1800"/>
              <a:t>Z3 is NOT building certified proofs for Verus (but cvc5 might be coming).</a:t>
            </a:r>
          </a:p>
          <a:p>
            <a:pPr lvl="0"/>
            <a:r>
              <a:rPr lang="en-US" sz="1800"/>
              <a:t>Wraps existing Rust code: - spec / proof / requires / ensures on fns</a:t>
            </a:r>
          </a:p>
          <a:p>
            <a:pPr lvl="0"/>
            <a:r>
              <a:rPr lang="en-US" sz="1800"/>
              <a:t>Linear Logic + Borrowing from the Rust type system, which rustc checks.</a:t>
            </a:r>
          </a:p>
          <a:p>
            <a:pPr lvl="0"/>
            <a:r>
              <a:rPr lang="en-US" sz="1800"/>
              <a:t>The TCB then is Verus+Z3+Rust+Libs, which is easily </a:t>
            </a:r>
            <a:r>
              <a:rPr lang="en-US" sz="1800" b="1"/>
              <a:t>= 2 M LOC</a:t>
            </a:r>
            <a:r>
              <a:rPr lang="en-US" sz="1800"/>
              <a:t>.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 lang="en-US" sz="3200"/>
              <a:t>Views and the Libraries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z="1800"/>
              <a:t>A View maps an executable Rust type to a mathematical ghost type: “Vec views as Seq”, “HashSet views as Set”.</a:t>
            </a:r>
          </a:p>
          <a:p>
            <a:pPr lvl="0"/>
            <a:r>
              <a:rPr lang="en-US" sz="1800"/>
              <a:t>Specs are written over the view; exec code manipulates the real type.</a:t>
            </a:r>
          </a:p>
          <a:p>
            <a:pPr lvl="0"/>
            <a:r>
              <a:rPr lang="en-US" sz="1800"/>
              <a:t>vstd is Verus’s standard library — specs for Vec, Seq, Set, Map, Multiset, arithmetic, common lemmas, Fns …</a:t>
            </a:r>
          </a:p>
          <a:p>
            <a:pPr lvl="0"/>
            <a:r>
              <a:rPr lang="en-US" sz="1800"/>
              <a:t>Ghost types live only in the verifier — they have no runtime cost and no runtime representation.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 lang="en-US" sz="3200"/>
              <a:t>UnDirGraphStEph — Data Struct + 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 lang="en-US" sz="1100">
                <a:solidFill>
                  <a:srgbClr val="7D9029"/>
                </a:solidFill>
                <a:latin typeface="Courier"/>
              </a:rPr>
              <a:t>#[</a:t>
            </a:r>
            <a:r>
              <a:rPr lang="en-US" sz="1100">
                <a:solidFill>
                  <a:srgbClr val="BC7A00"/>
                </a:solidFill>
                <a:latin typeface="Courier"/>
              </a:rPr>
              <a:t>verifier::</a:t>
            </a:r>
            <a:r>
              <a:rPr lang="en-US" sz="1100">
                <a:latin typeface="Courier"/>
              </a:rPr>
              <a:t>reject_recursive_types</a:t>
            </a:r>
            <a:r>
              <a:rPr lang="en-US" sz="1100">
                <a:solidFill>
                  <a:srgbClr val="7D9029"/>
                </a:solidFill>
                <a:latin typeface="Courier"/>
              </a:rPr>
              <a:t>(</a:t>
            </a:r>
            <a:r>
              <a:rPr lang="en-US" sz="1100">
                <a:latin typeface="Courier"/>
              </a:rPr>
              <a:t>V</a:t>
            </a:r>
            <a:r>
              <a:rPr lang="en-US" sz="1100">
                <a:solidFill>
                  <a:srgbClr val="7D9029"/>
                </a:solidFill>
                <a:latin typeface="Courier"/>
              </a:rPr>
              <a:t>)]</a:t>
            </a:r>
            <a:br/>
            <a:r>
              <a:rPr lang="en-US" sz="1100" b="1">
                <a:solidFill>
                  <a:srgbClr val="007020"/>
                </a:solidFill>
                <a:latin typeface="Courier"/>
              </a:rPr>
              <a:t>pub</a:t>
            </a:r>
            <a:r>
              <a:rPr lang="en-US" sz="1100">
                <a:latin typeface="Courier"/>
              </a:rPr>
              <a:t> </a:t>
            </a:r>
            <a:r>
              <a:rPr lang="en-US" sz="1100" b="1">
                <a:solidFill>
                  <a:srgbClr val="007020"/>
                </a:solidFill>
                <a:latin typeface="Courier"/>
              </a:rPr>
              <a:t>struct</a:t>
            </a:r>
            <a:r>
              <a:rPr lang="en-US" sz="1100">
                <a:latin typeface="Courier"/>
              </a:rPr>
              <a:t> UnDirGraphStEph</a:t>
            </a:r>
            <a:r>
              <a:rPr lang="en-US" sz="1100">
                <a:solidFill>
                  <a:srgbClr val="666666"/>
                </a:solidFill>
                <a:latin typeface="Courier"/>
              </a:rPr>
              <a:t>&lt;</a:t>
            </a:r>
            <a:r>
              <a:rPr lang="en-US" sz="1100">
                <a:latin typeface="Courier"/>
              </a:rPr>
              <a:t>V</a:t>
            </a:r>
            <a:r>
              <a:rPr lang="en-US" sz="1100">
                <a:solidFill>
                  <a:srgbClr val="666666"/>
                </a:solidFill>
                <a:latin typeface="Courier"/>
              </a:rPr>
              <a:t>:</a:t>
            </a:r>
            <a:r>
              <a:rPr lang="en-US" sz="1100">
                <a:latin typeface="Courier"/>
              </a:rPr>
              <a:t> StT </a:t>
            </a:r>
            <a:r>
              <a:rPr lang="en-US" sz="1100">
                <a:solidFill>
                  <a:srgbClr val="666666"/>
                </a:solidFill>
                <a:latin typeface="Courier"/>
              </a:rPr>
              <a:t>+</a:t>
            </a:r>
            <a:r>
              <a:rPr lang="en-US" sz="1100">
                <a:latin typeface="Courier"/>
              </a:rPr>
              <a:t> </a:t>
            </a:r>
            <a:r>
              <a:rPr lang="en-US" sz="1100">
                <a:solidFill>
                  <a:srgbClr val="008000"/>
                </a:solidFill>
                <a:latin typeface="Courier"/>
              </a:rPr>
              <a:t>Hash</a:t>
            </a:r>
            <a:r>
              <a:rPr lang="en-US" sz="1100">
                <a:solidFill>
                  <a:srgbClr val="666666"/>
                </a:solidFill>
                <a:latin typeface="Courier"/>
              </a:rPr>
              <a:t>&gt;</a:t>
            </a:r>
            <a:r>
              <a:rPr lang="en-US" sz="1100">
                <a:latin typeface="Courier"/>
              </a:rPr>
              <a:t> </a:t>
            </a:r>
            <a:r>
              <a:rPr lang="en-US" sz="1100">
                <a:solidFill>
                  <a:srgbClr val="666666"/>
                </a:solidFill>
                <a:latin typeface="Courier"/>
              </a:rPr>
              <a:t>{</a:t>
            </a:r>
            <a:br/>
            <a:r>
              <a:rPr lang="en-US" sz="1100">
                <a:latin typeface="Courier"/>
              </a:rPr>
              <a:t>    </a:t>
            </a:r>
            <a:r>
              <a:rPr lang="en-US" sz="1100" b="1">
                <a:solidFill>
                  <a:srgbClr val="007020"/>
                </a:solidFill>
                <a:latin typeface="Courier"/>
              </a:rPr>
              <a:t>pub</a:t>
            </a:r>
            <a:r>
              <a:rPr lang="en-US" sz="1100">
                <a:latin typeface="Courier"/>
              </a:rPr>
              <a:t> V</a:t>
            </a:r>
            <a:r>
              <a:rPr lang="en-US" sz="1100">
                <a:solidFill>
                  <a:srgbClr val="666666"/>
                </a:solidFill>
                <a:latin typeface="Courier"/>
              </a:rPr>
              <a:t>:</a:t>
            </a:r>
            <a:r>
              <a:rPr lang="en-US" sz="1100">
                <a:latin typeface="Courier"/>
              </a:rPr>
              <a:t> SetStEph</a:t>
            </a:r>
            <a:r>
              <a:rPr lang="en-US" sz="1100">
                <a:solidFill>
                  <a:srgbClr val="666666"/>
                </a:solidFill>
                <a:latin typeface="Courier"/>
              </a:rPr>
              <a:t>&lt;</a:t>
            </a:r>
            <a:r>
              <a:rPr lang="en-US" sz="1100">
                <a:latin typeface="Courier"/>
              </a:rPr>
              <a:t>V</a:t>
            </a:r>
            <a:r>
              <a:rPr lang="en-US" sz="1100">
                <a:solidFill>
                  <a:srgbClr val="666666"/>
                </a:solidFill>
                <a:latin typeface="Courier"/>
              </a:rPr>
              <a:t>&gt;,</a:t>
            </a:r>
            <a:br/>
            <a:r>
              <a:rPr lang="en-US" sz="1100">
                <a:latin typeface="Courier"/>
              </a:rPr>
              <a:t>    </a:t>
            </a:r>
            <a:r>
              <a:rPr lang="en-US" sz="1100" b="1">
                <a:solidFill>
                  <a:srgbClr val="007020"/>
                </a:solidFill>
                <a:latin typeface="Courier"/>
              </a:rPr>
              <a:t>pub</a:t>
            </a:r>
            <a:r>
              <a:rPr lang="en-US" sz="1100">
                <a:latin typeface="Courier"/>
              </a:rPr>
              <a:t> E</a:t>
            </a:r>
            <a:r>
              <a:rPr lang="en-US" sz="1100">
                <a:solidFill>
                  <a:srgbClr val="666666"/>
                </a:solidFill>
                <a:latin typeface="Courier"/>
              </a:rPr>
              <a:t>:</a:t>
            </a:r>
            <a:r>
              <a:rPr lang="en-US" sz="1100">
                <a:latin typeface="Courier"/>
              </a:rPr>
              <a:t> SetStEph</a:t>
            </a:r>
            <a:r>
              <a:rPr lang="en-US" sz="1100">
                <a:solidFill>
                  <a:srgbClr val="666666"/>
                </a:solidFill>
                <a:latin typeface="Courier"/>
              </a:rPr>
              <a:t>&lt;</a:t>
            </a:r>
            <a:r>
              <a:rPr lang="en-US" sz="1100">
                <a:latin typeface="Courier"/>
              </a:rPr>
              <a:t>Edge</a:t>
            </a:r>
            <a:r>
              <a:rPr lang="en-US" sz="1100">
                <a:solidFill>
                  <a:srgbClr val="666666"/>
                </a:solidFill>
                <a:latin typeface="Courier"/>
              </a:rPr>
              <a:t>&lt;</a:t>
            </a:r>
            <a:r>
              <a:rPr lang="en-US" sz="1100">
                <a:latin typeface="Courier"/>
              </a:rPr>
              <a:t>V</a:t>
            </a:r>
            <a:r>
              <a:rPr lang="en-US" sz="1100">
                <a:solidFill>
                  <a:srgbClr val="666666"/>
                </a:solidFill>
                <a:latin typeface="Courier"/>
              </a:rPr>
              <a:t>&gt;&gt;,</a:t>
            </a:r>
            <a:br/>
            <a:r>
              <a:rPr lang="en-US" sz="1100">
                <a:solidFill>
                  <a:srgbClr val="666666"/>
                </a:solidFill>
                <a:latin typeface="Courier"/>
              </a:rPr>
              <a:t>}</a:t>
            </a:r>
            <a:br/>
            <a:br/>
            <a:r>
              <a:rPr lang="en-US" sz="1100" b="1">
                <a:solidFill>
                  <a:srgbClr val="007020"/>
                </a:solidFill>
                <a:latin typeface="Courier"/>
              </a:rPr>
              <a:t>impl</a:t>
            </a:r>
            <a:r>
              <a:rPr lang="en-US" sz="1100">
                <a:solidFill>
                  <a:srgbClr val="666666"/>
                </a:solidFill>
                <a:latin typeface="Courier"/>
              </a:rPr>
              <a:t>&lt;</a:t>
            </a:r>
            <a:r>
              <a:rPr lang="en-US" sz="1100">
                <a:latin typeface="Courier"/>
              </a:rPr>
              <a:t>V</a:t>
            </a:r>
            <a:r>
              <a:rPr lang="en-US" sz="1100">
                <a:solidFill>
                  <a:srgbClr val="666666"/>
                </a:solidFill>
                <a:latin typeface="Courier"/>
              </a:rPr>
              <a:t>:</a:t>
            </a:r>
            <a:r>
              <a:rPr lang="en-US" sz="1100">
                <a:latin typeface="Courier"/>
              </a:rPr>
              <a:t> StT </a:t>
            </a:r>
            <a:r>
              <a:rPr lang="en-US" sz="1100">
                <a:solidFill>
                  <a:srgbClr val="666666"/>
                </a:solidFill>
                <a:latin typeface="Courier"/>
              </a:rPr>
              <a:t>+</a:t>
            </a:r>
            <a:r>
              <a:rPr lang="en-US" sz="1100">
                <a:latin typeface="Courier"/>
              </a:rPr>
              <a:t> </a:t>
            </a:r>
            <a:r>
              <a:rPr lang="en-US" sz="1100">
                <a:solidFill>
                  <a:srgbClr val="008000"/>
                </a:solidFill>
                <a:latin typeface="Courier"/>
              </a:rPr>
              <a:t>Hash</a:t>
            </a:r>
            <a:r>
              <a:rPr lang="en-US" sz="1100">
                <a:solidFill>
                  <a:srgbClr val="666666"/>
                </a:solidFill>
                <a:latin typeface="Courier"/>
              </a:rPr>
              <a:t>&gt;</a:t>
            </a:r>
            <a:r>
              <a:rPr lang="en-US" sz="1100">
                <a:latin typeface="Courier"/>
              </a:rPr>
              <a:t> View </a:t>
            </a:r>
            <a:r>
              <a:rPr lang="en-US" sz="1100" b="1">
                <a:solidFill>
                  <a:srgbClr val="007020"/>
                </a:solidFill>
                <a:latin typeface="Courier"/>
              </a:rPr>
              <a:t>for</a:t>
            </a:r>
            <a:r>
              <a:rPr lang="en-US" sz="1100">
                <a:latin typeface="Courier"/>
              </a:rPr>
              <a:t> UnDirGraphStEph</a:t>
            </a:r>
            <a:r>
              <a:rPr lang="en-US" sz="1100">
                <a:solidFill>
                  <a:srgbClr val="666666"/>
                </a:solidFill>
                <a:latin typeface="Courier"/>
              </a:rPr>
              <a:t>&lt;</a:t>
            </a:r>
            <a:r>
              <a:rPr lang="en-US" sz="1100">
                <a:latin typeface="Courier"/>
              </a:rPr>
              <a:t>V</a:t>
            </a:r>
            <a:r>
              <a:rPr lang="en-US" sz="1100">
                <a:solidFill>
                  <a:srgbClr val="666666"/>
                </a:solidFill>
                <a:latin typeface="Courier"/>
              </a:rPr>
              <a:t>&gt;</a:t>
            </a:r>
            <a:r>
              <a:rPr lang="en-US" sz="1100">
                <a:latin typeface="Courier"/>
              </a:rPr>
              <a:t> </a:t>
            </a:r>
            <a:r>
              <a:rPr lang="en-US" sz="1100">
                <a:solidFill>
                  <a:srgbClr val="666666"/>
                </a:solidFill>
                <a:latin typeface="Courier"/>
              </a:rPr>
              <a:t>{</a:t>
            </a:r>
            <a:br/>
            <a:r>
              <a:rPr lang="en-US" sz="1100">
                <a:latin typeface="Courier"/>
              </a:rPr>
              <a:t>    </a:t>
            </a:r>
            <a:r>
              <a:rPr lang="en-US" sz="1100" b="1">
                <a:solidFill>
                  <a:srgbClr val="007020"/>
                </a:solidFill>
                <a:latin typeface="Courier"/>
              </a:rPr>
              <a:t>type</a:t>
            </a:r>
            <a:r>
              <a:rPr lang="en-US" sz="1100">
                <a:latin typeface="Courier"/>
              </a:rPr>
              <a:t> V </a:t>
            </a:r>
            <a:r>
              <a:rPr lang="en-US" sz="1100">
                <a:solidFill>
                  <a:srgbClr val="666666"/>
                </a:solidFill>
                <a:latin typeface="Courier"/>
              </a:rPr>
              <a:t>=</a:t>
            </a:r>
            <a:r>
              <a:rPr lang="en-US" sz="1100">
                <a:latin typeface="Courier"/>
              </a:rPr>
              <a:t> GraphView</a:t>
            </a:r>
            <a:r>
              <a:rPr lang="en-US" sz="1100">
                <a:solidFill>
                  <a:srgbClr val="666666"/>
                </a:solidFill>
                <a:latin typeface="Courier"/>
              </a:rPr>
              <a:t>&lt;&lt;</a:t>
            </a:r>
            <a:r>
              <a:rPr lang="en-US" sz="1100">
                <a:latin typeface="Courier"/>
              </a:rPr>
              <a:t>V </a:t>
            </a:r>
            <a:r>
              <a:rPr lang="en-US" sz="1100" b="1">
                <a:solidFill>
                  <a:srgbClr val="007020"/>
                </a:solidFill>
                <a:latin typeface="Courier"/>
              </a:rPr>
              <a:t>as</a:t>
            </a:r>
            <a:r>
              <a:rPr lang="en-US" sz="1100">
                <a:latin typeface="Courier"/>
              </a:rPr>
              <a:t> View</a:t>
            </a:r>
            <a:r>
              <a:rPr lang="en-US" sz="1100">
                <a:solidFill>
                  <a:srgbClr val="666666"/>
                </a:solidFill>
                <a:latin typeface="Courier"/>
              </a:rPr>
              <a:t>&gt;</a:t>
            </a:r>
            <a:r>
              <a:rPr lang="en-US" sz="1100">
                <a:solidFill>
                  <a:srgbClr val="BC7A00"/>
                </a:solidFill>
                <a:latin typeface="Courier"/>
              </a:rPr>
              <a:t>::</a:t>
            </a:r>
            <a:r>
              <a:rPr lang="en-US" sz="1100">
                <a:latin typeface="Courier"/>
              </a:rPr>
              <a:t>V</a:t>
            </a:r>
            <a:r>
              <a:rPr lang="en-US" sz="1100">
                <a:solidFill>
                  <a:srgbClr val="666666"/>
                </a:solidFill>
                <a:latin typeface="Courier"/>
              </a:rPr>
              <a:t>&gt;;</a:t>
            </a:r>
            <a:br/>
            <a:r>
              <a:rPr lang="en-US" sz="1100">
                <a:latin typeface="Courier"/>
              </a:rPr>
              <a:t>    open spec </a:t>
            </a:r>
            <a:r>
              <a:rPr lang="en-US" sz="1100" b="1">
                <a:solidFill>
                  <a:srgbClr val="007020"/>
                </a:solidFill>
                <a:latin typeface="Courier"/>
              </a:rPr>
              <a:t>fn</a:t>
            </a:r>
            <a:r>
              <a:rPr lang="en-US" sz="1100">
                <a:latin typeface="Courier"/>
              </a:rPr>
              <a:t> view(</a:t>
            </a:r>
            <a:r>
              <a:rPr lang="en-US" sz="1100">
                <a:solidFill>
                  <a:srgbClr val="666666"/>
                </a:solidFill>
                <a:latin typeface="Courier"/>
              </a:rPr>
              <a:t>&amp;</a:t>
            </a:r>
            <a:r>
              <a:rPr lang="en-US" sz="1100" b="1">
                <a:solidFill>
                  <a:srgbClr val="007020"/>
                </a:solidFill>
                <a:latin typeface="Courier"/>
              </a:rPr>
              <a:t>self</a:t>
            </a:r>
            <a:r>
              <a:rPr lang="en-US" sz="1100">
                <a:latin typeface="Courier"/>
              </a:rPr>
              <a:t>) </a:t>
            </a:r>
            <a:r>
              <a:rPr lang="en-US" sz="1100">
                <a:solidFill>
                  <a:srgbClr val="666666"/>
                </a:solidFill>
                <a:latin typeface="Courier"/>
              </a:rPr>
              <a:t>-&gt;</a:t>
            </a:r>
            <a:r>
              <a:rPr lang="en-US" sz="1100">
                <a:latin typeface="Courier"/>
              </a:rPr>
              <a:t> </a:t>
            </a:r>
            <a:r>
              <a:rPr lang="en-US" sz="1100">
                <a:solidFill>
                  <a:srgbClr val="902000"/>
                </a:solidFill>
                <a:latin typeface="Courier"/>
              </a:rPr>
              <a:t>Self</a:t>
            </a:r>
            <a:r>
              <a:rPr lang="en-US" sz="1100">
                <a:solidFill>
                  <a:srgbClr val="BC7A00"/>
                </a:solidFill>
                <a:latin typeface="Courier"/>
              </a:rPr>
              <a:t>::</a:t>
            </a:r>
            <a:r>
              <a:rPr lang="en-US" sz="1100">
                <a:latin typeface="Courier"/>
              </a:rPr>
              <a:t>V </a:t>
            </a:r>
            <a:r>
              <a:rPr lang="en-US" sz="1100">
                <a:solidFill>
                  <a:srgbClr val="666666"/>
                </a:solidFill>
                <a:latin typeface="Courier"/>
              </a:rPr>
              <a:t>{</a:t>
            </a:r>
            <a:br/>
            <a:r>
              <a:rPr lang="en-US" sz="1100">
                <a:latin typeface="Courier"/>
              </a:rPr>
              <a:t>        GraphView </a:t>
            </a:r>
            <a:r>
              <a:rPr lang="en-US" sz="1100">
                <a:solidFill>
                  <a:srgbClr val="666666"/>
                </a:solidFill>
                <a:latin typeface="Courier"/>
              </a:rPr>
              <a:t>{</a:t>
            </a:r>
            <a:r>
              <a:rPr lang="en-US" sz="1100">
                <a:latin typeface="Courier"/>
              </a:rPr>
              <a:t> V</a:t>
            </a:r>
            <a:r>
              <a:rPr lang="en-US" sz="1100">
                <a:solidFill>
                  <a:srgbClr val="666666"/>
                </a:solidFill>
                <a:latin typeface="Courier"/>
              </a:rPr>
              <a:t>:</a:t>
            </a:r>
            <a:r>
              <a:rPr lang="en-US" sz="1100">
                <a:latin typeface="Courier"/>
              </a:rPr>
              <a:t> </a:t>
            </a:r>
            <a:r>
              <a:rPr lang="en-US" sz="1100" b="1">
                <a:solidFill>
                  <a:srgbClr val="007020"/>
                </a:solidFill>
                <a:latin typeface="Courier"/>
              </a:rPr>
              <a:t>self</a:t>
            </a:r>
            <a:r>
              <a:rPr lang="en-US" sz="1100">
                <a:solidFill>
                  <a:srgbClr val="666666"/>
                </a:solidFill>
                <a:latin typeface="Courier"/>
              </a:rPr>
              <a:t>.</a:t>
            </a:r>
            <a:r>
              <a:rPr lang="en-US" sz="1100">
                <a:latin typeface="Courier"/>
              </a:rPr>
              <a:t>V</a:t>
            </a:r>
            <a:r>
              <a:rPr lang="en-US" sz="1100">
                <a:solidFill>
                  <a:srgbClr val="666666"/>
                </a:solidFill>
                <a:latin typeface="Courier"/>
              </a:rPr>
              <a:t>@,</a:t>
            </a:r>
            <a:r>
              <a:rPr lang="en-US" sz="1100">
                <a:latin typeface="Courier"/>
              </a:rPr>
              <a:t> A</a:t>
            </a:r>
            <a:r>
              <a:rPr lang="en-US" sz="1100">
                <a:solidFill>
                  <a:srgbClr val="666666"/>
                </a:solidFill>
                <a:latin typeface="Courier"/>
              </a:rPr>
              <a:t>:</a:t>
            </a:r>
            <a:r>
              <a:rPr lang="en-US" sz="1100">
                <a:latin typeface="Courier"/>
              </a:rPr>
              <a:t> </a:t>
            </a:r>
            <a:r>
              <a:rPr lang="en-US" sz="1100" b="1">
                <a:solidFill>
                  <a:srgbClr val="007020"/>
                </a:solidFill>
                <a:latin typeface="Courier"/>
              </a:rPr>
              <a:t>self</a:t>
            </a:r>
            <a:r>
              <a:rPr lang="en-US" sz="1100">
                <a:solidFill>
                  <a:srgbClr val="666666"/>
                </a:solidFill>
                <a:latin typeface="Courier"/>
              </a:rPr>
              <a:t>.</a:t>
            </a:r>
            <a:r>
              <a:rPr lang="en-US" sz="1100">
                <a:latin typeface="Courier"/>
              </a:rPr>
              <a:t>E</a:t>
            </a:r>
            <a:r>
              <a:rPr lang="en-US" sz="1100">
                <a:solidFill>
                  <a:srgbClr val="666666"/>
                </a:solidFill>
                <a:latin typeface="Courier"/>
              </a:rPr>
              <a:t>@</a:t>
            </a:r>
            <a:r>
              <a:rPr lang="en-US" sz="1100">
                <a:latin typeface="Courier"/>
              </a:rPr>
              <a:t> </a:t>
            </a:r>
            <a:r>
              <a:rPr lang="en-US" sz="1100">
                <a:solidFill>
                  <a:srgbClr val="666666"/>
                </a:solidFill>
                <a:latin typeface="Courier"/>
              </a:rPr>
              <a:t>}</a:t>
            </a:r>
            <a:br/>
            <a:r>
              <a:rPr lang="en-US" sz="1100">
                <a:latin typeface="Courier"/>
              </a:rPr>
              <a:t>    </a:t>
            </a:r>
            <a:r>
              <a:rPr lang="en-US" sz="1100">
                <a:solidFill>
                  <a:srgbClr val="666666"/>
                </a:solidFill>
                <a:latin typeface="Courier"/>
              </a:rPr>
              <a:t>}</a:t>
            </a:r>
            <a:br/>
            <a:r>
              <a:rPr lang="en-US" sz="1100">
                <a:solidFill>
                  <a:srgbClr val="666666"/>
                </a:solidFill>
                <a:latin typeface="Courier"/>
              </a:rPr>
              <a:t>}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 lang="en-US" sz="3200"/>
              <a:t>UnDirGraphStEph — Trait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 lang="en-US" sz="1100" b="1">
                <a:solidFill>
                  <a:srgbClr val="007020"/>
                </a:solidFill>
                <a:latin typeface="Courier"/>
              </a:rPr>
              <a:t>pub</a:t>
            </a:r>
            <a:r>
              <a:rPr lang="en-US" sz="1100">
                <a:latin typeface="Courier"/>
              </a:rPr>
              <a:t> </a:t>
            </a:r>
            <a:r>
              <a:rPr lang="en-US" sz="1100" b="1">
                <a:solidFill>
                  <a:srgbClr val="007020"/>
                </a:solidFill>
                <a:latin typeface="Courier"/>
              </a:rPr>
              <a:t>trait</a:t>
            </a:r>
            <a:r>
              <a:rPr lang="en-US" sz="1100">
                <a:latin typeface="Courier"/>
              </a:rPr>
              <a:t> UnDirGraphStEphTrait</a:t>
            </a:r>
            <a:r>
              <a:rPr lang="en-US" sz="1100">
                <a:solidFill>
                  <a:srgbClr val="666666"/>
                </a:solidFill>
                <a:latin typeface="Courier"/>
              </a:rPr>
              <a:t>&lt;</a:t>
            </a:r>
            <a:r>
              <a:rPr lang="en-US" sz="1100">
                <a:latin typeface="Courier"/>
              </a:rPr>
              <a:t>V</a:t>
            </a:r>
            <a:r>
              <a:rPr lang="en-US" sz="1100">
                <a:solidFill>
                  <a:srgbClr val="666666"/>
                </a:solidFill>
                <a:latin typeface="Courier"/>
              </a:rPr>
              <a:t>:</a:t>
            </a:r>
            <a:r>
              <a:rPr lang="en-US" sz="1100">
                <a:latin typeface="Courier"/>
              </a:rPr>
              <a:t> StT </a:t>
            </a:r>
            <a:r>
              <a:rPr lang="en-US" sz="1100">
                <a:solidFill>
                  <a:srgbClr val="666666"/>
                </a:solidFill>
                <a:latin typeface="Courier"/>
              </a:rPr>
              <a:t>+</a:t>
            </a:r>
            <a:r>
              <a:rPr lang="en-US" sz="1100">
                <a:latin typeface="Courier"/>
              </a:rPr>
              <a:t> </a:t>
            </a:r>
            <a:r>
              <a:rPr lang="en-US" sz="1100">
                <a:solidFill>
                  <a:srgbClr val="008000"/>
                </a:solidFill>
                <a:latin typeface="Courier"/>
              </a:rPr>
              <a:t>Hash</a:t>
            </a:r>
            <a:r>
              <a:rPr lang="en-US" sz="1100">
                <a:solidFill>
                  <a:srgbClr val="666666"/>
                </a:solidFill>
                <a:latin typeface="Courier"/>
              </a:rPr>
              <a:t>&gt;:</a:t>
            </a:r>
            <a:br/>
            <a:r>
              <a:rPr lang="en-US" sz="1100">
                <a:latin typeface="Courier"/>
              </a:rPr>
              <a:t>    View</a:t>
            </a:r>
            <a:r>
              <a:rPr lang="en-US" sz="1100">
                <a:solidFill>
                  <a:srgbClr val="666666"/>
                </a:solidFill>
                <a:latin typeface="Courier"/>
              </a:rPr>
              <a:t>&lt;</a:t>
            </a:r>
            <a:r>
              <a:rPr lang="en-US" sz="1100">
                <a:latin typeface="Courier"/>
              </a:rPr>
              <a:t>V </a:t>
            </a:r>
            <a:r>
              <a:rPr lang="en-US" sz="1100">
                <a:solidFill>
                  <a:srgbClr val="666666"/>
                </a:solidFill>
                <a:latin typeface="Courier"/>
              </a:rPr>
              <a:t>=</a:t>
            </a:r>
            <a:r>
              <a:rPr lang="en-US" sz="1100">
                <a:latin typeface="Courier"/>
              </a:rPr>
              <a:t> GraphView</a:t>
            </a:r>
            <a:r>
              <a:rPr lang="en-US" sz="1100">
                <a:solidFill>
                  <a:srgbClr val="666666"/>
                </a:solidFill>
                <a:latin typeface="Courier"/>
              </a:rPr>
              <a:t>&lt;&lt;</a:t>
            </a:r>
            <a:r>
              <a:rPr lang="en-US" sz="1100">
                <a:latin typeface="Courier"/>
              </a:rPr>
              <a:t>V </a:t>
            </a:r>
            <a:r>
              <a:rPr lang="en-US" sz="1100" b="1">
                <a:solidFill>
                  <a:srgbClr val="007020"/>
                </a:solidFill>
                <a:latin typeface="Courier"/>
              </a:rPr>
              <a:t>as</a:t>
            </a:r>
            <a:r>
              <a:rPr lang="en-US" sz="1100">
                <a:latin typeface="Courier"/>
              </a:rPr>
              <a:t> View</a:t>
            </a:r>
            <a:r>
              <a:rPr lang="en-US" sz="1100">
                <a:solidFill>
                  <a:srgbClr val="666666"/>
                </a:solidFill>
                <a:latin typeface="Courier"/>
              </a:rPr>
              <a:t>&gt;</a:t>
            </a:r>
            <a:r>
              <a:rPr lang="en-US" sz="1100">
                <a:solidFill>
                  <a:srgbClr val="BC7A00"/>
                </a:solidFill>
                <a:latin typeface="Courier"/>
              </a:rPr>
              <a:t>::</a:t>
            </a:r>
            <a:r>
              <a:rPr lang="en-US" sz="1100">
                <a:latin typeface="Courier"/>
              </a:rPr>
              <a:t>V</a:t>
            </a:r>
            <a:r>
              <a:rPr lang="en-US" sz="1100">
                <a:solidFill>
                  <a:srgbClr val="666666"/>
                </a:solidFill>
                <a:latin typeface="Courier"/>
              </a:rPr>
              <a:t>&gt;&gt;</a:t>
            </a:r>
            <a:r>
              <a:rPr lang="en-US" sz="1100">
                <a:latin typeface="Courier"/>
              </a:rPr>
              <a:t> </a:t>
            </a:r>
            <a:r>
              <a:rPr lang="en-US" sz="1100">
                <a:solidFill>
                  <a:srgbClr val="666666"/>
                </a:solidFill>
                <a:latin typeface="Courier"/>
              </a:rPr>
              <a:t>+</a:t>
            </a:r>
            <a:r>
              <a:rPr lang="en-US" sz="1100">
                <a:latin typeface="Courier"/>
              </a:rPr>
              <a:t> </a:t>
            </a:r>
            <a:r>
              <a:rPr lang="en-US" sz="1100">
                <a:solidFill>
                  <a:srgbClr val="008000"/>
                </a:solidFill>
                <a:latin typeface="Courier"/>
              </a:rPr>
              <a:t>Sized</a:t>
            </a:r>
            <a:br/>
            <a:r>
              <a:rPr lang="en-US" sz="1100">
                <a:solidFill>
                  <a:srgbClr val="666666"/>
                </a:solidFill>
                <a:latin typeface="Courier"/>
              </a:rPr>
              <a:t>{</a:t>
            </a:r>
            <a:br/>
            <a:r>
              <a:rPr lang="en-US" sz="1100">
                <a:latin typeface="Courier"/>
              </a:rPr>
              <a:t>    open spec </a:t>
            </a:r>
            <a:r>
              <a:rPr lang="en-US" sz="1100" b="1">
                <a:solidFill>
                  <a:srgbClr val="007020"/>
                </a:solidFill>
                <a:latin typeface="Courier"/>
              </a:rPr>
              <a:t>fn</a:t>
            </a:r>
            <a:r>
              <a:rPr lang="en-US" sz="1100">
                <a:latin typeface="Courier"/>
              </a:rPr>
              <a:t> spec_neighborhood(</a:t>
            </a:r>
            <a:r>
              <a:rPr lang="en-US" sz="1100">
                <a:solidFill>
                  <a:srgbClr val="666666"/>
                </a:solidFill>
                <a:latin typeface="Courier"/>
              </a:rPr>
              <a:t>&amp;</a:t>
            </a:r>
            <a:r>
              <a:rPr lang="en-US" sz="1100" b="1">
                <a:solidFill>
                  <a:srgbClr val="007020"/>
                </a:solidFill>
                <a:latin typeface="Courier"/>
              </a:rPr>
              <a:t>self</a:t>
            </a:r>
            <a:r>
              <a:rPr lang="en-US" sz="1100">
                <a:solidFill>
                  <a:srgbClr val="666666"/>
                </a:solidFill>
                <a:latin typeface="Courier"/>
              </a:rPr>
              <a:t>,</a:t>
            </a:r>
            <a:r>
              <a:rPr lang="en-US" sz="1100">
                <a:latin typeface="Courier"/>
              </a:rPr>
              <a:t> v</a:t>
            </a:r>
            <a:r>
              <a:rPr lang="en-US" sz="1100">
                <a:solidFill>
                  <a:srgbClr val="666666"/>
                </a:solidFill>
                <a:latin typeface="Courier"/>
              </a:rPr>
              <a:t>:</a:t>
            </a:r>
            <a:r>
              <a:rPr lang="en-US" sz="1100">
                <a:latin typeface="Courier"/>
              </a:rPr>
              <a:t> </a:t>
            </a:r>
            <a:r>
              <a:rPr lang="en-US" sz="1100">
                <a:solidFill>
                  <a:srgbClr val="BC7A00"/>
                </a:solidFill>
                <a:latin typeface="Courier"/>
              </a:rPr>
              <a:t>V::</a:t>
            </a:r>
            <a:r>
              <a:rPr lang="en-US" sz="1100">
                <a:latin typeface="Courier"/>
              </a:rPr>
              <a:t>V) </a:t>
            </a:r>
            <a:r>
              <a:rPr lang="en-US" sz="1100">
                <a:solidFill>
                  <a:srgbClr val="666666"/>
                </a:solidFill>
                <a:latin typeface="Courier"/>
              </a:rPr>
              <a:t>-&gt;</a:t>
            </a:r>
            <a:r>
              <a:rPr lang="en-US" sz="1100">
                <a:latin typeface="Courier"/>
              </a:rPr>
              <a:t> Set</a:t>
            </a:r>
            <a:r>
              <a:rPr lang="en-US" sz="1100">
                <a:solidFill>
                  <a:srgbClr val="666666"/>
                </a:solidFill>
                <a:latin typeface="Courier"/>
              </a:rPr>
              <a:t>&lt;</a:t>
            </a:r>
            <a:r>
              <a:rPr lang="en-US" sz="1100">
                <a:solidFill>
                  <a:srgbClr val="BC7A00"/>
                </a:solidFill>
                <a:latin typeface="Courier"/>
              </a:rPr>
              <a:t>V::</a:t>
            </a:r>
            <a:r>
              <a:rPr lang="en-US" sz="1100">
                <a:latin typeface="Courier"/>
              </a:rPr>
              <a:t>V</a:t>
            </a:r>
            <a:r>
              <a:rPr lang="en-US" sz="1100">
                <a:solidFill>
                  <a:srgbClr val="666666"/>
                </a:solidFill>
                <a:latin typeface="Courier"/>
              </a:rPr>
              <a:t>&gt;</a:t>
            </a:r>
            <a:br/>
            <a:r>
              <a:rPr lang="en-US" sz="1100">
                <a:latin typeface="Courier"/>
              </a:rPr>
              <a:t>        recommends spec_graphview_wf(self</a:t>
            </a:r>
            <a:r>
              <a:rPr lang="en-US" sz="1100">
                <a:solidFill>
                  <a:srgbClr val="666666"/>
                </a:solidFill>
                <a:latin typeface="Courier"/>
              </a:rPr>
              <a:t>@</a:t>
            </a:r>
            <a:r>
              <a:rPr lang="en-US" sz="1100">
                <a:latin typeface="Courier"/>
              </a:rPr>
              <a:t>)</a:t>
            </a:r>
            <a:r>
              <a:rPr lang="en-US" sz="1100">
                <a:solidFill>
                  <a:srgbClr val="666666"/>
                </a:solidFill>
                <a:latin typeface="Courier"/>
              </a:rPr>
              <a:t>,</a:t>
            </a:r>
            <a:r>
              <a:rPr lang="en-US" sz="1100">
                <a:latin typeface="Courier"/>
              </a:rPr>
              <a:t> self</a:t>
            </a:r>
            <a:r>
              <a:rPr lang="en-US" sz="1100">
                <a:solidFill>
                  <a:srgbClr val="666666"/>
                </a:solidFill>
                <a:latin typeface="Courier"/>
              </a:rPr>
              <a:t>@.</a:t>
            </a:r>
            <a:r>
              <a:rPr lang="en-US" sz="1100">
                <a:latin typeface="Courier"/>
              </a:rPr>
              <a:t>V</a:t>
            </a:r>
            <a:r>
              <a:rPr lang="en-US" sz="1100">
                <a:solidFill>
                  <a:srgbClr val="666666"/>
                </a:solidFill>
                <a:latin typeface="Courier"/>
              </a:rPr>
              <a:t>.</a:t>
            </a:r>
            <a:r>
              <a:rPr lang="en-US" sz="1100">
                <a:latin typeface="Courier"/>
              </a:rPr>
              <a:t>contains(v)</a:t>
            </a:r>
            <a:br/>
            <a:r>
              <a:rPr lang="en-US" sz="1100">
                <a:latin typeface="Courier"/>
              </a:rPr>
              <a:t>    </a:t>
            </a:r>
            <a:r>
              <a:rPr lang="en-US" sz="1100">
                <a:solidFill>
                  <a:srgbClr val="666666"/>
                </a:solidFill>
                <a:latin typeface="Courier"/>
              </a:rPr>
              <a:t>{</a:t>
            </a:r>
            <a:r>
              <a:rPr lang="en-US" sz="1100">
                <a:latin typeface="Courier"/>
              </a:rPr>
              <a:t> </a:t>
            </a:r>
            <a:r>
              <a:rPr lang="en-US" sz="1100">
                <a:solidFill>
                  <a:srgbClr val="BC7A00"/>
                </a:solidFill>
                <a:latin typeface="Courier"/>
              </a:rPr>
              <a:t>Set::</a:t>
            </a:r>
            <a:r>
              <a:rPr lang="en-US" sz="1100">
                <a:latin typeface="Courier"/>
              </a:rPr>
              <a:t>new(</a:t>
            </a:r>
            <a:r>
              <a:rPr lang="en-US" sz="1100">
                <a:solidFill>
                  <a:srgbClr val="666666"/>
                </a:solidFill>
                <a:latin typeface="Courier"/>
              </a:rPr>
              <a:t>|</a:t>
            </a:r>
            <a:r>
              <a:rPr lang="en-US" sz="1100">
                <a:latin typeface="Courier"/>
              </a:rPr>
              <a:t>w</a:t>
            </a:r>
            <a:r>
              <a:rPr lang="en-US" sz="1100">
                <a:solidFill>
                  <a:srgbClr val="666666"/>
                </a:solidFill>
                <a:latin typeface="Courier"/>
              </a:rPr>
              <a:t>|</a:t>
            </a:r>
            <a:r>
              <a:rPr lang="en-US" sz="1100">
                <a:latin typeface="Courier"/>
              </a:rPr>
              <a:t> self</a:t>
            </a:r>
            <a:r>
              <a:rPr lang="en-US" sz="1100">
                <a:solidFill>
                  <a:srgbClr val="666666"/>
                </a:solidFill>
                <a:latin typeface="Courier"/>
              </a:rPr>
              <a:t>@.</a:t>
            </a:r>
            <a:r>
              <a:rPr lang="en-US" sz="1100">
                <a:latin typeface="Courier"/>
              </a:rPr>
              <a:t>A</a:t>
            </a:r>
            <a:r>
              <a:rPr lang="en-US" sz="1100">
                <a:solidFill>
                  <a:srgbClr val="666666"/>
                </a:solidFill>
                <a:latin typeface="Courier"/>
              </a:rPr>
              <a:t>.</a:t>
            </a:r>
            <a:r>
              <a:rPr lang="en-US" sz="1100">
                <a:latin typeface="Courier"/>
              </a:rPr>
              <a:t>contains((v</a:t>
            </a:r>
            <a:r>
              <a:rPr lang="en-US" sz="1100">
                <a:solidFill>
                  <a:srgbClr val="666666"/>
                </a:solidFill>
                <a:latin typeface="Courier"/>
              </a:rPr>
              <a:t>,</a:t>
            </a:r>
            <a:r>
              <a:rPr lang="en-US" sz="1100">
                <a:latin typeface="Courier"/>
              </a:rPr>
              <a:t>w)) </a:t>
            </a:r>
            <a:r>
              <a:rPr lang="en-US" sz="1100">
                <a:solidFill>
                  <a:srgbClr val="666666"/>
                </a:solidFill>
                <a:latin typeface="Courier"/>
              </a:rPr>
              <a:t>||</a:t>
            </a:r>
            <a:r>
              <a:rPr lang="en-US" sz="1100">
                <a:latin typeface="Courier"/>
              </a:rPr>
              <a:t> self</a:t>
            </a:r>
            <a:r>
              <a:rPr lang="en-US" sz="1100">
                <a:solidFill>
                  <a:srgbClr val="666666"/>
                </a:solidFill>
                <a:latin typeface="Courier"/>
              </a:rPr>
              <a:t>@.</a:t>
            </a:r>
            <a:r>
              <a:rPr lang="en-US" sz="1100">
                <a:latin typeface="Courier"/>
              </a:rPr>
              <a:t>A</a:t>
            </a:r>
            <a:r>
              <a:rPr lang="en-US" sz="1100">
                <a:solidFill>
                  <a:srgbClr val="666666"/>
                </a:solidFill>
                <a:latin typeface="Courier"/>
              </a:rPr>
              <a:t>.</a:t>
            </a:r>
            <a:r>
              <a:rPr lang="en-US" sz="1100">
                <a:latin typeface="Courier"/>
              </a:rPr>
              <a:t>contains((w</a:t>
            </a:r>
            <a:r>
              <a:rPr lang="en-US" sz="1100">
                <a:solidFill>
                  <a:srgbClr val="666666"/>
                </a:solidFill>
                <a:latin typeface="Courier"/>
              </a:rPr>
              <a:t>,</a:t>
            </a:r>
            <a:r>
              <a:rPr lang="en-US" sz="1100">
                <a:latin typeface="Courier"/>
              </a:rPr>
              <a:t>v))) </a:t>
            </a:r>
            <a:r>
              <a:rPr lang="en-US" sz="1100">
                <a:solidFill>
                  <a:srgbClr val="666666"/>
                </a:solidFill>
                <a:latin typeface="Courier"/>
              </a:rPr>
              <a:t>}</a:t>
            </a:r>
            <a:br/>
            <a:br/>
            <a:r>
              <a:rPr lang="en-US" sz="1100">
                <a:latin typeface="Courier"/>
              </a:rPr>
              <a:t>    </a:t>
            </a:r>
            <a:r>
              <a:rPr lang="en-US" sz="1100" b="1">
                <a:solidFill>
                  <a:srgbClr val="007020"/>
                </a:solidFill>
                <a:latin typeface="Courier"/>
              </a:rPr>
              <a:t>fn</a:t>
            </a:r>
            <a:r>
              <a:rPr lang="en-US" sz="1100">
                <a:latin typeface="Courier"/>
              </a:rPr>
              <a:t> neighborhood(</a:t>
            </a:r>
            <a:r>
              <a:rPr lang="en-US" sz="1100">
                <a:solidFill>
                  <a:srgbClr val="666666"/>
                </a:solidFill>
                <a:latin typeface="Courier"/>
              </a:rPr>
              <a:t>&amp;</a:t>
            </a:r>
            <a:r>
              <a:rPr lang="en-US" sz="1100" b="1">
                <a:solidFill>
                  <a:srgbClr val="007020"/>
                </a:solidFill>
                <a:latin typeface="Courier"/>
              </a:rPr>
              <a:t>self</a:t>
            </a:r>
            <a:r>
              <a:rPr lang="en-US" sz="1100">
                <a:solidFill>
                  <a:srgbClr val="666666"/>
                </a:solidFill>
                <a:latin typeface="Courier"/>
              </a:rPr>
              <a:t>,</a:t>
            </a:r>
            <a:r>
              <a:rPr lang="en-US" sz="1100">
                <a:latin typeface="Courier"/>
              </a:rPr>
              <a:t> v</a:t>
            </a:r>
            <a:r>
              <a:rPr lang="en-US" sz="1100">
                <a:solidFill>
                  <a:srgbClr val="666666"/>
                </a:solidFill>
                <a:latin typeface="Courier"/>
              </a:rPr>
              <a:t>:</a:t>
            </a:r>
            <a:r>
              <a:rPr lang="en-US" sz="1100">
                <a:latin typeface="Courier"/>
              </a:rPr>
              <a:t> </a:t>
            </a:r>
            <a:r>
              <a:rPr lang="en-US" sz="1100">
                <a:solidFill>
                  <a:srgbClr val="666666"/>
                </a:solidFill>
                <a:latin typeface="Courier"/>
              </a:rPr>
              <a:t>&amp;</a:t>
            </a:r>
            <a:r>
              <a:rPr lang="en-US" sz="1100">
                <a:latin typeface="Courier"/>
              </a:rPr>
              <a:t>V) </a:t>
            </a:r>
            <a:r>
              <a:rPr lang="en-US" sz="1100">
                <a:solidFill>
                  <a:srgbClr val="666666"/>
                </a:solidFill>
                <a:latin typeface="Courier"/>
              </a:rPr>
              <a:t>-&gt;</a:t>
            </a:r>
            <a:r>
              <a:rPr lang="en-US" sz="1100">
                <a:latin typeface="Courier"/>
              </a:rPr>
              <a:t> (nbrs</a:t>
            </a:r>
            <a:r>
              <a:rPr lang="en-US" sz="1100">
                <a:solidFill>
                  <a:srgbClr val="666666"/>
                </a:solidFill>
                <a:latin typeface="Courier"/>
              </a:rPr>
              <a:t>:</a:t>
            </a:r>
            <a:r>
              <a:rPr lang="en-US" sz="1100">
                <a:latin typeface="Courier"/>
              </a:rPr>
              <a:t> SetStEph</a:t>
            </a:r>
            <a:r>
              <a:rPr lang="en-US" sz="1100">
                <a:solidFill>
                  <a:srgbClr val="666666"/>
                </a:solidFill>
                <a:latin typeface="Courier"/>
              </a:rPr>
              <a:t>&lt;</a:t>
            </a:r>
            <a:r>
              <a:rPr lang="en-US" sz="1100">
                <a:latin typeface="Courier"/>
              </a:rPr>
              <a:t>V</a:t>
            </a:r>
            <a:r>
              <a:rPr lang="en-US" sz="1100">
                <a:solidFill>
                  <a:srgbClr val="666666"/>
                </a:solidFill>
                <a:latin typeface="Courier"/>
              </a:rPr>
              <a:t>&gt;</a:t>
            </a:r>
            <a:r>
              <a:rPr lang="en-US" sz="1100">
                <a:latin typeface="Courier"/>
              </a:rPr>
              <a:t>)</a:t>
            </a:r>
            <a:br/>
            <a:r>
              <a:rPr lang="en-US" sz="1100">
                <a:latin typeface="Courier"/>
              </a:rPr>
              <a:t>        requires spec_graphview_wf(self</a:t>
            </a:r>
            <a:r>
              <a:rPr lang="en-US" sz="1100">
                <a:solidFill>
                  <a:srgbClr val="666666"/>
                </a:solidFill>
                <a:latin typeface="Courier"/>
              </a:rPr>
              <a:t>@</a:t>
            </a:r>
            <a:r>
              <a:rPr lang="en-US" sz="1100">
                <a:latin typeface="Courier"/>
              </a:rPr>
              <a:t>)</a:t>
            </a:r>
            <a:r>
              <a:rPr lang="en-US" sz="1100">
                <a:solidFill>
                  <a:srgbClr val="666666"/>
                </a:solidFill>
                <a:latin typeface="Courier"/>
              </a:rPr>
              <a:t>,</a:t>
            </a:r>
            <a:r>
              <a:rPr lang="en-US" sz="1100">
                <a:latin typeface="Courier"/>
              </a:rPr>
              <a:t> self</a:t>
            </a:r>
            <a:r>
              <a:rPr lang="en-US" sz="1100">
                <a:solidFill>
                  <a:srgbClr val="666666"/>
                </a:solidFill>
                <a:latin typeface="Courier"/>
              </a:rPr>
              <a:t>@.</a:t>
            </a:r>
            <a:r>
              <a:rPr lang="en-US" sz="1100">
                <a:latin typeface="Courier"/>
              </a:rPr>
              <a:t>V</a:t>
            </a:r>
            <a:r>
              <a:rPr lang="en-US" sz="1100">
                <a:solidFill>
                  <a:srgbClr val="666666"/>
                </a:solidFill>
                <a:latin typeface="Courier"/>
              </a:rPr>
              <a:t>.</a:t>
            </a:r>
            <a:r>
              <a:rPr lang="en-US" sz="1100">
                <a:latin typeface="Courier"/>
              </a:rPr>
              <a:t>contains(v</a:t>
            </a:r>
            <a:r>
              <a:rPr lang="en-US" sz="1100">
                <a:solidFill>
                  <a:srgbClr val="666666"/>
                </a:solidFill>
                <a:latin typeface="Courier"/>
              </a:rPr>
              <a:t>@</a:t>
            </a:r>
            <a:r>
              <a:rPr lang="en-US" sz="1100">
                <a:latin typeface="Courier"/>
              </a:rPr>
              <a:t>)</a:t>
            </a:r>
            <a:r>
              <a:rPr lang="en-US" sz="1100">
                <a:solidFill>
                  <a:srgbClr val="666666"/>
                </a:solidFill>
                <a:latin typeface="Courier"/>
              </a:rPr>
              <a:t>,</a:t>
            </a:r>
            <a:r>
              <a:rPr lang="en-US" sz="1100">
                <a:latin typeface="Courier"/>
              </a:rPr>
              <a:t> </a:t>
            </a:r>
            <a:r>
              <a:rPr lang="en-US" sz="1100">
                <a:solidFill>
                  <a:srgbClr val="666666"/>
                </a:solidFill>
                <a:latin typeface="Courier"/>
              </a:rPr>
              <a:t>...</a:t>
            </a:r>
            <a:br/>
            <a:r>
              <a:rPr lang="en-US" sz="1100">
                <a:latin typeface="Courier"/>
              </a:rPr>
              <a:t>        ensures  nbrs</a:t>
            </a:r>
            <a:r>
              <a:rPr lang="en-US" sz="1100">
                <a:solidFill>
                  <a:srgbClr val="666666"/>
                </a:solidFill>
                <a:latin typeface="Courier"/>
              </a:rPr>
              <a:t>@</a:t>
            </a:r>
            <a:r>
              <a:rPr lang="en-US" sz="1100">
                <a:latin typeface="Courier"/>
              </a:rPr>
              <a:t> </a:t>
            </a:r>
            <a:r>
              <a:rPr lang="en-US" sz="1100">
                <a:solidFill>
                  <a:srgbClr val="666666"/>
                </a:solidFill>
                <a:latin typeface="Courier"/>
              </a:rPr>
              <a:t>==</a:t>
            </a:r>
            <a:r>
              <a:rPr lang="en-US" sz="1100">
                <a:latin typeface="Courier"/>
              </a:rPr>
              <a:t> </a:t>
            </a:r>
            <a:r>
              <a:rPr lang="en-US" sz="1100" b="1">
                <a:solidFill>
                  <a:srgbClr val="007020"/>
                </a:solidFill>
                <a:latin typeface="Courier"/>
              </a:rPr>
              <a:t>self</a:t>
            </a:r>
            <a:r>
              <a:rPr lang="en-US" sz="1100">
                <a:solidFill>
                  <a:srgbClr val="666666"/>
                </a:solidFill>
                <a:latin typeface="Courier"/>
              </a:rPr>
              <a:t>.</a:t>
            </a:r>
            <a:r>
              <a:rPr lang="en-US" sz="1100">
                <a:latin typeface="Courier"/>
              </a:rPr>
              <a:t>spec_neighborhood(v</a:t>
            </a:r>
            <a:r>
              <a:rPr lang="en-US" sz="1100">
                <a:solidFill>
                  <a:srgbClr val="666666"/>
                </a:solidFill>
                <a:latin typeface="Courier"/>
              </a:rPr>
              <a:t>@</a:t>
            </a:r>
            <a:r>
              <a:rPr lang="en-US" sz="1100">
                <a:latin typeface="Courier"/>
              </a:rPr>
              <a:t>)</a:t>
            </a:r>
            <a:r>
              <a:rPr lang="en-US" sz="1100">
                <a:solidFill>
                  <a:srgbClr val="666666"/>
                </a:solidFill>
                <a:latin typeface="Courier"/>
              </a:rPr>
              <a:t>,</a:t>
            </a:r>
            <a:r>
              <a:rPr lang="en-US" sz="1100">
                <a:latin typeface="Courier"/>
              </a:rPr>
              <a:t> nbrs</a:t>
            </a:r>
            <a:r>
              <a:rPr lang="en-US" sz="1100">
                <a:solidFill>
                  <a:srgbClr val="666666"/>
                </a:solidFill>
                <a:latin typeface="Courier"/>
              </a:rPr>
              <a:t>@</a:t>
            </a:r>
            <a:r>
              <a:rPr lang="en-US" sz="1100">
                <a:latin typeface="Courier"/>
              </a:rPr>
              <a:t> </a:t>
            </a:r>
            <a:r>
              <a:rPr lang="en-US" sz="1100">
                <a:solidFill>
                  <a:srgbClr val="666666"/>
                </a:solidFill>
                <a:latin typeface="Courier"/>
              </a:rPr>
              <a:t>&lt;=</a:t>
            </a:r>
            <a:r>
              <a:rPr lang="en-US" sz="1100">
                <a:latin typeface="Courier"/>
              </a:rPr>
              <a:t> self</a:t>
            </a:r>
            <a:r>
              <a:rPr lang="en-US" sz="1100">
                <a:solidFill>
                  <a:srgbClr val="666666"/>
                </a:solidFill>
                <a:latin typeface="Courier"/>
              </a:rPr>
              <a:t>@.</a:t>
            </a:r>
            <a:r>
              <a:rPr lang="en-US" sz="1100">
                <a:latin typeface="Courier"/>
              </a:rPr>
              <a:t>V</a:t>
            </a:r>
            <a:r>
              <a:rPr lang="en-US" sz="1100">
                <a:solidFill>
                  <a:srgbClr val="666666"/>
                </a:solidFill>
                <a:latin typeface="Courier"/>
              </a:rPr>
              <a:t>;</a:t>
            </a:r>
            <a:br/>
            <a:r>
              <a:rPr lang="en-US" sz="1100">
                <a:solidFill>
                  <a:srgbClr val="666666"/>
                </a:solidFill>
                <a:latin typeface="Courier"/>
              </a:rPr>
              <a:t>}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 lang="en-US" sz="1100"/>
              <a:t>UnDirGraphStEph — Impl: </a:t>
            </a:r>
            <a:r>
              <a:rPr>
                <a:latin typeface="Courier"/>
              </a:rPr>
              <a:t>neighborhood</a:t>
            </a:r>
            <a:r>
              <a:rPr lang="en-US" sz="3200"/>
              <a:t> exec body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 lang="en-US" sz="1100" b="1">
                <a:solidFill>
                  <a:srgbClr val="007020"/>
                </a:solidFill>
                <a:latin typeface="Courier"/>
              </a:rPr>
              <a:t>fn</a:t>
            </a:r>
            <a:r>
              <a:rPr lang="en-US" sz="1100">
                <a:latin typeface="Courier"/>
              </a:rPr>
              <a:t> neighborhood(</a:t>
            </a:r>
            <a:r>
              <a:rPr lang="en-US" sz="1100">
                <a:solidFill>
                  <a:srgbClr val="666666"/>
                </a:solidFill>
                <a:latin typeface="Courier"/>
              </a:rPr>
              <a:t>&amp;</a:t>
            </a:r>
            <a:r>
              <a:rPr lang="en-US" sz="1100" b="1">
                <a:solidFill>
                  <a:srgbClr val="007020"/>
                </a:solidFill>
                <a:latin typeface="Courier"/>
              </a:rPr>
              <a:t>self</a:t>
            </a:r>
            <a:r>
              <a:rPr lang="en-US" sz="1100">
                <a:solidFill>
                  <a:srgbClr val="666666"/>
                </a:solidFill>
                <a:latin typeface="Courier"/>
              </a:rPr>
              <a:t>,</a:t>
            </a:r>
            <a:r>
              <a:rPr lang="en-US" sz="1100">
                <a:latin typeface="Courier"/>
              </a:rPr>
              <a:t> v</a:t>
            </a:r>
            <a:r>
              <a:rPr lang="en-US" sz="1100">
                <a:solidFill>
                  <a:srgbClr val="666666"/>
                </a:solidFill>
                <a:latin typeface="Courier"/>
              </a:rPr>
              <a:t>:</a:t>
            </a:r>
            <a:r>
              <a:rPr lang="en-US" sz="1100">
                <a:latin typeface="Courier"/>
              </a:rPr>
              <a:t> </a:t>
            </a:r>
            <a:r>
              <a:rPr lang="en-US" sz="1100">
                <a:solidFill>
                  <a:srgbClr val="666666"/>
                </a:solidFill>
                <a:latin typeface="Courier"/>
              </a:rPr>
              <a:t>&amp;</a:t>
            </a:r>
            <a:r>
              <a:rPr lang="en-US" sz="1100">
                <a:latin typeface="Courier"/>
              </a:rPr>
              <a:t>V) </a:t>
            </a:r>
            <a:r>
              <a:rPr lang="en-US" sz="1100">
                <a:solidFill>
                  <a:srgbClr val="666666"/>
                </a:solidFill>
                <a:latin typeface="Courier"/>
              </a:rPr>
              <a:t>-&gt;</a:t>
            </a:r>
            <a:r>
              <a:rPr lang="en-US" sz="1100">
                <a:latin typeface="Courier"/>
              </a:rPr>
              <a:t> (nbrs</a:t>
            </a:r>
            <a:r>
              <a:rPr lang="en-US" sz="1100">
                <a:solidFill>
                  <a:srgbClr val="666666"/>
                </a:solidFill>
                <a:latin typeface="Courier"/>
              </a:rPr>
              <a:t>:</a:t>
            </a:r>
            <a:r>
              <a:rPr lang="en-US" sz="1100">
                <a:latin typeface="Courier"/>
              </a:rPr>
              <a:t> SetStEph</a:t>
            </a:r>
            <a:r>
              <a:rPr lang="en-US" sz="1100">
                <a:solidFill>
                  <a:srgbClr val="666666"/>
                </a:solidFill>
                <a:latin typeface="Courier"/>
              </a:rPr>
              <a:t>&lt;</a:t>
            </a:r>
            <a:r>
              <a:rPr lang="en-US" sz="1100">
                <a:latin typeface="Courier"/>
              </a:rPr>
              <a:t>V</a:t>
            </a:r>
            <a:r>
              <a:rPr lang="en-US" sz="1100">
                <a:solidFill>
                  <a:srgbClr val="666666"/>
                </a:solidFill>
                <a:latin typeface="Courier"/>
              </a:rPr>
              <a:t>&gt;</a:t>
            </a:r>
            <a:r>
              <a:rPr lang="en-US" sz="1100">
                <a:latin typeface="Courier"/>
              </a:rPr>
              <a:t>) </a:t>
            </a:r>
            <a:r>
              <a:rPr lang="en-US" sz="1100">
                <a:solidFill>
                  <a:srgbClr val="666666"/>
                </a:solidFill>
                <a:latin typeface="Courier"/>
              </a:rPr>
              <a:t>{</a:t>
            </a:r>
            <a:br/>
            <a:r>
              <a:rPr lang="en-US" sz="1100">
                <a:latin typeface="Courier"/>
              </a:rPr>
              <a:t>    </a:t>
            </a:r>
            <a:r>
              <a:rPr lang="en-US" sz="1100" b="1">
                <a:solidFill>
                  <a:srgbClr val="007020"/>
                </a:solidFill>
                <a:latin typeface="Courier"/>
              </a:rPr>
              <a:t>let</a:t>
            </a:r>
            <a:r>
              <a:rPr lang="en-US" sz="1100">
                <a:latin typeface="Courier"/>
              </a:rPr>
              <a:t> </a:t>
            </a:r>
            <a:r>
              <a:rPr lang="en-US" sz="1100" b="1">
                <a:solidFill>
                  <a:srgbClr val="007020"/>
                </a:solidFill>
                <a:latin typeface="Courier"/>
              </a:rPr>
              <a:t>mut</a:t>
            </a:r>
            <a:r>
              <a:rPr lang="en-US" sz="1100">
                <a:latin typeface="Courier"/>
              </a:rPr>
              <a:t> nbrs</a:t>
            </a:r>
            <a:r>
              <a:rPr lang="en-US" sz="1100">
                <a:solidFill>
                  <a:srgbClr val="666666"/>
                </a:solidFill>
                <a:latin typeface="Courier"/>
              </a:rPr>
              <a:t>:</a:t>
            </a:r>
            <a:r>
              <a:rPr lang="en-US" sz="1100">
                <a:latin typeface="Courier"/>
              </a:rPr>
              <a:t> SetStEph</a:t>
            </a:r>
            <a:r>
              <a:rPr lang="en-US" sz="1100">
                <a:solidFill>
                  <a:srgbClr val="666666"/>
                </a:solidFill>
                <a:latin typeface="Courier"/>
              </a:rPr>
              <a:t>&lt;</a:t>
            </a:r>
            <a:r>
              <a:rPr lang="en-US" sz="1100">
                <a:latin typeface="Courier"/>
              </a:rPr>
              <a:t>V</a:t>
            </a:r>
            <a:r>
              <a:rPr lang="en-US" sz="1100">
                <a:solidFill>
                  <a:srgbClr val="666666"/>
                </a:solidFill>
                <a:latin typeface="Courier"/>
              </a:rPr>
              <a:t>&gt;</a:t>
            </a:r>
            <a:r>
              <a:rPr lang="en-US" sz="1100">
                <a:latin typeface="Courier"/>
              </a:rPr>
              <a:t> </a:t>
            </a:r>
            <a:r>
              <a:rPr lang="en-US" sz="1100">
                <a:solidFill>
                  <a:srgbClr val="666666"/>
                </a:solidFill>
                <a:latin typeface="Courier"/>
              </a:rPr>
              <a:t>=</a:t>
            </a:r>
            <a:r>
              <a:rPr lang="en-US" sz="1100">
                <a:latin typeface="Courier"/>
              </a:rPr>
              <a:t> </a:t>
            </a:r>
            <a:r>
              <a:rPr lang="en-US" sz="1100">
                <a:solidFill>
                  <a:srgbClr val="BC7A00"/>
                </a:solidFill>
                <a:latin typeface="Courier"/>
              </a:rPr>
              <a:t>SetStEph::</a:t>
            </a:r>
            <a:r>
              <a:rPr lang="en-US" sz="1100">
                <a:latin typeface="Courier"/>
              </a:rPr>
              <a:t>empty()</a:t>
            </a:r>
            <a:r>
              <a:rPr lang="en-US" sz="1100">
                <a:solidFill>
                  <a:srgbClr val="666666"/>
                </a:solidFill>
                <a:latin typeface="Courier"/>
              </a:rPr>
              <a:t>;</a:t>
            </a:r>
            <a:br/>
            <a:r>
              <a:rPr lang="en-US" sz="1100">
                <a:latin typeface="Courier"/>
              </a:rPr>
              <a:t>    </a:t>
            </a:r>
            <a:r>
              <a:rPr lang="en-US" sz="1100" b="1">
                <a:solidFill>
                  <a:srgbClr val="007020"/>
                </a:solidFill>
                <a:latin typeface="Courier"/>
              </a:rPr>
              <a:t>let</a:t>
            </a:r>
            <a:r>
              <a:rPr lang="en-US" sz="1100">
                <a:latin typeface="Courier"/>
              </a:rPr>
              <a:t> </a:t>
            </a:r>
            <a:r>
              <a:rPr lang="en-US" sz="1100" b="1">
                <a:solidFill>
                  <a:srgbClr val="007020"/>
                </a:solidFill>
                <a:latin typeface="Courier"/>
              </a:rPr>
              <a:t>mut</a:t>
            </a:r>
            <a:r>
              <a:rPr lang="en-US" sz="1100">
                <a:latin typeface="Courier"/>
              </a:rPr>
              <a:t> it </a:t>
            </a:r>
            <a:r>
              <a:rPr lang="en-US" sz="1100">
                <a:solidFill>
                  <a:srgbClr val="666666"/>
                </a:solidFill>
                <a:latin typeface="Courier"/>
              </a:rPr>
              <a:t>=</a:t>
            </a:r>
            <a:r>
              <a:rPr lang="en-US" sz="1100">
                <a:latin typeface="Courier"/>
              </a:rPr>
              <a:t> </a:t>
            </a:r>
            <a:r>
              <a:rPr lang="en-US" sz="1100" b="1">
                <a:solidFill>
                  <a:srgbClr val="007020"/>
                </a:solidFill>
                <a:latin typeface="Courier"/>
              </a:rPr>
              <a:t>self</a:t>
            </a:r>
            <a:r>
              <a:rPr lang="en-US" sz="1100">
                <a:solidFill>
                  <a:srgbClr val="666666"/>
                </a:solidFill>
                <a:latin typeface="Courier"/>
              </a:rPr>
              <a:t>.</a:t>
            </a:r>
            <a:r>
              <a:rPr lang="en-US" sz="1100">
                <a:latin typeface="Courier"/>
              </a:rPr>
              <a:t>E</a:t>
            </a:r>
            <a:r>
              <a:rPr lang="en-US" sz="1100">
                <a:solidFill>
                  <a:srgbClr val="666666"/>
                </a:solidFill>
                <a:latin typeface="Courier"/>
              </a:rPr>
              <a:t>.</a:t>
            </a:r>
            <a:r>
              <a:rPr lang="en-US" sz="1100">
                <a:latin typeface="Courier"/>
              </a:rPr>
              <a:t>iter()</a:t>
            </a:r>
            <a:r>
              <a:rPr lang="en-US" sz="1100">
                <a:solidFill>
                  <a:srgbClr val="666666"/>
                </a:solidFill>
                <a:latin typeface="Courier"/>
              </a:rPr>
              <a:t>;</a:t>
            </a:r>
            <a:br/>
            <a:r>
              <a:rPr lang="en-US" sz="1100">
                <a:latin typeface="Courier"/>
              </a:rPr>
              <a:t>    </a:t>
            </a:r>
            <a:r>
              <a:rPr lang="en-US" sz="1100" b="1">
                <a:solidFill>
                  <a:srgbClr val="007020"/>
                </a:solidFill>
                <a:latin typeface="Courier"/>
              </a:rPr>
              <a:t>let</a:t>
            </a:r>
            <a:r>
              <a:rPr lang="en-US" sz="1100">
                <a:latin typeface="Courier"/>
              </a:rPr>
              <a:t> ghost edges_seq </a:t>
            </a:r>
            <a:r>
              <a:rPr lang="en-US" sz="1100">
                <a:solidFill>
                  <a:srgbClr val="666666"/>
                </a:solidFill>
                <a:latin typeface="Courier"/>
              </a:rPr>
              <a:t>=</a:t>
            </a:r>
            <a:r>
              <a:rPr lang="en-US" sz="1100">
                <a:latin typeface="Courier"/>
              </a:rPr>
              <a:t> it</a:t>
            </a:r>
            <a:r>
              <a:rPr lang="en-US" sz="1100">
                <a:solidFill>
                  <a:srgbClr val="666666"/>
                </a:solidFill>
                <a:latin typeface="Courier"/>
              </a:rPr>
              <a:t>@.</a:t>
            </a:r>
            <a:r>
              <a:rPr lang="en-US" sz="1100">
                <a:solidFill>
                  <a:srgbClr val="40A070"/>
                </a:solidFill>
                <a:latin typeface="Courier"/>
              </a:rPr>
              <a:t>1</a:t>
            </a:r>
            <a:r>
              <a:rPr lang="en-US" sz="1100">
                <a:solidFill>
                  <a:srgbClr val="666666"/>
                </a:solidFill>
                <a:latin typeface="Courier"/>
              </a:rPr>
              <a:t>;</a:t>
            </a:r>
            <a:br/>
            <a:r>
              <a:rPr lang="en-US" sz="1100">
                <a:latin typeface="Courier"/>
              </a:rPr>
              <a:t>    </a:t>
            </a:r>
            <a:r>
              <a:rPr lang="en-US" sz="1100" b="1">
                <a:solidFill>
                  <a:srgbClr val="007020"/>
                </a:solidFill>
                <a:latin typeface="Courier"/>
              </a:rPr>
              <a:t>loop</a:t>
            </a:r>
            <a:br/>
            <a:r>
              <a:rPr lang="en-US" sz="1100">
                <a:latin typeface="Courier"/>
              </a:rPr>
              <a:t>        invariant nbrs</a:t>
            </a:r>
            <a:r>
              <a:rPr lang="en-US" sz="1100">
                <a:solidFill>
                  <a:srgbClr val="666666"/>
                </a:solidFill>
                <a:latin typeface="Courier"/>
              </a:rPr>
              <a:t>@</a:t>
            </a:r>
            <a:r>
              <a:rPr lang="en-US" sz="1100">
                <a:latin typeface="Courier"/>
              </a:rPr>
              <a:t> </a:t>
            </a:r>
            <a:r>
              <a:rPr lang="en-US" sz="1100">
                <a:solidFill>
                  <a:srgbClr val="666666"/>
                </a:solidFill>
                <a:latin typeface="Courier"/>
              </a:rPr>
              <a:t>==</a:t>
            </a:r>
            <a:r>
              <a:rPr lang="en-US" sz="1100">
                <a:latin typeface="Courier"/>
              </a:rPr>
              <a:t> </a:t>
            </a:r>
            <a:r>
              <a:rPr lang="en-US" sz="1100">
                <a:solidFill>
                  <a:srgbClr val="BC7A00"/>
                </a:solidFill>
                <a:latin typeface="Courier"/>
              </a:rPr>
              <a:t>Set::</a:t>
            </a:r>
            <a:r>
              <a:rPr lang="en-US" sz="1100">
                <a:latin typeface="Courier"/>
              </a:rPr>
              <a:t>new(</a:t>
            </a:r>
            <a:r>
              <a:rPr lang="en-US" sz="1100">
                <a:solidFill>
                  <a:srgbClr val="666666"/>
                </a:solidFill>
                <a:latin typeface="Courier"/>
              </a:rPr>
              <a:t>|</a:t>
            </a:r>
            <a:r>
              <a:rPr lang="en-US" sz="1100">
                <a:latin typeface="Courier"/>
              </a:rPr>
              <a:t>w</a:t>
            </a:r>
            <a:r>
              <a:rPr lang="en-US" sz="1100">
                <a:solidFill>
                  <a:srgbClr val="666666"/>
                </a:solidFill>
                <a:latin typeface="Courier"/>
              </a:rPr>
              <a:t>|</a:t>
            </a:r>
            <a:r>
              <a:rPr lang="en-US" sz="1100">
                <a:latin typeface="Courier"/>
              </a:rPr>
              <a:t> exists </a:t>
            </a:r>
            <a:r>
              <a:rPr lang="en-US" sz="1100">
                <a:solidFill>
                  <a:srgbClr val="666666"/>
                </a:solidFill>
                <a:latin typeface="Courier"/>
              </a:rPr>
              <a:t>|</a:t>
            </a:r>
            <a:r>
              <a:rPr lang="en-US" sz="1100">
                <a:latin typeface="Courier"/>
              </a:rPr>
              <a:t>i</a:t>
            </a:r>
            <a:r>
              <a:rPr lang="en-US" sz="1100">
                <a:solidFill>
                  <a:srgbClr val="666666"/>
                </a:solidFill>
                <a:latin typeface="Courier"/>
              </a:rPr>
              <a:t>|</a:t>
            </a:r>
            <a:br/>
            <a:r>
              <a:rPr lang="en-US" sz="1100">
                <a:latin typeface="Courier"/>
              </a:rPr>
              <a:t>            </a:t>
            </a:r>
            <a:r>
              <a:rPr lang="en-US" sz="1100">
                <a:solidFill>
                  <a:srgbClr val="40A070"/>
                </a:solidFill>
                <a:latin typeface="Courier"/>
              </a:rPr>
              <a:t>0</a:t>
            </a:r>
            <a:r>
              <a:rPr lang="en-US" sz="1100">
                <a:latin typeface="Courier"/>
              </a:rPr>
              <a:t> </a:t>
            </a:r>
            <a:r>
              <a:rPr lang="en-US" sz="1100">
                <a:solidFill>
                  <a:srgbClr val="666666"/>
                </a:solidFill>
                <a:latin typeface="Courier"/>
              </a:rPr>
              <a:t>&lt;=</a:t>
            </a:r>
            <a:r>
              <a:rPr lang="en-US" sz="1100">
                <a:latin typeface="Courier"/>
              </a:rPr>
              <a:t> i </a:t>
            </a:r>
            <a:r>
              <a:rPr lang="en-US" sz="1100">
                <a:solidFill>
                  <a:srgbClr val="666666"/>
                </a:solidFill>
                <a:latin typeface="Courier"/>
              </a:rPr>
              <a:t>&lt;</a:t>
            </a:r>
            <a:r>
              <a:rPr lang="en-US" sz="1100">
                <a:latin typeface="Courier"/>
              </a:rPr>
              <a:t> it</a:t>
            </a:r>
            <a:r>
              <a:rPr lang="en-US" sz="1100">
                <a:solidFill>
                  <a:srgbClr val="666666"/>
                </a:solidFill>
                <a:latin typeface="Courier"/>
              </a:rPr>
              <a:t>@.</a:t>
            </a:r>
            <a:r>
              <a:rPr lang="en-US" sz="1100">
                <a:solidFill>
                  <a:srgbClr val="40A070"/>
                </a:solidFill>
                <a:latin typeface="Courier"/>
              </a:rPr>
              <a:t>0</a:t>
            </a:r>
            <a:r>
              <a:rPr lang="en-US" sz="1100">
                <a:latin typeface="Courier"/>
              </a:rPr>
              <a:t> </a:t>
            </a:r>
            <a:r>
              <a:rPr lang="en-US" sz="1100">
                <a:solidFill>
                  <a:srgbClr val="666666"/>
                </a:solidFill>
                <a:latin typeface="Courier"/>
              </a:rPr>
              <a:t>&amp;&amp;</a:t>
            </a:r>
            <a:r>
              <a:rPr lang="en-US" sz="1100">
                <a:latin typeface="Courier"/>
              </a:rPr>
              <a:t> </a:t>
            </a:r>
            <a:r>
              <a:rPr lang="en-US" sz="1100" i="1">
                <a:solidFill>
                  <a:srgbClr val="60A0B0"/>
                </a:solidFill>
                <a:latin typeface="Courier"/>
              </a:rPr>
              <a:t>/* edges_seq[i] hits v on either side */</a:t>
            </a:r>
            <a:r>
              <a:rPr lang="en-US" sz="1100">
                <a:latin typeface="Courier"/>
              </a:rPr>
              <a:t> </a:t>
            </a:r>
            <a:r>
              <a:rPr lang="en-US" sz="1100">
                <a:solidFill>
                  <a:srgbClr val="666666"/>
                </a:solidFill>
                <a:latin typeface="Courier"/>
              </a:rPr>
              <a:t>...</a:t>
            </a:r>
            <a:r>
              <a:rPr lang="en-US" sz="1100">
                <a:latin typeface="Courier"/>
              </a:rPr>
              <a:t>)</a:t>
            </a:r>
            <a:r>
              <a:rPr lang="en-US" sz="1100">
                <a:solidFill>
                  <a:srgbClr val="666666"/>
                </a:solidFill>
                <a:latin typeface="Courier"/>
              </a:rPr>
              <a:t>,</a:t>
            </a:r>
            <a:br/>
            <a:r>
              <a:rPr lang="en-US" sz="1100">
                <a:latin typeface="Courier"/>
              </a:rPr>
              <a:t>        decreases edges_seq</a:t>
            </a:r>
            <a:r>
              <a:rPr lang="en-US" sz="1100">
                <a:solidFill>
                  <a:srgbClr val="666666"/>
                </a:solidFill>
                <a:latin typeface="Courier"/>
              </a:rPr>
              <a:t>.</a:t>
            </a:r>
            <a:r>
              <a:rPr lang="en-US" sz="1100">
                <a:latin typeface="Courier"/>
              </a:rPr>
              <a:t>len() </a:t>
            </a:r>
            <a:r>
              <a:rPr lang="en-US" sz="1100">
                <a:solidFill>
                  <a:srgbClr val="666666"/>
                </a:solidFill>
                <a:latin typeface="Courier"/>
              </a:rPr>
              <a:t>-</a:t>
            </a:r>
            <a:r>
              <a:rPr lang="en-US" sz="1100">
                <a:latin typeface="Courier"/>
              </a:rPr>
              <a:t> it</a:t>
            </a:r>
            <a:r>
              <a:rPr lang="en-US" sz="1100">
                <a:solidFill>
                  <a:srgbClr val="666666"/>
                </a:solidFill>
                <a:latin typeface="Courier"/>
              </a:rPr>
              <a:t>@.</a:t>
            </a:r>
            <a:r>
              <a:rPr lang="en-US" sz="1100">
                <a:solidFill>
                  <a:srgbClr val="40A070"/>
                </a:solidFill>
                <a:latin typeface="Courier"/>
              </a:rPr>
              <a:t>0</a:t>
            </a:r>
            <a:r>
              <a:rPr lang="en-US" sz="1100">
                <a:solidFill>
                  <a:srgbClr val="666666"/>
                </a:solidFill>
                <a:latin typeface="Courier"/>
              </a:rPr>
              <a:t>,</a:t>
            </a:r>
            <a:br/>
            <a:r>
              <a:rPr lang="en-US" sz="1100">
                <a:latin typeface="Courier"/>
              </a:rPr>
              <a:t>    </a:t>
            </a:r>
            <a:r>
              <a:rPr lang="en-US" sz="1100">
                <a:solidFill>
                  <a:srgbClr val="666666"/>
                </a:solidFill>
                <a:latin typeface="Courier"/>
              </a:rPr>
              <a:t>{</a:t>
            </a:r>
            <a:br/>
            <a:r>
              <a:rPr lang="en-US" sz="1100">
                <a:latin typeface="Courier"/>
              </a:rPr>
              <a:t>        </a:t>
            </a:r>
            <a:r>
              <a:rPr lang="en-US" sz="1100" b="1">
                <a:solidFill>
                  <a:srgbClr val="007020"/>
                </a:solidFill>
                <a:latin typeface="Courier"/>
              </a:rPr>
              <a:t>match</a:t>
            </a:r>
            <a:r>
              <a:rPr lang="en-US" sz="1100">
                <a:latin typeface="Courier"/>
              </a:rPr>
              <a:t> it</a:t>
            </a:r>
            <a:r>
              <a:rPr lang="en-US" sz="1100">
                <a:solidFill>
                  <a:srgbClr val="666666"/>
                </a:solidFill>
                <a:latin typeface="Courier"/>
              </a:rPr>
              <a:t>.</a:t>
            </a:r>
            <a:r>
              <a:rPr lang="en-US" sz="1100">
                <a:latin typeface="Courier"/>
              </a:rPr>
              <a:t>next() </a:t>
            </a:r>
            <a:r>
              <a:rPr lang="en-US" sz="1100">
                <a:solidFill>
                  <a:srgbClr val="666666"/>
                </a:solidFill>
                <a:latin typeface="Courier"/>
              </a:rPr>
              <a:t>{</a:t>
            </a:r>
            <a:br/>
            <a:r>
              <a:rPr lang="en-US" sz="1100">
                <a:latin typeface="Courier"/>
              </a:rPr>
              <a:t>            </a:t>
            </a:r>
            <a:r>
              <a:rPr lang="en-US" sz="1100">
                <a:solidFill>
                  <a:srgbClr val="880000"/>
                </a:solidFill>
                <a:latin typeface="Courier"/>
              </a:rPr>
              <a:t>None</a:t>
            </a:r>
            <a:r>
              <a:rPr lang="en-US" sz="1100">
                <a:latin typeface="Courier"/>
              </a:rPr>
              <a:t>    </a:t>
            </a:r>
            <a:r>
              <a:rPr lang="en-US" sz="1100">
                <a:solidFill>
                  <a:srgbClr val="666666"/>
                </a:solidFill>
                <a:latin typeface="Courier"/>
              </a:rPr>
              <a:t>=&gt;</a:t>
            </a:r>
            <a:r>
              <a:rPr lang="en-US" sz="1100">
                <a:latin typeface="Courier"/>
              </a:rPr>
              <a:t> </a:t>
            </a:r>
            <a:r>
              <a:rPr lang="en-US" sz="1100">
                <a:solidFill>
                  <a:srgbClr val="666666"/>
                </a:solidFill>
                <a:latin typeface="Courier"/>
              </a:rPr>
              <a:t>{</a:t>
            </a:r>
            <a:r>
              <a:rPr lang="en-US" sz="1100">
                <a:latin typeface="Courier"/>
              </a:rPr>
              <a:t> proof </a:t>
            </a:r>
            <a:r>
              <a:rPr lang="en-US" sz="1100">
                <a:solidFill>
                  <a:srgbClr val="666666"/>
                </a:solidFill>
                <a:latin typeface="Courier"/>
              </a:rPr>
              <a:t>{</a:t>
            </a:r>
            <a:r>
              <a:rPr lang="en-US" sz="1100">
                <a:latin typeface="Courier"/>
              </a:rPr>
              <a:t> </a:t>
            </a:r>
            <a:r>
              <a:rPr lang="en-US" sz="1100" i="1">
                <a:solidFill>
                  <a:srgbClr val="60A0B0"/>
                </a:solidFill>
                <a:latin typeface="Courier"/>
              </a:rPr>
              <a:t>/* set-equality lemmas */</a:t>
            </a:r>
            <a:r>
              <a:rPr lang="en-US" sz="1100">
                <a:latin typeface="Courier"/>
              </a:rPr>
              <a:t> </a:t>
            </a:r>
            <a:r>
              <a:rPr lang="en-US" sz="1100">
                <a:solidFill>
                  <a:srgbClr val="666666"/>
                </a:solidFill>
                <a:latin typeface="Courier"/>
              </a:rPr>
              <a:t>}</a:t>
            </a:r>
            <a:r>
              <a:rPr lang="en-US" sz="1100">
                <a:latin typeface="Courier"/>
              </a:rPr>
              <a:t> </a:t>
            </a:r>
            <a:r>
              <a:rPr lang="en-US" sz="1100" b="1">
                <a:solidFill>
                  <a:srgbClr val="007020"/>
                </a:solidFill>
                <a:latin typeface="Courier"/>
              </a:rPr>
              <a:t>return</a:t>
            </a:r>
            <a:r>
              <a:rPr lang="en-US" sz="1100">
                <a:latin typeface="Courier"/>
              </a:rPr>
              <a:t> nbrs</a:t>
            </a:r>
            <a:r>
              <a:rPr lang="en-US" sz="1100">
                <a:solidFill>
                  <a:srgbClr val="666666"/>
                </a:solidFill>
                <a:latin typeface="Courier"/>
              </a:rPr>
              <a:t>;</a:t>
            </a:r>
            <a:r>
              <a:rPr lang="en-US" sz="1100">
                <a:latin typeface="Courier"/>
              </a:rPr>
              <a:t> </a:t>
            </a:r>
            <a:r>
              <a:rPr lang="en-US" sz="1100">
                <a:solidFill>
                  <a:srgbClr val="666666"/>
                </a:solidFill>
                <a:latin typeface="Courier"/>
              </a:rPr>
              <a:t>}</a:t>
            </a:r>
            <a:br/>
            <a:r>
              <a:rPr lang="en-US" sz="1100">
                <a:latin typeface="Courier"/>
              </a:rPr>
              <a:t>            </a:t>
            </a:r>
            <a:r>
              <a:rPr lang="en-US" sz="1100">
                <a:solidFill>
                  <a:srgbClr val="880000"/>
                </a:solidFill>
                <a:latin typeface="Courier"/>
              </a:rPr>
              <a:t>Some</a:t>
            </a:r>
            <a:r>
              <a:rPr lang="en-US" sz="1100">
                <a:latin typeface="Courier"/>
              </a:rPr>
              <a:t>(e) </a:t>
            </a:r>
            <a:r>
              <a:rPr lang="en-US" sz="1100">
                <a:solidFill>
                  <a:srgbClr val="666666"/>
                </a:solidFill>
                <a:latin typeface="Courier"/>
              </a:rPr>
              <a:t>=&gt;</a:t>
            </a:r>
            <a:r>
              <a:rPr lang="en-US" sz="1100">
                <a:latin typeface="Courier"/>
              </a:rPr>
              <a:t> </a:t>
            </a:r>
            <a:r>
              <a:rPr lang="en-US" sz="1100">
                <a:solidFill>
                  <a:srgbClr val="666666"/>
                </a:solidFill>
                <a:latin typeface="Courier"/>
              </a:rPr>
              <a:t>{</a:t>
            </a:r>
            <a:r>
              <a:rPr lang="en-US" sz="1100">
                <a:latin typeface="Courier"/>
              </a:rPr>
              <a:t> </a:t>
            </a:r>
            <a:r>
              <a:rPr lang="en-US" sz="1100" i="1">
                <a:solidFill>
                  <a:srgbClr val="60A0B0"/>
                </a:solidFill>
                <a:latin typeface="Courier"/>
              </a:rPr>
              <a:t>/* if feq(&amp;e.0,v) insert e.1; sym. */</a:t>
            </a:r>
            <a:r>
              <a:rPr lang="en-US" sz="1100">
                <a:latin typeface="Courier"/>
              </a:rPr>
              <a:t> </a:t>
            </a:r>
            <a:r>
              <a:rPr lang="en-US" sz="1100">
                <a:solidFill>
                  <a:srgbClr val="666666"/>
                </a:solidFill>
                <a:latin typeface="Courier"/>
              </a:rPr>
              <a:t>...</a:t>
            </a:r>
            <a:r>
              <a:rPr lang="en-US" sz="1100">
                <a:latin typeface="Courier"/>
              </a:rPr>
              <a:t> </a:t>
            </a:r>
            <a:r>
              <a:rPr lang="en-US" sz="1100">
                <a:solidFill>
                  <a:srgbClr val="666666"/>
                </a:solidFill>
                <a:latin typeface="Courier"/>
              </a:rPr>
              <a:t>}</a:t>
            </a:r>
            <a:br/>
            <a:r>
              <a:rPr lang="en-US" sz="1100">
                <a:latin typeface="Courier"/>
              </a:rPr>
              <a:t>        </a:t>
            </a:r>
            <a:r>
              <a:rPr lang="en-US" sz="1100">
                <a:solidFill>
                  <a:srgbClr val="666666"/>
                </a:solidFill>
                <a:latin typeface="Courier"/>
              </a:rPr>
              <a:t>}</a:t>
            </a:r>
            <a:br/>
            <a:r>
              <a:rPr lang="en-US" sz="1100">
                <a:latin typeface="Courier"/>
              </a:rPr>
              <a:t>    </a:t>
            </a:r>
            <a:r>
              <a:rPr lang="en-US" sz="1100">
                <a:solidFill>
                  <a:srgbClr val="666666"/>
                </a:solidFill>
                <a:latin typeface="Courier"/>
              </a:rPr>
              <a:t>}</a:t>
            </a:r>
            <a:br/>
            <a:r>
              <a:rPr lang="en-US" sz="1100">
                <a:solidFill>
                  <a:srgbClr val="666666"/>
                </a:solidFill>
                <a:latin typeface="Courier"/>
              </a:rPr>
              <a:t>}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 lang="en-US" sz="3200"/>
              <a:t>Wrapping Rust — Declaring an external type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z="1100"/>
              <a:t>Four specification constructs are used to give specs to Rust stdlib.</a:t>
            </a:r>
          </a:p>
          <a:p>
            <a:pPr lvl="0"/>
            <a:r>
              <a:rPr lang="en-US" sz="1800"/>
              <a:t>A proxy struct that introduces a spec for a foreign type.</a:t>
            </a:r>
          </a:p>
          <a:p>
            <a:pPr lvl="0"/>
            <a:r>
              <a:rPr lang="en-US" sz="1800"/>
              <a:t>The proxy struct name is conventionally ExTypeName.</a:t>
            </a:r>
          </a:p>
          <a:p>
            <a:pPr lvl="0" indent="0">
              <a:buNone/>
            </a:pPr>
            <a:r>
              <a:rPr>
                <a:latin typeface="Courier"/>
              </a:rPr>
              <a:t>  </a:t>
            </a:r>
            <a:r>
              <a:rPr lang="en-US" sz="1100">
                <a:solidFill>
                  <a:srgbClr val="7D9029"/>
                </a:solidFill>
                <a:latin typeface="Courier"/>
              </a:rPr>
              <a:t>#[</a:t>
            </a:r>
            <a:r>
              <a:rPr lang="en-US" sz="1100">
                <a:solidFill>
                  <a:srgbClr val="BC7A00"/>
                </a:solidFill>
                <a:latin typeface="Courier"/>
              </a:rPr>
              <a:t>verifier::</a:t>
            </a:r>
            <a:r>
              <a:rPr lang="en-US" sz="1100">
                <a:latin typeface="Courier"/>
              </a:rPr>
              <a:t>external_type_specification</a:t>
            </a:r>
            <a:r>
              <a:rPr lang="en-US" sz="1100">
                <a:solidFill>
                  <a:srgbClr val="7D9029"/>
                </a:solidFill>
                <a:latin typeface="Courier"/>
              </a:rPr>
              <a:t>]</a:t>
            </a:r>
            <a:br/>
            <a:r>
              <a:rPr lang="en-US" sz="1100">
                <a:latin typeface="Courier"/>
              </a:rPr>
              <a:t>  </a:t>
            </a:r>
            <a:r>
              <a:rPr lang="en-US" sz="1100" b="1">
                <a:solidFill>
                  <a:srgbClr val="007020"/>
                </a:solidFill>
                <a:latin typeface="Courier"/>
              </a:rPr>
              <a:t>pub</a:t>
            </a:r>
            <a:r>
              <a:rPr lang="en-US" sz="1100">
                <a:latin typeface="Courier"/>
              </a:rPr>
              <a:t> </a:t>
            </a:r>
            <a:r>
              <a:rPr lang="en-US" sz="1100" b="1">
                <a:solidFill>
                  <a:srgbClr val="007020"/>
                </a:solidFill>
                <a:latin typeface="Courier"/>
              </a:rPr>
              <a:t>struct</a:t>
            </a:r>
            <a:r>
              <a:rPr lang="en-US" sz="1100">
                <a:latin typeface="Courier"/>
              </a:rPr>
              <a:t> ExVec</a:t>
            </a:r>
            <a:r>
              <a:rPr lang="en-US" sz="1100">
                <a:solidFill>
                  <a:srgbClr val="666666"/>
                </a:solidFill>
                <a:latin typeface="Courier"/>
              </a:rPr>
              <a:t>&lt;</a:t>
            </a:r>
            <a:r>
              <a:rPr lang="en-US" sz="1100">
                <a:latin typeface="Courier"/>
              </a:rPr>
              <a:t>T</a:t>
            </a:r>
            <a:r>
              <a:rPr lang="en-US" sz="1100">
                <a:solidFill>
                  <a:srgbClr val="666666"/>
                </a:solidFill>
                <a:latin typeface="Courier"/>
              </a:rPr>
              <a:t>&gt;</a:t>
            </a:r>
            <a:r>
              <a:rPr lang="en-US" sz="1100">
                <a:latin typeface="Courier"/>
              </a:rPr>
              <a:t>(</a:t>
            </a:r>
            <a:r>
              <a:rPr lang="en-US" sz="1100">
                <a:solidFill>
                  <a:srgbClr val="902000"/>
                </a:solidFill>
                <a:latin typeface="Courier"/>
              </a:rPr>
              <a:t>Vec</a:t>
            </a:r>
            <a:r>
              <a:rPr lang="en-US" sz="1100">
                <a:solidFill>
                  <a:srgbClr val="666666"/>
                </a:solidFill>
                <a:latin typeface="Courier"/>
              </a:rPr>
              <a:t>&lt;</a:t>
            </a:r>
            <a:r>
              <a:rPr lang="en-US" sz="1100">
                <a:latin typeface="Courier"/>
              </a:rPr>
              <a:t>T</a:t>
            </a:r>
            <a:r>
              <a:rPr lang="en-US" sz="1100">
                <a:solidFill>
                  <a:srgbClr val="666666"/>
                </a:solidFill>
                <a:latin typeface="Courier"/>
              </a:rPr>
              <a:t>&gt;</a:t>
            </a:r>
            <a:r>
              <a:rPr lang="en-US" sz="1100">
                <a:latin typeface="Courier"/>
              </a:rPr>
              <a:t>)</a:t>
            </a:r>
            <a:r>
              <a:rPr lang="en-US" sz="1100">
                <a:solidFill>
                  <a:srgbClr val="666666"/>
                </a:solidFill>
                <a:latin typeface="Courier"/>
              </a:rPr>
              <a:t>;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 lang="en-US" sz="3200"/>
              <a:t>Wrapping Rust — Declaring an external function/method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z="1100"/>
              <a:t>A proxy function with the same signature as the foreign function, carrying the requires/ensures.</a:t>
            </a:r>
          </a:p>
          <a:p>
            <a:pPr lvl="0" indent="0">
              <a:buNone/>
            </a:pPr>
            <a:r>
              <a:rPr>
                <a:latin typeface="Courier"/>
              </a:rPr>
              <a:t>  </a:t>
            </a:r>
            <a:r>
              <a:rPr lang="en-US" sz="1100">
                <a:solidFill>
                  <a:srgbClr val="7D9029"/>
                </a:solidFill>
                <a:latin typeface="Courier"/>
              </a:rPr>
              <a:t>#[</a:t>
            </a:r>
            <a:r>
              <a:rPr lang="en-US" sz="1100">
                <a:solidFill>
                  <a:srgbClr val="BC7A00"/>
                </a:solidFill>
                <a:latin typeface="Courier"/>
              </a:rPr>
              <a:t>verifier::</a:t>
            </a:r>
            <a:r>
              <a:rPr lang="en-US" sz="1100">
                <a:latin typeface="Courier"/>
              </a:rPr>
              <a:t>external_fn_specification</a:t>
            </a:r>
            <a:r>
              <a:rPr lang="en-US" sz="1100">
                <a:solidFill>
                  <a:srgbClr val="7D9029"/>
                </a:solidFill>
                <a:latin typeface="Courier"/>
              </a:rPr>
              <a:t>]</a:t>
            </a:r>
            <a:br/>
            <a:r>
              <a:rPr lang="en-US" sz="1100">
                <a:latin typeface="Courier"/>
              </a:rPr>
              <a:t>  </a:t>
            </a:r>
            <a:r>
              <a:rPr lang="en-US" sz="1100" b="1">
                <a:solidFill>
                  <a:srgbClr val="007020"/>
                </a:solidFill>
                <a:latin typeface="Courier"/>
              </a:rPr>
              <a:t>pub</a:t>
            </a:r>
            <a:r>
              <a:rPr lang="en-US" sz="1100">
                <a:latin typeface="Courier"/>
              </a:rPr>
              <a:t> </a:t>
            </a:r>
            <a:r>
              <a:rPr lang="en-US" sz="1100" b="1">
                <a:solidFill>
                  <a:srgbClr val="007020"/>
                </a:solidFill>
                <a:latin typeface="Courier"/>
              </a:rPr>
              <a:t>fn</a:t>
            </a:r>
            <a:r>
              <a:rPr lang="en-US" sz="1100">
                <a:latin typeface="Courier"/>
              </a:rPr>
              <a:t> ex_vec_push</a:t>
            </a:r>
            <a:r>
              <a:rPr lang="en-US" sz="1100">
                <a:solidFill>
                  <a:srgbClr val="666666"/>
                </a:solidFill>
                <a:latin typeface="Courier"/>
              </a:rPr>
              <a:t>&lt;</a:t>
            </a:r>
            <a:r>
              <a:rPr lang="en-US" sz="1100">
                <a:latin typeface="Courier"/>
              </a:rPr>
              <a:t>T</a:t>
            </a:r>
            <a:r>
              <a:rPr lang="en-US" sz="1100">
                <a:solidFill>
                  <a:srgbClr val="666666"/>
                </a:solidFill>
                <a:latin typeface="Courier"/>
              </a:rPr>
              <a:t>&gt;</a:t>
            </a:r>
            <a:r>
              <a:rPr lang="en-US" sz="1100">
                <a:latin typeface="Courier"/>
              </a:rPr>
              <a:t>(v</a:t>
            </a:r>
            <a:r>
              <a:rPr lang="en-US" sz="1100">
                <a:solidFill>
                  <a:srgbClr val="666666"/>
                </a:solidFill>
                <a:latin typeface="Courier"/>
              </a:rPr>
              <a:t>:</a:t>
            </a:r>
            <a:r>
              <a:rPr lang="en-US" sz="1100">
                <a:latin typeface="Courier"/>
              </a:rPr>
              <a:t> </a:t>
            </a:r>
            <a:r>
              <a:rPr lang="en-US" sz="1100">
                <a:solidFill>
                  <a:srgbClr val="666666"/>
                </a:solidFill>
                <a:latin typeface="Courier"/>
              </a:rPr>
              <a:t>&amp;</a:t>
            </a:r>
            <a:r>
              <a:rPr lang="en-US" sz="1100" b="1">
                <a:solidFill>
                  <a:srgbClr val="007020"/>
                </a:solidFill>
                <a:latin typeface="Courier"/>
              </a:rPr>
              <a:t>mut</a:t>
            </a:r>
            <a:r>
              <a:rPr lang="en-US" sz="1100">
                <a:latin typeface="Courier"/>
              </a:rPr>
              <a:t> </a:t>
            </a:r>
            <a:r>
              <a:rPr lang="en-US" sz="1100">
                <a:solidFill>
                  <a:srgbClr val="902000"/>
                </a:solidFill>
                <a:latin typeface="Courier"/>
              </a:rPr>
              <a:t>Vec</a:t>
            </a:r>
            <a:r>
              <a:rPr lang="en-US" sz="1100">
                <a:solidFill>
                  <a:srgbClr val="666666"/>
                </a:solidFill>
                <a:latin typeface="Courier"/>
              </a:rPr>
              <a:t>&lt;</a:t>
            </a:r>
            <a:r>
              <a:rPr lang="en-US" sz="1100">
                <a:latin typeface="Courier"/>
              </a:rPr>
              <a:t>T</a:t>
            </a:r>
            <a:r>
              <a:rPr lang="en-US" sz="1100">
                <a:solidFill>
                  <a:srgbClr val="666666"/>
                </a:solidFill>
                <a:latin typeface="Courier"/>
              </a:rPr>
              <a:t>&gt;,</a:t>
            </a:r>
            <a:r>
              <a:rPr lang="en-US" sz="1100">
                <a:latin typeface="Courier"/>
              </a:rPr>
              <a:t> value</a:t>
            </a:r>
            <a:r>
              <a:rPr lang="en-US" sz="1100">
                <a:solidFill>
                  <a:srgbClr val="666666"/>
                </a:solidFill>
                <a:latin typeface="Courier"/>
              </a:rPr>
              <a:t>:</a:t>
            </a:r>
            <a:r>
              <a:rPr lang="en-US" sz="1100">
                <a:latin typeface="Courier"/>
              </a:rPr>
              <a:t> T)</a:t>
            </a:r>
            <a:br/>
            <a:r>
              <a:rPr lang="en-US" sz="1100">
                <a:latin typeface="Courier"/>
              </a:rPr>
              <a:t>      requires v</a:t>
            </a:r>
            <a:r>
              <a:rPr lang="en-US" sz="1100">
                <a:solidFill>
                  <a:srgbClr val="666666"/>
                </a:solidFill>
                <a:latin typeface="Courier"/>
              </a:rPr>
              <a:t>@.</a:t>
            </a:r>
            <a:r>
              <a:rPr lang="en-US" sz="1100">
                <a:latin typeface="Courier"/>
              </a:rPr>
              <a:t>len() </a:t>
            </a:r>
            <a:r>
              <a:rPr lang="en-US" sz="1100">
                <a:solidFill>
                  <a:srgbClr val="666666"/>
                </a:solidFill>
                <a:latin typeface="Courier"/>
              </a:rPr>
              <a:t>&lt;</a:t>
            </a:r>
            <a:r>
              <a:rPr lang="en-US" sz="1100">
                <a:latin typeface="Courier"/>
              </a:rPr>
              <a:t> </a:t>
            </a:r>
            <a:r>
              <a:rPr lang="en-US" sz="1100">
                <a:solidFill>
                  <a:srgbClr val="902000"/>
                </a:solidFill>
                <a:latin typeface="Courier"/>
              </a:rPr>
              <a:t>usize</a:t>
            </a:r>
            <a:r>
              <a:rPr lang="en-US" sz="1100">
                <a:solidFill>
                  <a:srgbClr val="BC7A00"/>
                </a:solidFill>
                <a:latin typeface="Courier"/>
              </a:rPr>
              <a:t>::</a:t>
            </a:r>
            <a:r>
              <a:rPr lang="en-US" sz="1100">
                <a:solidFill>
                  <a:srgbClr val="880000"/>
                </a:solidFill>
                <a:latin typeface="Courier"/>
              </a:rPr>
              <a:t>MAX</a:t>
            </a:r>
            <a:r>
              <a:rPr lang="en-US" sz="1100">
                <a:solidFill>
                  <a:srgbClr val="666666"/>
                </a:solidFill>
                <a:latin typeface="Courier"/>
              </a:rPr>
              <a:t>,</a:t>
            </a:r>
            <a:br/>
            <a:r>
              <a:rPr lang="en-US" sz="1100">
                <a:latin typeface="Courier"/>
              </a:rPr>
              <a:t>      ensures  v</a:t>
            </a:r>
            <a:r>
              <a:rPr lang="en-US" sz="1100">
                <a:solidFill>
                  <a:srgbClr val="666666"/>
                </a:solidFill>
                <a:latin typeface="Courier"/>
              </a:rPr>
              <a:t>@</a:t>
            </a:r>
            <a:r>
              <a:rPr lang="en-US" sz="1100">
                <a:latin typeface="Courier"/>
              </a:rPr>
              <a:t> </a:t>
            </a:r>
            <a:r>
              <a:rPr lang="en-US" sz="1100">
                <a:solidFill>
                  <a:srgbClr val="666666"/>
                </a:solidFill>
                <a:latin typeface="Courier"/>
              </a:rPr>
              <a:t>==</a:t>
            </a:r>
            <a:r>
              <a:rPr lang="en-US" sz="1100">
                <a:latin typeface="Courier"/>
              </a:rPr>
              <a:t> old(v)</a:t>
            </a:r>
            <a:r>
              <a:rPr lang="en-US" sz="1100">
                <a:solidFill>
                  <a:srgbClr val="666666"/>
                </a:solidFill>
                <a:latin typeface="Courier"/>
              </a:rPr>
              <a:t>@.</a:t>
            </a:r>
            <a:r>
              <a:rPr lang="en-US" sz="1100">
                <a:latin typeface="Courier"/>
              </a:rPr>
              <a:t>push(value)</a:t>
            </a:r>
            <a:r>
              <a:rPr lang="en-US" sz="1100">
                <a:solidFill>
                  <a:srgbClr val="666666"/>
                </a:solidFill>
                <a:latin typeface="Courier"/>
              </a:rPr>
              <a:t>,</a:t>
            </a:r>
            <a:br/>
            <a:r>
              <a:rPr lang="en-US" sz="1100">
                <a:latin typeface="Courier"/>
              </a:rPr>
              <a:t>  </a:t>
            </a:r>
            <a:r>
              <a:rPr lang="en-US" sz="1100">
                <a:solidFill>
                  <a:srgbClr val="666666"/>
                </a:solidFill>
                <a:latin typeface="Courier"/>
              </a:rPr>
              <a:t>{</a:t>
            </a:r>
            <a:r>
              <a:rPr lang="en-US" sz="1100">
                <a:latin typeface="Courier"/>
              </a:rPr>
              <a:t> v</a:t>
            </a:r>
            <a:r>
              <a:rPr lang="en-US" sz="1100">
                <a:solidFill>
                  <a:srgbClr val="666666"/>
                </a:solidFill>
                <a:latin typeface="Courier"/>
              </a:rPr>
              <a:t>.</a:t>
            </a:r>
            <a:r>
              <a:rPr lang="en-US" sz="1100">
                <a:latin typeface="Courier"/>
              </a:rPr>
              <a:t>push(value) </a:t>
            </a:r>
            <a:r>
              <a:rPr lang="en-US" sz="1100">
                <a:solidFill>
                  <a:srgbClr val="666666"/>
                </a:solidFill>
                <a:latin typeface="Courier"/>
              </a:rPr>
              <a:t>}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 lang="en-US" sz="3200"/>
              <a:t>Wrapping Rust — Declaring an external function/method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z="1100"/>
              <a:t>Add a View and specs to a foreign type.</a:t>
            </a:r>
          </a:p>
          <a:p>
            <a:pPr lvl="0" indent="0">
              <a:buNone/>
            </a:pPr>
            <a:r>
              <a:rPr>
                <a:latin typeface="Courier"/>
              </a:rPr>
              <a:t>  </a:t>
            </a:r>
            <a:r>
              <a:rPr lang="en-US" sz="1100">
                <a:solidFill>
                  <a:srgbClr val="7D9029"/>
                </a:solidFill>
                <a:latin typeface="Courier"/>
              </a:rPr>
              <a:t>#[</a:t>
            </a:r>
            <a:r>
              <a:rPr lang="en-US" sz="1100">
                <a:solidFill>
                  <a:srgbClr val="BC7A00"/>
                </a:solidFill>
                <a:latin typeface="Courier"/>
              </a:rPr>
              <a:t>verifier::</a:t>
            </a:r>
            <a:r>
              <a:rPr lang="en-US" sz="1100">
                <a:latin typeface="Courier"/>
              </a:rPr>
              <a:t>external_type_specification</a:t>
            </a:r>
            <a:r>
              <a:rPr lang="en-US" sz="1100">
                <a:solidFill>
                  <a:srgbClr val="7D9029"/>
                </a:solidFill>
                <a:latin typeface="Courier"/>
              </a:rPr>
              <a:t>]</a:t>
            </a:r>
            <a:br/>
            <a:r>
              <a:rPr lang="en-US" sz="1100">
                <a:latin typeface="Courier"/>
              </a:rPr>
              <a:t>  </a:t>
            </a:r>
            <a:r>
              <a:rPr lang="en-US" sz="1100" b="1">
                <a:solidFill>
                  <a:srgbClr val="007020"/>
                </a:solidFill>
                <a:latin typeface="Courier"/>
              </a:rPr>
              <a:t>pub</a:t>
            </a:r>
            <a:r>
              <a:rPr lang="en-US" sz="1100">
                <a:latin typeface="Courier"/>
              </a:rPr>
              <a:t> </a:t>
            </a:r>
            <a:r>
              <a:rPr lang="en-US" sz="1100" b="1">
                <a:solidFill>
                  <a:srgbClr val="007020"/>
                </a:solidFill>
                <a:latin typeface="Courier"/>
              </a:rPr>
              <a:t>struct</a:t>
            </a:r>
            <a:r>
              <a:rPr lang="en-US" sz="1100">
                <a:latin typeface="Courier"/>
              </a:rPr>
              <a:t> ExHashMap</a:t>
            </a:r>
            <a:r>
              <a:rPr lang="en-US" sz="1100">
                <a:solidFill>
                  <a:srgbClr val="666666"/>
                </a:solidFill>
                <a:latin typeface="Courier"/>
              </a:rPr>
              <a:t>&lt;</a:t>
            </a:r>
            <a:r>
              <a:rPr lang="en-US" sz="1100">
                <a:latin typeface="Courier"/>
              </a:rPr>
              <a:t>K</a:t>
            </a:r>
            <a:r>
              <a:rPr lang="en-US" sz="1100">
                <a:solidFill>
                  <a:srgbClr val="666666"/>
                </a:solidFill>
                <a:latin typeface="Courier"/>
              </a:rPr>
              <a:t>,</a:t>
            </a:r>
            <a:r>
              <a:rPr lang="en-US" sz="1100">
                <a:latin typeface="Courier"/>
              </a:rPr>
              <a:t> V</a:t>
            </a:r>
            <a:r>
              <a:rPr lang="en-US" sz="1100">
                <a:solidFill>
                  <a:srgbClr val="666666"/>
                </a:solidFill>
                <a:latin typeface="Courier"/>
              </a:rPr>
              <a:t>&gt;</a:t>
            </a:r>
            <a:r>
              <a:rPr lang="en-US" sz="1100">
                <a:latin typeface="Courier"/>
              </a:rPr>
              <a:t>(HashMap</a:t>
            </a:r>
            <a:r>
              <a:rPr lang="en-US" sz="1100">
                <a:solidFill>
                  <a:srgbClr val="666666"/>
                </a:solidFill>
                <a:latin typeface="Courier"/>
              </a:rPr>
              <a:t>&lt;</a:t>
            </a:r>
            <a:r>
              <a:rPr lang="en-US" sz="1100">
                <a:latin typeface="Courier"/>
              </a:rPr>
              <a:t>K</a:t>
            </a:r>
            <a:r>
              <a:rPr lang="en-US" sz="1100">
                <a:solidFill>
                  <a:srgbClr val="666666"/>
                </a:solidFill>
                <a:latin typeface="Courier"/>
              </a:rPr>
              <a:t>,</a:t>
            </a:r>
            <a:r>
              <a:rPr lang="en-US" sz="1100">
                <a:latin typeface="Courier"/>
              </a:rPr>
              <a:t> V</a:t>
            </a:r>
            <a:r>
              <a:rPr lang="en-US" sz="1100">
                <a:solidFill>
                  <a:srgbClr val="666666"/>
                </a:solidFill>
                <a:latin typeface="Courier"/>
              </a:rPr>
              <a:t>&gt;</a:t>
            </a:r>
            <a:r>
              <a:rPr lang="en-US" sz="1100">
                <a:latin typeface="Courier"/>
              </a:rPr>
              <a:t>)</a:t>
            </a:r>
            <a:r>
              <a:rPr lang="en-US" sz="1100">
                <a:solidFill>
                  <a:srgbClr val="666666"/>
                </a:solidFill>
                <a:latin typeface="Courier"/>
              </a:rPr>
              <a:t>;</a:t>
            </a:r>
            <a:br/>
            <a:r>
              <a:rPr lang="en-US" sz="1100">
                <a:latin typeface="Courier"/>
              </a:rPr>
              <a:t>  </a:t>
            </a:r>
            <a:r>
              <a:rPr lang="en-US" sz="1100" b="1">
                <a:solidFill>
                  <a:srgbClr val="007020"/>
                </a:solidFill>
                <a:latin typeface="Courier"/>
              </a:rPr>
              <a:t>impl</a:t>
            </a:r>
            <a:r>
              <a:rPr lang="en-US" sz="1100">
                <a:solidFill>
                  <a:srgbClr val="666666"/>
                </a:solidFill>
                <a:latin typeface="Courier"/>
              </a:rPr>
              <a:t>&lt;</a:t>
            </a:r>
            <a:r>
              <a:rPr lang="en-US" sz="1100">
                <a:latin typeface="Courier"/>
              </a:rPr>
              <a:t>K</a:t>
            </a:r>
            <a:r>
              <a:rPr lang="en-US" sz="1100">
                <a:solidFill>
                  <a:srgbClr val="666666"/>
                </a:solidFill>
                <a:latin typeface="Courier"/>
              </a:rPr>
              <a:t>,</a:t>
            </a:r>
            <a:r>
              <a:rPr lang="en-US" sz="1100">
                <a:latin typeface="Courier"/>
              </a:rPr>
              <a:t>V</a:t>
            </a:r>
            <a:r>
              <a:rPr lang="en-US" sz="1100">
                <a:solidFill>
                  <a:srgbClr val="666666"/>
                </a:solidFill>
                <a:latin typeface="Courier"/>
              </a:rPr>
              <a:t>&gt;</a:t>
            </a:r>
            <a:r>
              <a:rPr lang="en-US" sz="1100">
                <a:latin typeface="Courier"/>
              </a:rPr>
              <a:t> View </a:t>
            </a:r>
            <a:r>
              <a:rPr lang="en-US" sz="1100" b="1">
                <a:solidFill>
                  <a:srgbClr val="007020"/>
                </a:solidFill>
                <a:latin typeface="Courier"/>
              </a:rPr>
              <a:t>for</a:t>
            </a:r>
            <a:r>
              <a:rPr lang="en-US" sz="1100">
                <a:latin typeface="Courier"/>
              </a:rPr>
              <a:t> ExHashMap</a:t>
            </a:r>
            <a:r>
              <a:rPr lang="en-US" sz="1100">
                <a:solidFill>
                  <a:srgbClr val="666666"/>
                </a:solidFill>
                <a:latin typeface="Courier"/>
              </a:rPr>
              <a:t>&lt;</a:t>
            </a:r>
            <a:r>
              <a:rPr lang="en-US" sz="1100">
                <a:latin typeface="Courier"/>
              </a:rPr>
              <a:t>K</a:t>
            </a:r>
            <a:r>
              <a:rPr lang="en-US" sz="1100">
                <a:solidFill>
                  <a:srgbClr val="666666"/>
                </a:solidFill>
                <a:latin typeface="Courier"/>
              </a:rPr>
              <a:t>,</a:t>
            </a:r>
            <a:r>
              <a:rPr lang="en-US" sz="1100">
                <a:latin typeface="Courier"/>
              </a:rPr>
              <a:t>V</a:t>
            </a:r>
            <a:r>
              <a:rPr lang="en-US" sz="1100">
                <a:solidFill>
                  <a:srgbClr val="666666"/>
                </a:solidFill>
                <a:latin typeface="Courier"/>
              </a:rPr>
              <a:t>&gt;</a:t>
            </a:r>
            <a:r>
              <a:rPr lang="en-US" sz="1100">
                <a:latin typeface="Courier"/>
              </a:rPr>
              <a:t> </a:t>
            </a:r>
            <a:r>
              <a:rPr lang="en-US" sz="1100">
                <a:solidFill>
                  <a:srgbClr val="666666"/>
                </a:solidFill>
                <a:latin typeface="Courier"/>
              </a:rPr>
              <a:t>{</a:t>
            </a:r>
            <a:br/>
            <a:r>
              <a:rPr lang="en-US" sz="1100">
                <a:latin typeface="Courier"/>
              </a:rPr>
              <a:t>       </a:t>
            </a:r>
            <a:r>
              <a:rPr lang="en-US" sz="1100" b="1">
                <a:solidFill>
                  <a:srgbClr val="007020"/>
                </a:solidFill>
                <a:latin typeface="Courier"/>
              </a:rPr>
              <a:t>type</a:t>
            </a:r>
            <a:r>
              <a:rPr lang="en-US" sz="1100">
                <a:latin typeface="Courier"/>
              </a:rPr>
              <a:t> V </a:t>
            </a:r>
            <a:r>
              <a:rPr lang="en-US" sz="1100">
                <a:solidFill>
                  <a:srgbClr val="666666"/>
                </a:solidFill>
                <a:latin typeface="Courier"/>
              </a:rPr>
              <a:t>=</a:t>
            </a:r>
            <a:r>
              <a:rPr lang="en-US" sz="1100">
                <a:latin typeface="Courier"/>
              </a:rPr>
              <a:t> Map</a:t>
            </a:r>
            <a:r>
              <a:rPr lang="en-US" sz="1100">
                <a:solidFill>
                  <a:srgbClr val="666666"/>
                </a:solidFill>
                <a:latin typeface="Courier"/>
              </a:rPr>
              <a:t>&lt;</a:t>
            </a:r>
            <a:r>
              <a:rPr lang="en-US" sz="1100">
                <a:solidFill>
                  <a:srgbClr val="BC7A00"/>
                </a:solidFill>
                <a:latin typeface="Courier"/>
              </a:rPr>
              <a:t>K::</a:t>
            </a:r>
            <a:r>
              <a:rPr lang="en-US" sz="1100">
                <a:latin typeface="Courier"/>
              </a:rPr>
              <a:t>V</a:t>
            </a:r>
            <a:r>
              <a:rPr lang="en-US" sz="1100">
                <a:solidFill>
                  <a:srgbClr val="666666"/>
                </a:solidFill>
                <a:latin typeface="Courier"/>
              </a:rPr>
              <a:t>,</a:t>
            </a:r>
            <a:r>
              <a:rPr lang="en-US" sz="1100">
                <a:latin typeface="Courier"/>
              </a:rPr>
              <a:t> </a:t>
            </a:r>
            <a:r>
              <a:rPr lang="en-US" sz="1100">
                <a:solidFill>
                  <a:srgbClr val="BC7A00"/>
                </a:solidFill>
                <a:latin typeface="Courier"/>
              </a:rPr>
              <a:t>V::</a:t>
            </a:r>
            <a:r>
              <a:rPr lang="en-US" sz="1100">
                <a:latin typeface="Courier"/>
              </a:rPr>
              <a:t>V</a:t>
            </a:r>
            <a:r>
              <a:rPr lang="en-US" sz="1100">
                <a:solidFill>
                  <a:srgbClr val="666666"/>
                </a:solidFill>
                <a:latin typeface="Courier"/>
              </a:rPr>
              <a:t>&gt;;</a:t>
            </a:r>
            <a:br/>
            <a:r>
              <a:rPr lang="en-US" sz="1100">
                <a:latin typeface="Courier"/>
              </a:rPr>
              <a:t>       spec </a:t>
            </a:r>
            <a:r>
              <a:rPr lang="en-US" sz="1100" b="1">
                <a:solidFill>
                  <a:srgbClr val="007020"/>
                </a:solidFill>
                <a:latin typeface="Courier"/>
              </a:rPr>
              <a:t>fn</a:t>
            </a:r>
            <a:r>
              <a:rPr lang="en-US" sz="1100">
                <a:latin typeface="Courier"/>
              </a:rPr>
              <a:t> view(</a:t>
            </a:r>
            <a:r>
              <a:rPr lang="en-US" sz="1100">
                <a:solidFill>
                  <a:srgbClr val="666666"/>
                </a:solidFill>
                <a:latin typeface="Courier"/>
              </a:rPr>
              <a:t>&amp;</a:t>
            </a:r>
            <a:r>
              <a:rPr lang="en-US" sz="1100" b="1">
                <a:solidFill>
                  <a:srgbClr val="007020"/>
                </a:solidFill>
                <a:latin typeface="Courier"/>
              </a:rPr>
              <a:t>self</a:t>
            </a:r>
            <a:r>
              <a:rPr lang="en-US" sz="1100">
                <a:latin typeface="Courier"/>
              </a:rPr>
              <a:t>) </a:t>
            </a:r>
            <a:r>
              <a:rPr lang="en-US" sz="1100">
                <a:solidFill>
                  <a:srgbClr val="666666"/>
                </a:solidFill>
                <a:latin typeface="Courier"/>
              </a:rPr>
              <a:t>-&gt;</a:t>
            </a:r>
            <a:r>
              <a:rPr lang="en-US" sz="1100">
                <a:latin typeface="Courier"/>
              </a:rPr>
              <a:t> Map</a:t>
            </a:r>
            <a:r>
              <a:rPr lang="en-US" sz="1100">
                <a:solidFill>
                  <a:srgbClr val="666666"/>
                </a:solidFill>
                <a:latin typeface="Courier"/>
              </a:rPr>
              <a:t>&lt;</a:t>
            </a:r>
            <a:r>
              <a:rPr lang="en-US" sz="1100">
                <a:solidFill>
                  <a:srgbClr val="BC7A00"/>
                </a:solidFill>
                <a:latin typeface="Courier"/>
              </a:rPr>
              <a:t>K::</a:t>
            </a:r>
            <a:r>
              <a:rPr lang="en-US" sz="1100">
                <a:latin typeface="Courier"/>
              </a:rPr>
              <a:t>V</a:t>
            </a:r>
            <a:r>
              <a:rPr lang="en-US" sz="1100">
                <a:solidFill>
                  <a:srgbClr val="666666"/>
                </a:solidFill>
                <a:latin typeface="Courier"/>
              </a:rPr>
              <a:t>,</a:t>
            </a:r>
            <a:r>
              <a:rPr lang="en-US" sz="1100">
                <a:latin typeface="Courier"/>
              </a:rPr>
              <a:t> </a:t>
            </a:r>
            <a:r>
              <a:rPr lang="en-US" sz="1100">
                <a:solidFill>
                  <a:srgbClr val="BC7A00"/>
                </a:solidFill>
                <a:latin typeface="Courier"/>
              </a:rPr>
              <a:t>V::</a:t>
            </a:r>
            <a:r>
              <a:rPr lang="en-US" sz="1100">
                <a:latin typeface="Courier"/>
              </a:rPr>
              <a:t>V</a:t>
            </a:r>
            <a:r>
              <a:rPr lang="en-US" sz="1100">
                <a:solidFill>
                  <a:srgbClr val="666666"/>
                </a:solidFill>
                <a:latin typeface="Courier"/>
              </a:rPr>
              <a:t>&gt;;}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 lang="en-US" sz="3200"/>
              <a:t>Wrapping Rust — external_trait_specification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z="1100"/>
              <a:t>Adds a spec to a foreign trait without modifying it:</a:t>
            </a:r>
          </a:p>
          <a:p>
            <a:pPr lvl="0" indent="0">
              <a:buNone/>
            </a:pPr>
            <a:r>
              <a:rPr>
                <a:solidFill>
                  <a:srgbClr val="7D9029"/>
                </a:solidFill>
                <a:latin typeface="Courier"/>
              </a:rPr>
              <a:t>#[</a:t>
            </a:r>
            <a:r>
              <a:rPr lang="en-US" sz="1100">
                <a:solidFill>
                  <a:srgbClr val="BC7A00"/>
                </a:solidFill>
                <a:latin typeface="Courier"/>
              </a:rPr>
              <a:t>verifier::</a:t>
            </a:r>
            <a:r>
              <a:rPr lang="en-US" sz="1100">
                <a:latin typeface="Courier"/>
              </a:rPr>
              <a:t>external_trait_specification</a:t>
            </a:r>
            <a:r>
              <a:rPr lang="en-US" sz="1100">
                <a:solidFill>
                  <a:srgbClr val="7D9029"/>
                </a:solidFill>
                <a:latin typeface="Courier"/>
              </a:rPr>
              <a:t>]</a:t>
            </a:r>
            <a:br/>
            <a:r>
              <a:rPr lang="en-US" sz="1100" b="1">
                <a:solidFill>
                  <a:srgbClr val="007020"/>
                </a:solidFill>
                <a:latin typeface="Courier"/>
              </a:rPr>
              <a:t>pub</a:t>
            </a:r>
            <a:r>
              <a:rPr lang="en-US" sz="1100">
                <a:latin typeface="Courier"/>
              </a:rPr>
              <a:t> </a:t>
            </a:r>
            <a:r>
              <a:rPr lang="en-US" sz="1100" b="1">
                <a:solidFill>
                  <a:srgbClr val="007020"/>
                </a:solidFill>
                <a:latin typeface="Courier"/>
              </a:rPr>
              <a:t>trait</a:t>
            </a:r>
            <a:r>
              <a:rPr lang="en-US" sz="1100">
                <a:latin typeface="Courier"/>
              </a:rPr>
              <a:t> ExClone</a:t>
            </a:r>
            <a:r>
              <a:rPr lang="en-US" sz="1100">
                <a:solidFill>
                  <a:srgbClr val="666666"/>
                </a:solidFill>
                <a:latin typeface="Courier"/>
              </a:rPr>
              <a:t>:</a:t>
            </a:r>
            <a:r>
              <a:rPr lang="en-US" sz="1100">
                <a:latin typeface="Courier"/>
              </a:rPr>
              <a:t> </a:t>
            </a:r>
            <a:r>
              <a:rPr lang="en-US" sz="1100">
                <a:solidFill>
                  <a:srgbClr val="008000"/>
                </a:solidFill>
                <a:latin typeface="Courier"/>
              </a:rPr>
              <a:t>Sized</a:t>
            </a:r>
            <a:r>
              <a:rPr lang="en-US" sz="1100">
                <a:latin typeface="Courier"/>
              </a:rPr>
              <a:t> </a:t>
            </a:r>
            <a:r>
              <a:rPr lang="en-US" sz="1100">
                <a:solidFill>
                  <a:srgbClr val="666666"/>
                </a:solidFill>
                <a:latin typeface="Courier"/>
              </a:rPr>
              <a:t>{</a:t>
            </a:r>
            <a:br/>
            <a:r>
              <a:rPr lang="en-US" sz="1100">
                <a:latin typeface="Courier"/>
              </a:rPr>
              <a:t>    </a:t>
            </a:r>
            <a:r>
              <a:rPr lang="en-US" sz="1100" b="1">
                <a:solidFill>
                  <a:srgbClr val="007020"/>
                </a:solidFill>
                <a:latin typeface="Courier"/>
              </a:rPr>
              <a:t>type</a:t>
            </a:r>
            <a:r>
              <a:rPr lang="en-US" sz="1100">
                <a:latin typeface="Courier"/>
              </a:rPr>
              <a:t> ExternalTraitSpecificationFor: core::clone::Clone</a:t>
            </a:r>
            <a:r>
              <a:rPr lang="en-US" sz="1100">
                <a:solidFill>
                  <a:srgbClr val="666666"/>
                </a:solidFill>
                <a:latin typeface="Courier"/>
              </a:rPr>
              <a:t>;</a:t>
            </a:r>
            <a:br/>
            <a:r>
              <a:rPr lang="en-US" sz="1100">
                <a:latin typeface="Courier"/>
              </a:rPr>
              <a:t>    </a:t>
            </a:r>
            <a:r>
              <a:rPr lang="en-US" sz="1100" b="1">
                <a:solidFill>
                  <a:srgbClr val="007020"/>
                </a:solidFill>
                <a:latin typeface="Courier"/>
              </a:rPr>
              <a:t>fn</a:t>
            </a:r>
            <a:r>
              <a:rPr lang="en-US" sz="1100">
                <a:latin typeface="Courier"/>
              </a:rPr>
              <a:t> clone(</a:t>
            </a:r>
            <a:r>
              <a:rPr lang="en-US" sz="1100">
                <a:solidFill>
                  <a:srgbClr val="666666"/>
                </a:solidFill>
                <a:latin typeface="Courier"/>
              </a:rPr>
              <a:t>&amp;</a:t>
            </a:r>
            <a:r>
              <a:rPr lang="en-US" sz="1100" b="1">
                <a:solidFill>
                  <a:srgbClr val="007020"/>
                </a:solidFill>
                <a:latin typeface="Courier"/>
              </a:rPr>
              <a:t>self</a:t>
            </a:r>
            <a:r>
              <a:rPr lang="en-US" sz="1100">
                <a:latin typeface="Courier"/>
              </a:rPr>
              <a:t>) </a:t>
            </a:r>
            <a:r>
              <a:rPr lang="en-US" sz="1100">
                <a:solidFill>
                  <a:srgbClr val="666666"/>
                </a:solidFill>
                <a:latin typeface="Courier"/>
              </a:rPr>
              <a:t>-&gt;</a:t>
            </a:r>
            <a:r>
              <a:rPr lang="en-US" sz="1100">
                <a:latin typeface="Courier"/>
              </a:rPr>
              <a:t> </a:t>
            </a:r>
            <a:r>
              <a:rPr lang="en-US" sz="1100">
                <a:solidFill>
                  <a:srgbClr val="902000"/>
                </a:solidFill>
                <a:latin typeface="Courier"/>
              </a:rPr>
              <a:t>Self</a:t>
            </a:r>
            <a:r>
              <a:rPr lang="en-US" sz="1100">
                <a:solidFill>
                  <a:srgbClr val="666666"/>
                </a:solidFill>
                <a:latin typeface="Courier"/>
              </a:rPr>
              <a:t>;</a:t>
            </a:r>
            <a:br/>
            <a:r>
              <a:rPr lang="en-US" sz="1100">
                <a:solidFill>
                  <a:srgbClr val="666666"/>
                </a:solidFill>
                <a:latin typeface="Courier"/>
              </a:rPr>
              <a:t>}</a:t>
            </a:r>
          </a:p>
          <a:p>
            <a:pPr lvl="0"/>
            <a:r>
              <a:rPr lang="en-US" sz="1100"/>
              <a:t>The proxy trait name is </a:t>
            </a:r>
            <a:r>
              <a:rPr>
                <a:latin typeface="Courier"/>
              </a:rPr>
              <a:t>Ex&lt;TraitName&gt;</a:t>
            </a:r>
            <a:r>
              <a:rPr lang="en-US" sz="1100"/>
              <a:t> by convention.</a:t>
            </a:r>
          </a:p>
          <a:p>
            <a:pPr lvl="0"/>
            <a:r>
              <a:rPr lang="en-US" sz="1800"/>
              <a:t>Add </a:t>
            </a:r>
            <a:r>
              <a:rPr>
                <a:latin typeface="Courier"/>
              </a:rPr>
              <a:t>requires</a:t>
            </a:r>
            <a:r>
              <a:rPr lang="en-US" sz="1100"/>
              <a:t>/</a:t>
            </a:r>
            <a:r>
              <a:rPr>
                <a:latin typeface="Courier"/>
              </a:rPr>
              <a:t>ensures</a:t>
            </a:r>
            <a:r>
              <a:rPr lang="en-US" sz="1800"/>
              <a:t> to the method to give it a full contract.</a:t>
            </a:r>
          </a:p>
          <a:p>
            <a:pPr lvl="0"/>
            <a:r>
              <a:rPr lang="en-US" sz="1800"/>
              <a:t>Limitation: no generics.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 lang="en-US" sz="3200"/>
              <a:t>Tokenized State Machines — Hance, CMU 2024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z="1800"/>
              <a:t>Problem: Rust’s ownership types handle sequential aliasing well but cannot express distributed protocol state across threads.</a:t>
            </a:r>
          </a:p>
          <a:p>
            <a:pPr lvl="0"/>
            <a:r>
              <a:rPr lang="en-US" sz="1800"/>
              <a:t>Answer: A Tokenized State Machine defines protocol state as fields with sharding strategies (variable, map, count, storage_option…).</a:t>
            </a:r>
          </a:p>
          <a:p>
            <a:pPr lvl="0"/>
            <a:r>
              <a:rPr lang="en-US" sz="1800"/>
              <a:t>Transitions and an inductive invariant are proved once, globally.</a:t>
            </a:r>
          </a:p>
          <a:p>
            <a:pPr lvl="0"/>
            <a:r>
              <a:rPr lang="en-US" sz="1800"/>
              <a:t>Verus auto-generates ghost token types and exchange functions</a:t>
            </a:r>
          </a:p>
          <a:p>
            <a:pPr lvl="0"/>
            <a:r>
              <a:rPr lang="en-US" sz="1800"/>
              <a:t>This has now been generalized to partial commutative monoids.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 lang="en-US" sz="3200"/>
              <a:t>APAS-VERUS - AI Paired Proving APAS in Verus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z="1800"/>
              <a:t>Goal: formally verify all algorithms in Acar and Blelloch</a:t>
            </a:r>
          </a:p>
          <a:p>
            <a:pPr lvl="1"/>
            <a:r>
              <a:rPr lang="en-US" sz="1800"/>
              <a:t>Every algorithm gets a machine-checked proof</a:t>
            </a:r>
          </a:p>
          <a:p>
            <a:pPr lvl="1"/>
            <a:r>
              <a:rPr lang="en-US" sz="1800"/>
              <a:t>no admitted lemmas,</a:t>
            </a:r>
          </a:p>
          <a:p>
            <a:pPr lvl="1"/>
            <a:r>
              <a:rPr lang="en-US" sz="1800"/>
              <a:t>no hand-waving in production code.</a:t>
            </a:r>
          </a:p>
          <a:p>
            <a:pPr lvl="0"/>
            <a:r>
              <a:rPr lang="en-US" sz="1800"/>
              <a:t>44 chapters, 262 algorithm files, upto 4 variants per algorithm: StEph (sequential mutable), StPer (sequential persistent), MtEph (parallel mutable), MtPer (parallel persistent).</a:t>
            </a:r>
          </a:p>
          <a:p>
            <a:pPr lvl="0"/>
            <a:r>
              <a:rPr lang="en-US" sz="1800"/>
              <a:t>Minimal use of Rust std.</a:t>
            </a:r>
          </a:p>
          <a:p>
            <a:pPr lvl="0"/>
            <a:r>
              <a:rPr lang="en-US" sz="1800"/>
              <a:t>But as you’ll see I had to write some axioms and admit a class of functions.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 lang="en-US" sz="3200"/>
              <a:t>APAS-VERUS - AI Paired Proving APAS in Verus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z="1800"/>
              <a:t>26 vstdplus library modules, mostly making Views.</a:t>
            </a:r>
          </a:p>
          <a:p>
            <a:pPr lvl="0"/>
            <a:r>
              <a:rPr lang="en-US" sz="1800"/>
              <a:t>29 standards documents encoding project proof conventions,</a:t>
            </a:r>
          </a:p>
          <a:p>
            <a:pPr lvl="0"/>
            <a:r>
              <a:rPr lang="en-US" sz="1800"/>
              <a:t>Verification is the primary goal.</a:t>
            </a:r>
          </a:p>
          <a:p>
            <a:pPr lvl="0"/>
            <a:r>
              <a:rPr lang="en-US" sz="1800"/>
              <a:t>Runtime tests (RTT) and proof-time tests (PTT) are secondary, but still terribly useful.</a:t>
            </a:r>
          </a:p>
          <a:p>
            <a:pPr lvl="0"/>
            <a:r>
              <a:rPr lang="en-US" sz="1800"/>
              <a:t>They both still catch errors and instruct the AI.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 lang="en-US" sz="3200"/>
              <a:t>APAS-VERUS — Quantitatives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z="1800"/>
              <a:t>Scale: 44 chapters, 262 files, 186,223 src LOC (not counting comments).</a:t>
            </a:r>
          </a:p>
          <a:p>
            <a:pPr lvl="0"/>
            <a:r>
              <a:rPr lang="en-US" sz="1800"/>
              <a:t>With vstdplus, standards, RTT, PTT: 275,014 total LOC.</a:t>
            </a:r>
          </a:p>
          <a:p>
            <a:pPr lvl="0"/>
            <a:r>
              <a:rPr lang="en-US" sz="1800"/>
              <a:t>Built in 160 days, 2,596 commits, 8 agents, 281 agent-round reports.</a:t>
            </a:r>
          </a:p>
          <a:p>
            <a:pPr lvl="0"/>
            <a:r>
              <a:rPr lang="en-US" sz="1800"/>
              <a:t>Verification: 5,674 verified proof obligations, 0 errors.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 lang="en-US" sz="3200"/>
              <a:t>APAS-VERUS: Full Validation Cost (2026-04-12)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z="1800"/>
              <a:t>Elapsed: 210s on a 12 core notebook</a:t>
            </a:r>
          </a:p>
          <a:p>
            <a:pPr lvl="0"/>
            <a:r>
              <a:rPr lang="en-US" sz="1800"/>
              <a:t>rust_verify RSS: 10,278 MB (~10 GB)</a:t>
            </a:r>
          </a:p>
          <a:p>
            <a:pPr lvl="0"/>
            <a:r>
              <a:rPr lang="en-US" sz="1800"/>
              <a:t>Z3 RSS: 6,874 MB (~6.7 GB)</a:t>
            </a:r>
          </a:p>
          <a:p>
            <a:pPr lvl="0"/>
            <a:r>
              <a:rPr lang="en-US" sz="1800"/>
              <a:t>rust_verify CPU: 216s</a:t>
            </a:r>
          </a:p>
          <a:p>
            <a:pPr lvl="0"/>
            <a:r>
              <a:rPr lang="en-US" sz="1800"/>
              <a:t>Z3 CPU: 265s</a:t>
            </a:r>
          </a:p>
          <a:p>
            <a:pPr lvl="0"/>
            <a:r>
              <a:rPr lang="en-US" sz="1800"/>
              <a:t>But I have had Z3 jump up to as much as 28 GB when I write bad proofs.</a:t>
            </a:r>
          </a:p>
          <a:p>
            <a:pPr lvl="0"/>
            <a:r>
              <a:rPr lang="en-US" sz="1800"/>
              <a:t>Somewhere in it I suspect there is a novel formal verification of some algorithm.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 lang="en-US" sz="3200"/>
              <a:t>APAS-VERUS — Quantitatives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z="1800"/>
              <a:t>Holes: started at 238 (R20), now 0 but it’s out of date with Verus.</a:t>
            </a:r>
          </a:p>
          <a:p>
            <a:pPr lvl="0"/>
            <a:r>
              <a:rPr lang="en-US" sz="1800"/>
              <a:t>Largest chapter is the forest: Chap37 - AVL trees, BST variants - 20,319 src LOC.</a:t>
            </a:r>
          </a:p>
          <a:p>
            <a:pPr lvl="0"/>
            <a:r>
              <a:rPr lang="en-US" sz="1800"/>
              <a:t>2 × more source code to verify than APAS-AI needed to implement.</a:t>
            </a:r>
          </a:p>
          <a:p>
            <a:pPr lvl="0"/>
            <a:r>
              <a:rPr lang="en-US" sz="1800"/>
              <a:t>Start: 2025-11-03</a:t>
            </a:r>
          </a:p>
          <a:p>
            <a:pPr lvl="0"/>
            <a:r>
              <a:rPr lang="en-US" sz="1800"/>
              <a:t>End : 2026-04-12</a:t>
            </a:r>
          </a:p>
          <a:p>
            <a:pPr lvl="0"/>
            <a:r>
              <a:rPr lang="en-US" sz="1800"/>
              <a:t>Duration: approximately 150 calendar days</a:t>
            </a: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 lang="en-US" sz="3200"/>
              <a:t>APAS-VERUS -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z="1800"/>
              <a:t>Spec 32,868 (21%)</a:t>
            </a:r>
          </a:p>
          <a:p>
            <a:pPr lvl="0"/>
            <a:r>
              <a:rPr lang="en-US" sz="1800"/>
              <a:t>Proof 42,251 (27%)</a:t>
            </a:r>
          </a:p>
          <a:p>
            <a:pPr lvl="0"/>
            <a:r>
              <a:rPr lang="en-US" sz="1800"/>
              <a:t>Exec 67,883 (44%)</a:t>
            </a:r>
          </a:p>
          <a:p>
            <a:pPr lvl="0"/>
            <a:r>
              <a:rPr lang="en-US" sz="1800"/>
              <a:t>Rust 12,206 (8%) plain Rust (outside Verus!)</a:t>
            </a:r>
          </a:p>
          <a:p>
            <a:pPr lvl="0"/>
            <a:r>
              <a:rPr lang="en-US" sz="1800"/>
              <a:t>The “rust” 8% is code outside Verus! — Debug impls, macros, cfg, etc.</a:t>
            </a:r>
          </a:p>
          <a:p>
            <a:pPr lvl="0"/>
            <a:r>
              <a:rPr lang="en-US" sz="1800"/>
              <a:t>All proof to exec: 75,119 / 67,883 = 110%.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 lang="en-US" sz="3200"/>
              <a:t>APAS-VERUS: The Pain Points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z="1800"/>
              <a:t>When I started Verus, iterators for collections took quite some time.</a:t>
            </a:r>
          </a:p>
          <a:p>
            <a:pPr lvl="0"/>
            <a:r>
              <a:rPr lang="en-US" sz="1800"/>
              <a:t>Generics and Equality was the second big pain point.</a:t>
            </a:r>
          </a:p>
          <a:p>
            <a:pPr lvl="0"/>
            <a:r>
              <a:rPr lang="en-US" sz="1800"/>
              <a:t>I still have full equality axioms for generic types.</a:t>
            </a:r>
          </a:p>
          <a:p>
            <a:pPr lvl="0"/>
            <a:r>
              <a:rPr lang="en-US" sz="1800"/>
              <a:t>Closures took a good bit of work.</a:t>
            </a:r>
          </a:p>
          <a:p>
            <a:pPr lvl="0"/>
            <a:r>
              <a:rPr lang="en-US" sz="1800"/>
              <a:t>Ordering was and is still difficult, it made my UnionFind consume up to 28GB in Z3.</a:t>
            </a:r>
          </a:p>
          <a:p>
            <a:pPr lvl="0"/>
            <a:r>
              <a:rPr lang="en-US" sz="1800"/>
              <a:t>Verus is so fast, even with bloated AI proofs, I didn’t profile much until I was in the last few chapters.</a:t>
            </a:r>
          </a:p>
          <a:p>
            <a:pPr lvl="0"/>
            <a:r>
              <a:rPr lang="en-US" sz="1800"/>
              <a:t>I simply made validate isolate by chapters.</a:t>
            </a:r>
          </a:p>
          <a:p>
            <a:pPr lvl="0"/>
            <a:r>
              <a:rPr lang="en-US" sz="1800"/>
              <a:t>Verus is moving quickly and most of these pain points have been addressed.</a:t>
            </a:r>
          </a:p>
        </p:txBody>
      </p:sp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 lang="en-US" sz="3200"/>
              <a:t>AutoCLRS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z="1800"/>
              <a:t>AutoCLRS is Swamy et al. and AIs implementation: “Introduction to Algorithms, 4th ed” 2022</a:t>
            </a:r>
          </a:p>
          <a:p>
            <a:pPr lvl="0"/>
            <a:r>
              <a:rPr lang="en-US" sz="1800"/>
              <a:t>by Thomas H. Cormen, Charles E. Leiserson, Ronald L. Rivest, and Clifford Stein in F*/Pulse.</a:t>
            </a:r>
          </a:p>
          <a:p>
            <a:pPr lvl="0"/>
            <a:r>
              <a:rPr lang="en-US" sz="1800"/>
              <a:t>RISE MSR blog (2026-03-06) says the initial 10K lines came “very quickly” and then “about a month of nudging” to reach 100K LOC.</a:t>
            </a:r>
          </a:p>
          <a:p>
            <a:pPr lvl="0"/>
            <a:r>
              <a:rPr lang="en-US" sz="1800"/>
              <a:t>Nikhil Swamy with thanks to Gabriel Ebner, Lef Ioannidis, Guido Martinez, Matthai Philipose and Tahina Ramananandro.</a:t>
            </a:r>
          </a:p>
          <a:p>
            <a:pPr lvl="0"/>
            <a:r>
              <a:rPr lang="en-US" sz="1800"/>
              <a:t>They have a dependent type theory but prove about 12 times slower which they work around nicely with incremental and parallel proofs through a server.</a:t>
            </a:r>
          </a:p>
          <a:p>
            <a:pPr lvl="0"/>
            <a:r>
              <a:rPr lang="en-US" sz="1800"/>
              <a:t>They did a formal specification of algorithmic complexity with step counting.</a:t>
            </a:r>
          </a:p>
        </p:txBody>
      </p:sp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 lang="en-US" sz="3200"/>
              <a:t>Rusticate and Veracity- Software Engineering AI Paired Proving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z="1800"/>
              <a:t>I first built a toolset call Rusticate for APAS-AI.</a:t>
            </a:r>
          </a:p>
          <a:p>
            <a:pPr lvl="0"/>
            <a:r>
              <a:rPr lang="en-US" sz="1800"/>
              <a:t>Everything one can do in programmatic SE, I try and do in programmatic SE.</a:t>
            </a:r>
          </a:p>
          <a:p>
            <a:pPr lvl="0"/>
            <a:r>
              <a:rPr lang="en-US" sz="1800"/>
              <a:t>The follow on tool for APAS-VERUS is Veracity, a suite of 22+ tools for analyzing, reviewing, and fixing Verus codebases.</a:t>
            </a:r>
          </a:p>
          <a:p>
            <a:pPr lvl="0"/>
            <a:r>
              <a:rPr lang="en-US" sz="1800"/>
              <a:t>Review tools:</a:t>
            </a:r>
          </a:p>
          <a:p>
            <a:pPr lvl="1"/>
            <a:r>
              <a:rPr lang="en-US" sz="1800"/>
              <a:t>proof holes (assume, external_body, admit),</a:t>
            </a:r>
          </a:p>
          <a:p>
            <a:pPr lvl="1"/>
            <a:r>
              <a:rPr lang="en-US" sz="1800"/>
              <a:t>style enforcement (21 rules, auto-reorder),</a:t>
            </a:r>
          </a:p>
          <a:p>
            <a:pPr lvl="1"/>
            <a:r>
              <a:rPr lang="en-US" sz="1800"/>
              <a:t>with spec strength classification fed to AI,</a:t>
            </a:r>
          </a:p>
          <a:p>
            <a:pPr lvl="1"/>
            <a:r>
              <a:rPr lang="en-US" sz="1800"/>
              <a:t>veracity-count-loc (spec/proof/exec breakdown),</a:t>
            </a:r>
          </a:p>
          <a:p>
            <a:pPr lvl="1"/>
            <a:r>
              <a:rPr lang="en-US" sz="1800"/>
              <a:t>chapter-cleanliness-status (clean vs. holed chapter summary vs blocked by),</a:t>
            </a:r>
          </a:p>
          <a:p>
            <a:pPr lvl="1"/>
            <a:r>
              <a:rPr lang="en-US" sz="1800"/>
              <a:t>string-hacking detector, function inventory, etc.</a:t>
            </a:r>
          </a:p>
          <a:p>
            <a:pPr lvl="0"/>
            <a:r>
              <a:rPr lang="en-US" sz="1800"/>
              <a:t>One of the best is veracity-minimize-proofs</a:t>
            </a:r>
          </a:p>
          <a:p>
            <a:pPr lvl="0"/>
            <a:r>
              <a:rPr lang="en-US" sz="1800"/>
              <a:t>Heck, I had to run the string hacking detector on the string hacking detector.</a:t>
            </a:r>
          </a:p>
        </p:txBody>
      </p:sp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 lang="en-US" sz="3200"/>
              <a:t>Veracity- Software Engineering AI Paired Proving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z="1800"/>
              <a:t>Search: veracity-search — type directed search over vstd</a:t>
            </a:r>
          </a:p>
          <a:p>
            <a:pPr lvl="0"/>
            <a:r>
              <a:rPr lang="en-US" sz="1800"/>
              <a:t>VERUS by type signature, finding lemmas before writing new ones.</a:t>
            </a:r>
          </a:p>
          <a:p>
            <a:pPr lvl="0"/>
            <a:r>
              <a:rPr lang="en-US" sz="1800"/>
              <a:t>“Specifications as Search Keys for Software Libraries” Eugene J. Rollins and Jeannette M. Wing</a:t>
            </a:r>
          </a:p>
          <a:p>
            <a:pPr lvl="0"/>
            <a:r>
              <a:rPr lang="en-US" sz="1800"/>
              <a:t>Written for my sins of asking why does Verus vstd not have X? when it did!</a:t>
            </a:r>
          </a:p>
          <a:p>
            <a:pPr lvl="0"/>
            <a:r>
              <a:rPr lang="en-US" sz="1800"/>
              <a:t>Even more useful for my AIs’s seriously disturbing sinning.</a:t>
            </a:r>
          </a:p>
          <a:p>
            <a:pPr lvl="0"/>
            <a:r>
              <a:rPr lang="en-US" sz="1800"/>
              <a:t>This allowed me to download ALL known Verus (git VerusCodebases) and have my AI search them in 1.2 seconds!</a:t>
            </a:r>
          </a:p>
        </p:txBody>
      </p:sp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 lang="en-US" sz="3200"/>
              <a:t>APAS-VERUS - Complexity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z="1800"/>
              <a:t>APAS states complexity and informally proves many of them for some algorithms.</a:t>
            </a:r>
          </a:p>
          <a:p>
            <a:pPr lvl="0"/>
            <a:r>
              <a:rPr lang="en-US" sz="1800"/>
              <a:t>So I wrote a programmatic tool to find and list mismatches.</a:t>
            </a:r>
          </a:p>
          <a:p>
            <a:pPr lvl="0"/>
            <a:r>
              <a:rPr lang="en-US" sz="1800"/>
              <a:t>Then I had Claude Opus do it’s analysis and compare every function with the textbook’s.</a:t>
            </a:r>
          </a:p>
          <a:p>
            <a:pPr lvl="0"/>
            <a:r>
              <a:rPr lang="en-US" sz="1800"/>
              <a:t>This found 16 faults in parallel algorithms.</a:t>
            </a:r>
          </a:p>
        </p:txBody>
      </p:sp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 lang="en-US" sz="3200"/>
              <a:t>APAS-VERUS: Experiments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z="1800"/>
              <a:t>Agents often say “Verus Can’t Do That”</a:t>
            </a:r>
          </a:p>
          <a:p>
            <a:pPr lvl="0"/>
            <a:r>
              <a:rPr lang="en-US" sz="1800"/>
              <a:t>I said “Make an experiment!”</a:t>
            </a:r>
          </a:p>
          <a:p>
            <a:pPr lvl="0"/>
            <a:r>
              <a:rPr lang="en-US" sz="1800"/>
              <a:t>Quantitatives:</a:t>
            </a:r>
          </a:p>
          <a:p>
            <a:pPr lvl="1"/>
            <a:r>
              <a:rPr lang="en-US" sz="1800"/>
              <a:t>168 experiment files</a:t>
            </a:r>
          </a:p>
          <a:p>
            <a:pPr lvl="1"/>
            <a:r>
              <a:rPr lang="en-US" sz="1800"/>
              <a:t>21,476 lines of code (not counted in the totals)</a:t>
            </a:r>
          </a:p>
          <a:p>
            <a:pPr lvl="0"/>
            <a:r>
              <a:rPr lang="en-US" sz="1800"/>
              <a:t>Topics span: Clone, Arc, RwLock, TSM, closures, iterators, generics, float, bitvector, PartialEq, Copy, async, hash tables, parallel algorithms, ghost types, Send/Sync, collect, and sorting.</a:t>
            </a:r>
          </a:p>
          <a:p>
            <a:pPr lvl="0"/>
            <a:r>
              <a:rPr lang="en-US" sz="1800"/>
              <a:t>168 experiments, 107 successes, 61 Verus limits.</a:t>
            </a:r>
          </a:p>
        </p:txBody>
      </p:sp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 lang="en-US" sz="3200"/>
              <a:t>APAS-VERUS Standards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z="1800"/>
              <a:t>I finally built a set of coding standards in Verus rust files and in comments.</a:t>
            </a:r>
          </a:p>
          <a:p>
            <a:pPr lvl="0"/>
            <a:r>
              <a:rPr lang="en-US" sz="1800"/>
              <a:t>Agents read all standards before every task (~6,200 lines, ~54K tokens)</a:t>
            </a:r>
          </a:p>
          <a:p>
            <a:pPr lvl="0"/>
            <a:r>
              <a:rPr lang="en-US" sz="1800"/>
              <a:t>Violations are mostly AI checked except where an extensive code styling can get things.</a:t>
            </a:r>
          </a:p>
          <a:p>
            <a:pPr lvl="0"/>
            <a:r>
              <a:rPr lang="en-US" sz="1800"/>
              <a:t>Quantitatives:</a:t>
            </a:r>
          </a:p>
          <a:p>
            <a:pPr lvl="1"/>
            <a:r>
              <a:rPr lang="en-US" sz="1800"/>
              <a:t>29 standard files</a:t>
            </a:r>
          </a:p>
          <a:p>
            <a:pPr lvl="1"/>
            <a:r>
              <a:rPr lang="en-US" sz="1800"/>
              <a:t>6,911 lines total</a:t>
            </a:r>
          </a:p>
          <a:p>
            <a:pPr lvl="0"/>
            <a:r>
              <a:rPr lang="en-US" sz="1800"/>
              <a:t>Doing this earlier would have really sped things up.</a:t>
            </a:r>
          </a:p>
        </p:txBody>
      </p:sp>
    </p:spTree>
  </p:cSld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 lang="en-US" sz="3200"/>
              <a:t>Taking Claude to CS classes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z="1800"/>
              <a:t>In order to make Claude opus-4.8 work, I had to take it to CS classes.</a:t>
            </a:r>
          </a:p>
          <a:p>
            <a:pPr lvl="1"/>
            <a:r>
              <a:rPr lang="en-US" sz="1800"/>
              <a:t>https://github.com/briangmilnes/ComputAItionalThinking</a:t>
            </a:r>
          </a:p>
          <a:p>
            <a:pPr lvl="1"/>
            <a:r>
              <a:rPr lang="en-US" sz="1800"/>
              <a:t>ala Wing CACM Vol. 49 num 3, 2006</a:t>
            </a:r>
          </a:p>
          <a:p>
            <a:pPr lvl="0"/>
            <a:r>
              <a:rPr lang="en-US" sz="1800"/>
              <a:t>I described computational thinking and the agent’s roles.</a:t>
            </a:r>
          </a:p>
          <a:p>
            <a:pPr lvl="0"/>
            <a:r>
              <a:rPr lang="en-US" sz="1800"/>
              <a:t>I had my agent read and generate vocabulary over about 30 open classes.</a:t>
            </a:r>
          </a:p>
        </p:txBody>
      </p:sp>
    </p:spTree>
  </p:cSld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 lang="en-US" sz="3200"/>
              <a:t>Taking Claude to SE process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z="1800"/>
              <a:t>Although APAS-AI and APAS-VERUS were developed without a formal SE process</a:t>
            </a:r>
          </a:p>
          <a:p>
            <a:pPr lvl="0"/>
            <a:r>
              <a:rPr lang="en-US" sz="1800"/>
              <a:t>I eventually settled into a style and taught it to my AIs</a:t>
            </a:r>
          </a:p>
          <a:p>
            <a:pPr lvl="0"/>
            <a:r>
              <a:rPr lang="en-US" sz="1800"/>
              <a:t>In medicine: GRASE (Medical Acronym) - Generally Recognized as Safe and Effective</a:t>
            </a:r>
          </a:p>
          <a:p>
            <a:pPr lvl="0"/>
            <a:r>
              <a:rPr lang="en-US" sz="1800"/>
              <a:t>In SE: GRASE - Git Recording Agentic Software Engineering</a:t>
            </a:r>
          </a:p>
          <a:p>
            <a:pPr lvl="0"/>
            <a:r>
              <a:rPr lang="en-US" sz="1800"/>
              <a:t>https://github.com/briangmilnes/GRASE</a:t>
            </a:r>
          </a:p>
          <a:p>
            <a:pPr lvl="0"/>
            <a:r>
              <a:rPr lang="en-US" sz="1800"/>
              <a:t>Agents are now hiding more and more of their thinking, even encrypting their messages to subagents.</a:t>
            </a:r>
          </a:p>
          <a:p>
            <a:pPr lvl="0"/>
            <a:r>
              <a:rPr lang="en-US" sz="1800"/>
              <a:t>GRASE pushes them into fixed plans, reports, logging and analyses which gives you more understanding and control.</a:t>
            </a:r>
          </a:p>
        </p:txBody>
      </p:sp>
    </p:spTree>
  </p:cSld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 lang="en-US" sz="3200"/>
              <a:t>Veracity: AIs Write Redundant Proofs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z="1800"/>
              <a:t>AI proof agents produce many correct but bloated proofs.</a:t>
            </a:r>
          </a:p>
          <a:p>
            <a:pPr lvl="0"/>
            <a:r>
              <a:rPr lang="en-US" sz="1800"/>
              <a:t>So I wrote a proof minimizer: veracity-minimize-proofs.</a:t>
            </a:r>
          </a:p>
          <a:p>
            <a:pPr lvl="0"/>
            <a:r>
              <a:rPr lang="en-US" sz="1800"/>
              <a:t>It tests each assert and proof block individually: removes it, re-verify, comment it out if it is not needed and it does not increase time or memory.</a:t>
            </a:r>
          </a:p>
          <a:p>
            <a:pPr lvl="0"/>
            <a:r>
              <a:rPr lang="en-US" sz="1800"/>
              <a:t>One assert in Chap43 OrderedTableMtEph saved:</a:t>
            </a:r>
          </a:p>
          <a:p>
            <a:pPr lvl="1"/>
            <a:r>
              <a:rPr lang="en-US" sz="1800"/>
              <a:t>104 s of Z3 CPU</a:t>
            </a:r>
          </a:p>
          <a:p>
            <a:pPr lvl="1"/>
            <a:r>
              <a:rPr lang="en-US" sz="1800"/>
              <a:t>up to 89 MB of Z3 RSS per verify run.</a:t>
            </a:r>
          </a:p>
          <a:p>
            <a:pPr lvl="1"/>
            <a:r>
              <a:rPr lang="en-US" sz="1800"/>
              <a:t>Eight removals Z3 RSS dropped by 57%.</a:t>
            </a:r>
          </a:p>
          <a:p>
            <a:pPr lvl="0"/>
            <a:r>
              <a:rPr lang="en-US" sz="1800"/>
              <a:t>105 minutes of running the minimizer bought many hours of validation drop.</a:t>
            </a:r>
          </a:p>
        </p:txBody>
      </p:sp>
    </p:spTree>
  </p:cSld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 lang="en-US" sz="3200"/>
              <a:t>Proof Holes Over Time — R20 to R201</a:t>
            </a:r>
          </a:p>
        </p:txBody>
      </p:sp>
      <p:pic>
        <p:nvPicPr>
          <p:cNvPr descr="proof_hole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435100" y="1193800"/>
            <a:ext cx="62738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 lang="en-US" sz="3200"/>
              <a:t>Proof Time and Memory — Key Reductions</a:t>
            </a:r>
          </a:p>
        </p:txBody>
      </p:sp>
      <p:pic>
        <p:nvPicPr>
          <p:cNvPr descr="proof_tim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8000" y="1193800"/>
            <a:ext cx="81407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 lang="en-US" sz="3200"/>
              <a:t>Proof Time and Memory — Key Reductions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z="1800"/>
              <a:t>Five techiniques were used to optimize</a:t>
            </a:r>
          </a:p>
          <a:p>
            <a:pPr lvl="1"/>
            <a:r>
              <a:rPr lang="en-US" sz="1800"/>
              <a:t>minimize-proofs</a:t>
            </a:r>
          </a:p>
          <a:p>
            <a:pPr lvl="1"/>
            <a:r>
              <a:rPr lang="en-US" sz="1800"/>
              <a:t>profiling</a:t>
            </a:r>
          </a:p>
          <a:p>
            <a:pPr lvl="1"/>
            <a:r>
              <a:rPr lang="en-US" sz="1800"/>
              <a:t>splitting specs and applying them just where they are needed</a:t>
            </a:r>
          </a:p>
          <a:p>
            <a:pPr lvl="1"/>
            <a:r>
              <a:rPr lang="en-US" sz="1800"/>
              <a:t>opaque - to hide a definition within the module</a:t>
            </a:r>
          </a:p>
          <a:p>
            <a:pPr lvl="1"/>
            <a:r>
              <a:rPr lang="en-US" sz="1800"/>
              <a:t>private spec - to hide a definition across modules</a:t>
            </a:r>
          </a:p>
          <a:p>
            <a:pPr lvl="0"/>
            <a:r>
              <a:rPr lang="en-US" sz="1800"/>
              <a:t>OrderedTableMtEph: −57% proof time after minimize-proofs (R176).</a:t>
            </a:r>
          </a:p>
          <a:p>
            <a:pPr lvl="0"/>
            <a:r>
              <a:rPr lang="en-US" sz="1800"/>
              <a:t>UnionFindPCStEph: 139K Z3 instantiations → 0 after opaque pattern used in a required module.</a:t>
            </a:r>
          </a:p>
          <a:p>
            <a:pPr lvl="0"/>
            <a:r>
              <a:rPr lang="en-US" sz="1800"/>
              <a:t>Johnson Chap59: 756 MB → 520 MB (−31%) memory reduction.</a:t>
            </a:r>
          </a:p>
        </p:txBody>
      </p:sp>
    </p:spTree>
  </p:cSld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 lang="en-US" sz="3200"/>
              <a:t>CPR$ — Three Numbers and One Ratio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193800"/>
          <a:ext cx="8229600" cy="33909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6700"/>
                <a:gridCol w="698500"/>
                <a:gridCol w="1308100"/>
                <a:gridCol w="5956300"/>
              </a:tblGrid>
              <a:tr h="0"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#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Sym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Name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Measures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Cost of Code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$ to produce executable code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P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Cost of Proof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$ to produce specs, contracts, and proofs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C+P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Total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Full bill for the verified artifact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Review Ratio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Fraction of deliverable a proofgrammer must read (LOC0R excluded)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 lang="en-US" sz="3200"/>
              <a:t>Proofgrammer/AI Costs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z="1800" b="1"/>
              <a:t>Programmer rate</a:t>
            </a:r>
            <a:r>
              <a:rPr lang="en-US" sz="1800"/>
              <a:t>: $375,000/yr (senior + 50% loading)</a:t>
            </a:r>
          </a:p>
          <a:p>
            <a:pPr lvl="0"/>
            <a:r>
              <a:rPr lang="en-US" sz="1800" b="1"/>
              <a:t>Real AI spend</a:t>
            </a:r>
            <a:r>
              <a:rPr lang="en-US" sz="1800"/>
              <a:t>: &lt; $7,000 across the whole effort</a:t>
            </a:r>
          </a:p>
          <a:p>
            <a:pPr lvl="0"/>
            <a:r>
              <a:rPr lang="en-US" sz="1800" b="1"/>
              <a:t>Derived –ai-costs</a:t>
            </a:r>
            <a:r>
              <a:rPr lang="en-US" sz="1800"/>
              <a:t>: $4.886/hr × 1,760 = </a:t>
            </a:r>
            <a:r>
              <a:rPr lang="en-US" sz="1800" b="1"/>
              <a:t>$8,599/yr</a:t>
            </a:r>
          </a:p>
          <a:p>
            <a:pPr lvl="0"/>
            <a:r>
              <a:rPr lang="en-US" sz="1800" b="1"/>
              <a:t>AI split by task-hours</a:t>
            </a:r>
            <a:r>
              <a:rPr lang="en-US" sz="1800"/>
              <a:t>:</a:t>
            </a:r>
          </a:p>
          <a:p>
            <a:pPr lvl="1"/>
            <a:r>
              <a:rPr lang="en-US" sz="1800"/>
              <a:t>21.6% APAS-AI ($1,512)</a:t>
            </a:r>
          </a:p>
          <a:p>
            <a:pPr lvl="1"/>
            <a:r>
              <a:rPr lang="en-US" sz="1800"/>
              <a:t>78.4% APAS-VERUS ($5,488)</a:t>
            </a:r>
          </a:p>
        </p:txBody>
      </p:sp>
    </p:spTree>
  </p:cSld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 lang="en-US" sz="3200"/>
              <a:t>Proofgrammer/AI Costs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193800"/>
          <a:ext cx="8229600" cy="33909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68400"/>
                <a:gridCol w="1168400"/>
                <a:gridCol w="1168400"/>
                <a:gridCol w="1168400"/>
                <a:gridCol w="1168400"/>
                <a:gridCol w="1168400"/>
                <a:gridCol w="11684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#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Project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Hours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KLOC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KLoEC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KLOPC2R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KLOC0R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APAS-AI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309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31.8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31.8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—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—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APAS-VERUS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1,123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166.4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56.5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47.8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95.9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Combined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1,432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198.2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88.3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47.8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95.9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 lang="en-US" sz="3200"/>
              <a:t>CPR$ — Combined Result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193800"/>
          <a:ext cx="8229600" cy="33909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2743200"/>
                <a:gridCol w="2743200"/>
              </a:tblGrid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#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Quantity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Value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 — Cost of Code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 b="1"/>
                        <a:t>$150,723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P — Cost of Proof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 b="1"/>
                        <a:t>$161,594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LOP/LOC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 b="1"/>
                        <a:t>1.08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 + P — Total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 b="1"/>
                        <a:t>$312,317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$ / KLines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 b="1"/>
                        <a:t>$1,877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6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 / KLOE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 b="1"/>
                        <a:t>$2,665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7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P / KLOP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 b="1"/>
                        <a:t>$6,305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8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R — Review Ratio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 b="1"/>
                        <a:t>~33.3%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 lang="en-US" sz="3200"/>
              <a:t>Head-to-Head — seL4 (2009) vs APAS-VERUS — 22.5 py base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193800"/>
          <a:ext cx="8229600" cy="33909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38300"/>
                <a:gridCol w="1638300"/>
                <a:gridCol w="1638300"/>
                <a:gridCol w="1638300"/>
                <a:gridCol w="1638300"/>
              </a:tblGrid>
              <a:tr h="0"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#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Quantity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seL4 (pre-AI)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APAS-VERUS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Ratio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Person-years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22.5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0.64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seL4 ~35×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Hours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46,800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1,123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seL4 ~42×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KLOE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~ 57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Verus ~5.7×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KLOP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480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~ 110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seL4 ~4.4×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KLOP / KLOE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48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~ 1.9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seL4 </a:t>
                      </a:r>
                      <a:r>
                        <a:rPr b="1"/>
                        <a:t>~25×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6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KLines / hour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0.0105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0.148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Verus ~14×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7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$ / KLOE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$ 843,750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~ $ 4,300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seL4 </a:t>
                      </a:r>
                      <a:r>
                        <a:rPr b="1"/>
                        <a:t>~196×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8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$ / KLOP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$ 17,578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~ $ 2,225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seL4 ~7.9×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9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 + P total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$ 8,437,500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$ 244,840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seL4 </a:t>
                      </a:r>
                      <a:r>
                        <a:rPr b="1"/>
                        <a:t>~34.5×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 lang="en-US" sz="3200"/>
              <a:t>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z="1800"/>
              <a:t>LOPC2R = Lines of proven code 2 review</a:t>
            </a:r>
          </a:p>
          <a:p>
            <a:pPr lvl="0"/>
            <a:r>
              <a:rPr lang="en-US" sz="1800"/>
              <a:t>LOPC0R = Lines of proven code not to review</a:t>
            </a:r>
          </a:p>
          <a:p>
            <a:pPr lvl="0"/>
            <a:r>
              <a:rPr lang="en-US" sz="1800"/>
              <a:t>R = LOPC2R / (LOPC2R + LOC0R)</a:t>
            </a:r>
          </a:p>
          <a:p>
            <a:pPr lvl="0"/>
            <a:r>
              <a:rPr lang="en-US" sz="1800"/>
              <a:t>47,828 / 143,736 = 0.332749 = 33.2749 %</a:t>
            </a:r>
          </a:p>
          <a:p>
            <a:pPr lvl="0"/>
            <a:r>
              <a:rPr lang="en-US" sz="1800"/>
              <a:t>R — Review Ratio </a:t>
            </a:r>
            <a:r>
              <a:rPr lang="en-US" sz="1800" b="1"/>
              <a:t>~33.3%</a:t>
            </a:r>
          </a:p>
        </p:txBody>
      </p:sp>
    </p:spTree>
  </p:cSld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 lang="en-US" sz="3200"/>
              <a:t>Software Engineering in AI Paired Proving- Problems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z="1800"/>
              <a:t>What is the limiting factor now? </a:t>
            </a:r>
            <a:r>
              <a:rPr lang="en-US" sz="1800" b="1"/>
              <a:t>Code Review!</a:t>
            </a:r>
          </a:p>
          <a:p>
            <a:pPr lvl="0"/>
            <a:r>
              <a:rPr lang="en-US" sz="1800"/>
              <a:t>But really </a:t>
            </a:r>
            <a:r>
              <a:rPr lang="en-US" sz="1800" b="1"/>
              <a:t>Spec Review</a:t>
            </a:r>
            <a:r>
              <a:rPr lang="en-US" sz="1800"/>
              <a:t> when you prove.</a:t>
            </a:r>
          </a:p>
          <a:p>
            <a:pPr lvl="0"/>
            <a:r>
              <a:rPr lang="en-US" sz="1800"/>
              <a:t>What can we do to simplify code review?</a:t>
            </a:r>
          </a:p>
          <a:p>
            <a:pPr lvl="0" indent="-342900" marL="342900">
              <a:buAutoNum type="arabicPeriod"/>
            </a:pPr>
            <a:r>
              <a:rPr lang="en-US" sz="1800"/>
              <a:t>Modularity - traits/impls in Verus.</a:t>
            </a:r>
          </a:p>
          <a:p>
            <a:pPr lvl="0" indent="-342900" marL="342900">
              <a:buAutoNum startAt="2" type="arabicPeriod"/>
            </a:pPr>
            <a:r>
              <a:rPr lang="en-US" sz="1800"/>
              <a:t>TOC - This organizes the boilerplate to make reading easier.</a:t>
            </a:r>
          </a:p>
          <a:p>
            <a:pPr lvl="0" indent="-342900" marL="342900">
              <a:buAutoNum startAt="3" type="arabicPeriod"/>
            </a:pPr>
            <a:r>
              <a:rPr lang="en-US" sz="1800"/>
              <a:t>Proof - I really just read the specs. If they’re right the code is right!</a:t>
            </a:r>
          </a:p>
          <a:p>
            <a:pPr lvl="0" indent="-342900" marL="342900">
              <a:buAutoNum startAt="4" type="arabicPeriod"/>
            </a:pPr>
            <a:r>
              <a:rPr lang="en-US" sz="1800"/>
              <a:t>Tests - are hugely useful when you don’t trust your coding team.</a:t>
            </a:r>
          </a:p>
          <a:p>
            <a:pPr lvl="0" indent="-342900" marL="342900">
              <a:buAutoNum startAt="5" type="arabicPeriod"/>
            </a:pPr>
            <a:r>
              <a:rPr lang="en-US" sz="1800"/>
              <a:t>Formatting - rust formatting has been adopted in Verus. It is very low density. I built a minimizing formatter to cut down on my working memory load while reviewing. F* is much tighter.</a:t>
            </a:r>
          </a:p>
        </p:txBody>
      </p:sp>
    </p:spTree>
  </p:cSld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 lang="en-US" sz="3200"/>
              <a:t>Quantitative SE: What Rust Cargos use in std.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z="1800"/>
              <a:t>I downloaded the 1036 most downloaded Rust projects, 3636 crates.</a:t>
            </a:r>
          </a:p>
          <a:p>
            <a:pPr lvl="0"/>
            <a:r>
              <a:rPr lang="en-US" sz="1800"/>
              <a:t>Top 1000 projects, 3636 crates.</a:t>
            </a:r>
          </a:p>
          <a:p>
            <a:pPr lvl="0"/>
            <a:r>
              <a:rPr lang="en-US" sz="1800"/>
              <a:t>48 data types fully support 100%.</a:t>
            </a:r>
          </a:p>
          <a:p>
            <a:pPr lvl="0"/>
            <a:r>
              <a:rPr lang="en-US" sz="1800"/>
              <a:t>79 modules fully support 99%.</a:t>
            </a:r>
          </a:p>
          <a:p>
            <a:pPr lvl="0"/>
            <a:r>
              <a:rPr lang="en-US" sz="1800"/>
              <a:t>1733 methods fully support 99%.</a:t>
            </a:r>
          </a:p>
          <a:p>
            <a:pPr lvl="0"/>
            <a:r>
              <a:rPr lang="en-US" sz="1800"/>
              <a:t>14,317 total fn definitions in std/core/alloc in Rust</a:t>
            </a:r>
          </a:p>
          <a:p>
            <a:pPr lvl="0"/>
            <a:r>
              <a:rPr lang="en-US" sz="1800"/>
              <a:t>4,965 pub fn definitions in std/core/alloc in Rust</a:t>
            </a:r>
          </a:p>
          <a:p>
            <a:pPr lvl="0"/>
            <a:r>
              <a:rPr lang="en-US" sz="1800"/>
              <a:t>But how many of those private functions do we need? I don’t know.</a:t>
            </a:r>
          </a:p>
        </p:txBody>
      </p:sp>
    </p:spTree>
  </p:cSld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 lang="en-US" sz="3200"/>
              <a:t>Compare Rust Libs to APAS-VERUS?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z="1800"/>
              <a:t>APAS-VERUS: -6,401 exec functions total, -4,911 with proofs</a:t>
            </a:r>
          </a:p>
          <a:p>
            <a:pPr lvl="0"/>
            <a:r>
              <a:rPr lang="en-US" sz="1800"/>
              <a:t>But APAS-VERUS has {Mt,St}x{Per,Eph}</a:t>
            </a:r>
          </a:p>
          <a:p>
            <a:pPr lvl="0"/>
            <a:r>
              <a:rPr lang="en-US" sz="1800"/>
              <a:t>So it is much more like 2000 distinct functions.</a:t>
            </a:r>
          </a:p>
          <a:p>
            <a:pPr lvl="0"/>
            <a:r>
              <a:rPr lang="en-US" sz="1800"/>
              <a:t>And I wrote this in 160 days while learning Verus.</a:t>
            </a:r>
          </a:p>
          <a:p>
            <a:pPr lvl="0"/>
            <a:r>
              <a:rPr lang="en-US" sz="1800"/>
              <a:t>At least 30 of those days were understanding and working around pain points.</a:t>
            </a:r>
          </a:p>
        </p:txBody>
      </p:sp>
    </p:spTree>
  </p:cSld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 lang="en-US" sz="3200"/>
              <a:t>How bad is our computer security?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z="1800"/>
              <a:t>Linux kernel team publishes 432 CVEs in two days 22 July 2026</a:t>
            </a:r>
          </a:p>
          <a:p>
            <a:pPr lvl="0"/>
            <a:r>
              <a:rPr lang="en-US" sz="1800"/>
              <a:t>Linux can’t handle this with their current process.</a:t>
            </a:r>
          </a:p>
          <a:p>
            <a:pPr lvl="0"/>
            <a:r>
              <a:rPr lang="en-US" sz="1800"/>
              <a:t>How many are really human verified not AI new CVE injections?</a:t>
            </a:r>
          </a:p>
          <a:p>
            <a:pPr lvl="0"/>
            <a:r>
              <a:rPr lang="en-US" sz="1800"/>
              <a:t>What happens when they try and make 432 changes one by one?</a:t>
            </a:r>
          </a:p>
        </p:txBody>
      </p:sp>
    </p:spTree>
  </p:cSld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 lang="en-US" sz="3200"/>
              <a:t>Mythos Audit Rust vs Firefox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193800"/>
          <a:ext cx="8229600" cy="33909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30200"/>
                <a:gridCol w="2552700"/>
                <a:gridCol w="2336800"/>
                <a:gridCol w="29972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#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Metric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Rust (Compiler/Std)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Firefox (Entire Codebase)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Codebase Size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~4,500 KLOC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~40,000 KLOC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Mythos Bugs Found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189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271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Vulnerability Density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0.0420 bugs/KLOC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0.0068 bugs/KLOC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Ratio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6.18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 lang="en-US" sz="3200"/>
              <a:t>How much Proof do we need to save computer security?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z="1800"/>
              <a:t>As a spreadsheet style thought experiment, I collected examplars of proven/required systems and their LOP and LOC.</a:t>
            </a:r>
          </a:p>
          <a:p>
            <a:pPr lvl="0"/>
            <a:r>
              <a:rPr lang="en-US" sz="1800"/>
              <a:t>And put a $2000/KLOC to generate Rust LOC in it and $2000-8000/KLOP at 110% scaling.</a:t>
            </a:r>
          </a:p>
          <a:p>
            <a:pPr lvl="0"/>
            <a:r>
              <a:rPr lang="en-US" sz="1800"/>
              <a:t>What do we rewrite? Prove?</a:t>
            </a:r>
          </a:p>
        </p:txBody>
      </p:sp>
    </p:spTree>
  </p:cSld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 lang="en-US" sz="3200"/>
              <a:t>The Exemplars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z="1800"/>
              <a:t>One measured system per artifact — </a:t>
            </a:r>
            <a:r>
              <a:rPr lang="en-US" sz="1800" b="1"/>
              <a:t>bold</a:t>
            </a:r>
            <a:r>
              <a:rPr lang="en-US" sz="1800"/>
              <a:t> = carries a machine-checked proof</a:t>
            </a:r>
          </a:p>
          <a:p>
            <a:pPr lvl="0"/>
            <a:r>
              <a:rPr lang="en-US" sz="1800" b="1"/>
              <a:t>Semantics</a:t>
            </a:r>
            <a:r>
              <a:rPr lang="en-US" sz="1800"/>
              <a:t> — </a:t>
            </a:r>
            <a:r>
              <a:rPr lang="en-US" sz="1800" b="1"/>
              <a:t>Rocq</a:t>
            </a:r>
            <a:r>
              <a:rPr lang="en-US" sz="1800"/>
              <a:t> · </a:t>
            </a:r>
            <a:r>
              <a:rPr lang="en-US" sz="1800" b="1"/>
              <a:t>CoqQFBV</a:t>
            </a:r>
            <a:r>
              <a:rPr lang="en-US" sz="1800"/>
              <a:t> · </a:t>
            </a:r>
            <a:r>
              <a:rPr lang="en-US" sz="1800" b="1"/>
              <a:t>cake_lpr</a:t>
            </a:r>
            <a:r>
              <a:rPr lang="en-US" sz="1800"/>
              <a:t> · </a:t>
            </a:r>
            <a:r>
              <a:rPr lang="en-US" sz="1800" b="1"/>
              <a:t>Iris</a:t>
            </a:r>
            <a:r>
              <a:rPr lang="en-US" sz="1800"/>
              <a:t> · </a:t>
            </a:r>
            <a:r>
              <a:rPr lang="en-US" sz="1800" b="1"/>
              <a:t>RustBelt</a:t>
            </a:r>
          </a:p>
          <a:p>
            <a:pPr lvl="0"/>
            <a:r>
              <a:rPr lang="en-US" sz="1800" b="1"/>
              <a:t>PL</a:t>
            </a:r>
            <a:r>
              <a:rPr lang="en-US" sz="1800"/>
              <a:t> — </a:t>
            </a:r>
            <a:r>
              <a:rPr lang="en-US" sz="1800" b="1"/>
              <a:t>CompCert</a:t>
            </a:r>
            <a:r>
              <a:rPr lang="en-US" sz="1800"/>
              <a:t> · </a:t>
            </a:r>
            <a:r>
              <a:rPr lang="en-US" sz="1800" b="1"/>
              <a:t>CompCertELF</a:t>
            </a:r>
            <a:r>
              <a:rPr lang="en-US" sz="1800"/>
              <a:t> · </a:t>
            </a:r>
            <a:r>
              <a:rPr lang="en-US" sz="1800" b="1"/>
              <a:t>CakeML GC</a:t>
            </a:r>
          </a:p>
          <a:p>
            <a:pPr lvl="0"/>
            <a:r>
              <a:rPr lang="en-US" sz="1800" b="1"/>
              <a:t>Std Library</a:t>
            </a:r>
            <a:r>
              <a:rPr lang="en-US" sz="1800"/>
              <a:t> — Rust core · </a:t>
            </a:r>
            <a:r>
              <a:rPr lang="en-US" sz="1800" b="1"/>
              <a:t>VST malloc</a:t>
            </a:r>
            <a:r>
              <a:rPr lang="en-US" sz="1800"/>
              <a:t> · </a:t>
            </a:r>
            <a:r>
              <a:rPr lang="en-US" sz="1800" b="1"/>
              <a:t>CakeML basis</a:t>
            </a:r>
            <a:r>
              <a:rPr lang="en-US" sz="1800"/>
              <a:t> · </a:t>
            </a:r>
            <a:r>
              <a:rPr lang="en-US" sz="1800" b="1"/>
              <a:t>HACL*/EverCrypt</a:t>
            </a:r>
          </a:p>
          <a:p>
            <a:pPr lvl="0"/>
            <a:r>
              <a:rPr lang="en-US" sz="1800" b="1"/>
              <a:t>OS boot</a:t>
            </a:r>
            <a:r>
              <a:rPr lang="en-US" sz="1800"/>
              <a:t> — U-Boot · </a:t>
            </a:r>
            <a:r>
              <a:rPr lang="en-US" sz="1800" b="1"/>
              <a:t>DICE*</a:t>
            </a:r>
          </a:p>
          <a:p>
            <a:pPr lvl="0"/>
            <a:r>
              <a:rPr lang="en-US" sz="1800" b="1"/>
              <a:t>OS core</a:t>
            </a:r>
            <a:r>
              <a:rPr lang="en-US" sz="1800"/>
              <a:t> — </a:t>
            </a:r>
            <a:r>
              <a:rPr lang="en-US" sz="1800" b="1"/>
              <a:t>Atmosphere</a:t>
            </a:r>
            <a:r>
              <a:rPr lang="en-US" sz="1800"/>
              <a:t> · Asterinas OSTD/OSDK · Linux net/ · </a:t>
            </a:r>
            <a:r>
              <a:rPr lang="en-US" sz="1800" b="1"/>
              <a:t>FSCQ</a:t>
            </a:r>
          </a:p>
          <a:p>
            <a:pPr lvl="0"/>
            <a:r>
              <a:rPr lang="en-US" sz="1800" b="1"/>
              <a:t>OS devices</a:t>
            </a:r>
            <a:r>
              <a:rPr lang="en-US" sz="1800"/>
              <a:t> — Linux drivers/base · </a:t>
            </a:r>
            <a:r>
              <a:rPr lang="en-US" sz="1800" b="1"/>
              <a:t>Pancake i.MX8 NIC</a:t>
            </a:r>
            <a:r>
              <a:rPr lang="en-US" sz="1800"/>
              <a:t> · </a:t>
            </a:r>
            <a:r>
              <a:rPr lang="en-US" sz="1800" b="1"/>
              <a:t>SeKVM</a:t>
            </a:r>
            <a:r>
              <a:rPr lang="en-US" sz="1800"/>
              <a:t> · </a:t>
            </a:r>
            <a:r>
              <a:rPr lang="en-US" sz="1800" b="1"/>
              <a:t>Vigor/Klint</a:t>
            </a:r>
          </a:p>
          <a:p>
            <a:pPr lvl="0"/>
            <a:r>
              <a:rPr lang="en-US" sz="1800" b="1"/>
              <a:t>Utilities &amp; Apps</a:t>
            </a:r>
            <a:r>
              <a:rPr lang="en-US" sz="1800"/>
              <a:t> — Unbound · chrony · BusyBox · Suricata · nginx · Redis · SQLite · NGINX Unit</a:t>
            </a:r>
          </a:p>
          <a:p>
            <a:pPr lvl="0"/>
            <a:r>
              <a:rPr lang="en-US" sz="1800" b="1"/>
              <a:t>Distributed &amp; POP</a:t>
            </a:r>
            <a:r>
              <a:rPr lang="en-US" sz="1800"/>
              <a:t> — </a:t>
            </a:r>
            <a:r>
              <a:rPr lang="en-US" sz="1800" b="1"/>
              <a:t>CapybaraKV</a:t>
            </a:r>
            <a:r>
              <a:rPr lang="en-US" sz="1800"/>
              <a:t> · S3 ShardStore · </a:t>
            </a:r>
            <a:r>
              <a:rPr lang="en-US" sz="1800" b="1"/>
              <a:t>Verdi raft</a:t>
            </a:r>
            <a:r>
              <a:rPr lang="en-US" sz="1800"/>
              <a:t> · FoundationDB · git · </a:t>
            </a:r>
            <a:r>
              <a:rPr lang="en-US" sz="1800" b="1"/>
              <a:t>Verus (vstd)</a:t>
            </a:r>
            <a:r>
              <a:rPr lang="en-US" sz="1800"/>
              <a:t> · cvc5</a:t>
            </a:r>
          </a:p>
        </p:txBody>
      </p:sp>
    </p:spTree>
  </p:cSld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 lang="en-US" sz="3200"/>
              <a:t>Cost of Proving ‘Everything’ You Need for Security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193800"/>
          <a:ext cx="8229600" cy="33909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38300"/>
                <a:gridCol w="1638300"/>
                <a:gridCol w="1638300"/>
                <a:gridCol w="1638300"/>
                <a:gridCol w="16383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Section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Unproven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Proven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Proofs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Total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 Semantics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3,000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228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252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3,480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 PL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8,173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178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206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8,557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3 Std Library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1,178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148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135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1,461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4 OS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1,594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19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107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1,720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5 Utilities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879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879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6 Application Stack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579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579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7 Distributed Svcs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3,283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24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47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3,354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8 Proof of Programs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500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38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540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Total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19,186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599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785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20,570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 lang="en-US" sz="3200"/>
              <a:t>20,570 KLOC · $90.9M · 3.0% example proven today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z="1800"/>
              <a:t>$2,000/KLOC to write · 1.1 proof lines per line · $2,200/KLOP to prove</a:t>
            </a:r>
          </a:p>
          <a:p>
            <a:pPr lvl="0" indent="0" marL="0">
              <a:buNone/>
            </a:pPr>
            <a:r>
              <a:rPr lang="en-US" sz="1800"/>
              <a:t>Estimated cost of Total KLOC | $41,140,000 |</a:t>
            </a:r>
            <a:br/>
            <a:r>
              <a:rPr lang="en-US" sz="1800"/>
              <a:t>Estimated cost of Total Proven KLOC | $49,779,400 |</a:t>
            </a:r>
            <a:br/>
            <a:r>
              <a:rPr lang="en-US" sz="1800" b="1"/>
              <a:t>Estimated Total Cost</a:t>
            </a:r>
            <a:r>
              <a:rPr lang="en-US" sz="1800"/>
              <a:t> | </a:t>
            </a:r>
            <a:r>
              <a:rPr lang="en-US" sz="1800" b="1"/>
              <a:t>$90,919,400</a:t>
            </a:r>
            <a:r>
              <a:rPr lang="en-US" sz="1800"/>
              <a:t> |</a:t>
            </a:r>
          </a:p>
        </p:txBody>
      </p:sp>
    </p:spTree>
  </p:cSld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 lang="en-US" sz="3200"/>
              <a:t>The Enemies of Proven Code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z="1800"/>
              <a:t>Proven Formal Semantics - we are getting close.</a:t>
            </a:r>
          </a:p>
          <a:p>
            <a:pPr lvl="0"/>
            <a:r>
              <a:rPr lang="en-US" sz="1800"/>
              <a:t>Code bloat: Rust’s Libs are a great example!</a:t>
            </a:r>
          </a:p>
          <a:p>
            <a:pPr lvl="0"/>
            <a:r>
              <a:rPr lang="en-US" sz="1800"/>
              <a:t>Will AIs just brute force the security problems?</a:t>
            </a:r>
          </a:p>
          <a:p>
            <a:pPr lvl="0"/>
            <a:r>
              <a:rPr lang="en-US" sz="1800"/>
              <a:t>Features - how much is enough?</a:t>
            </a:r>
          </a:p>
          <a:p>
            <a:pPr lvl="0"/>
            <a:r>
              <a:rPr lang="en-US" sz="1800"/>
              <a:t>The Innovator’s Dilemma - would MSFT, Amazon, … do this?</a:t>
            </a:r>
          </a:p>
          <a:p>
            <a:pPr lvl="0"/>
            <a:r>
              <a:rPr lang="en-US" sz="1800"/>
              <a:t>Complexity: how much can we really specify?</a:t>
            </a:r>
          </a:p>
          <a:p>
            <a:pPr lvl="0"/>
            <a:r>
              <a:rPr lang="en-US" sz="1800"/>
              <a:t>Going type safe we get about 70% bug reduction.</a:t>
            </a:r>
          </a:p>
          <a:p>
            <a:pPr lvl="0"/>
            <a:r>
              <a:rPr lang="en-US" sz="1800"/>
              <a:t>Is FOL enough?</a:t>
            </a:r>
          </a:p>
          <a:p>
            <a:pPr lvl="0"/>
            <a:r>
              <a:rPr lang="en-US" sz="1800"/>
              <a:t>Proving code, do we get 90%? 95% Is that enough?</a:t>
            </a:r>
          </a:p>
        </p:txBody>
      </p:sp>
    </p:spTree>
  </p:cSld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 lang="en-US" sz="3200"/>
              <a:t>Review of the Talk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z="1800"/>
              <a:t>We’ve talked about:</a:t>
            </a:r>
          </a:p>
          <a:p>
            <a:pPr lvl="1"/>
            <a:r>
              <a:rPr lang="en-US" sz="1800"/>
              <a:t>APAS, Rust, APAS’s implementation in Rust.</a:t>
            </a:r>
          </a:p>
          <a:p>
            <a:pPr lvl="1"/>
            <a:r>
              <a:rPr lang="en-US" sz="1800"/>
              <a:t>My Quantitative SE approach in Rusticate and Veracity.</a:t>
            </a:r>
          </a:p>
          <a:p>
            <a:pPr lvl="1"/>
            <a:r>
              <a:rPr lang="en-US" sz="1800"/>
              <a:t>SE in AI paired proving</a:t>
            </a:r>
          </a:p>
          <a:p>
            <a:pPr lvl="1"/>
            <a:r>
              <a:rPr lang="en-US" sz="1800"/>
              <a:t>CPR$ What does it really cost to write proven systems?</a:t>
            </a:r>
          </a:p>
          <a:p>
            <a:pPr lvl="1"/>
            <a:r>
              <a:rPr lang="en-US" sz="1800"/>
              <a:t>How bad is our computer security?</a:t>
            </a:r>
          </a:p>
          <a:p>
            <a:pPr lvl="1"/>
            <a:r>
              <a:rPr lang="en-US" sz="1800"/>
              <a:t>And how much Proof do we need to save computer security?</a:t>
            </a:r>
          </a:p>
        </p:txBody>
      </p:sp>
    </p:spTree>
  </p:cSld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 lang="en-US" sz="3200"/>
              <a:t>Questions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z="1800"/>
              <a:t>I’d like to know who is proving math in the audience?</a:t>
            </a:r>
          </a:p>
          <a:p>
            <a:pPr lvl="0"/>
            <a:r>
              <a:rPr lang="en-US" sz="1800"/>
              <a:t>Is it foundational proof?</a:t>
            </a:r>
          </a:p>
          <a:p>
            <a:pPr lvl="0"/>
            <a:r>
              <a:rPr lang="en-US" sz="1800"/>
              <a:t>Which agents are working well for you, which are not?</a:t>
            </a:r>
          </a:p>
          <a:p>
            <a:pPr lvl="0"/>
            <a:r>
              <a:rPr lang="en-US" sz="1800"/>
              <a:t>Is anyone proving algorithms in Lean?</a:t>
            </a:r>
          </a:p>
          <a:p>
            <a:pPr lvl="0"/>
            <a:r>
              <a:rPr lang="en-US" sz="1800"/>
              <a:t>Is anyone proving programs?</a:t>
            </a:r>
          </a:p>
          <a:p>
            <a:pPr lvl="0"/>
            <a:r>
              <a:rPr lang="en-US" sz="1800"/>
              <a:t>Is anyone proving PL semantics?</a:t>
            </a:r>
          </a:p>
          <a:p>
            <a:pPr lvl="0"/>
            <a:r>
              <a:rPr lang="en-US" sz="1800"/>
              <a:t>What happens when you use a generative style like F*/Pulse vs a close to the PL style?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keywords/>
  <dcterms:created xsi:type="dcterms:W3CDTF">2026-07-26T22:37:53Z</dcterms:created>
  <dcterms:modified xsi:type="dcterms:W3CDTF">2026-07-26T22:37:53Z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header-includes">
    <vt:lpwstr/>
  </property>
</Properties>
</file>