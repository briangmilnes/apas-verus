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7" Type="http://schemas.openxmlformats.org/officeDocument/2006/relationships/viewProps" Target="viewProps.xml" /><Relationship Id="rId7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9" Type="http://schemas.openxmlformats.org/officeDocument/2006/relationships/tableStyles" Target="tableStyles.xml" /><Relationship Id="rId7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briangmilnes@gmail.com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AI Paired Proof Engineering Techniques and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Brian G. Milnes </a:t>
            </a:r>
            <a:r>
              <a:rPr sz="1800">
                <a:hlinkClick r:id="rId2"/>
              </a:rPr>
              <a:t>briangmilnes@gmail.com</a:t>
            </a:r>
          </a:p>
          <a:p>
            <a:pPr lvl="0"/>
            <a:r>
              <a:rPr sz="1800"/>
              <a:t>Experience, Results and Techniques in building</a:t>
            </a:r>
          </a:p>
          <a:p>
            <a:pPr lvl="0"/>
            <a:r>
              <a:rPr sz="1800"/>
              <a:t>Algorithms Parallel and Sequential by Acar and Blelloch</a:t>
            </a:r>
          </a:p>
          <a:p>
            <a:pPr lvl="0"/>
            <a:r>
              <a:rPr sz="1800"/>
              <a:t>in Rust</a:t>
            </a:r>
          </a:p>
          <a:p>
            <a:pPr lvl="0"/>
            <a:r>
              <a:rPr sz="1800"/>
              <a:t>and then proving it in Verus.</a:t>
            </a:r>
          </a:p>
          <a:p>
            <a:pPr lvl="0"/>
            <a:r>
              <a:rPr sz="1800"/>
              <a:t>https://github.com/briangmilnes/{APAS-VERUS,APAS-AI,rusticate,veracity}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Outline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Background</a:t>
            </a:r>
          </a:p>
          <a:p>
            <a:pPr lvl="0"/>
            <a:r>
              <a:rPr sz="1800"/>
              <a:t>Algorithms Parallel and Sequential (APAS)</a:t>
            </a:r>
          </a:p>
          <a:p>
            <a:pPr lvl="0"/>
            <a:r>
              <a:rPr sz="1800"/>
              <a:t>Rust - The Good, The Bad and the Ugly</a:t>
            </a:r>
          </a:p>
          <a:p>
            <a:pPr lvl="0"/>
            <a:r>
              <a:rPr sz="1800"/>
              <a:t>APAS-AI - AI Paired Programming APAS in Rust</a:t>
            </a:r>
          </a:p>
          <a:p>
            <a:pPr lvl="0"/>
            <a:r>
              <a:rPr sz="1800"/>
              <a:t>Rusticate - sending Python back to the family estate</a:t>
            </a:r>
          </a:p>
          <a:p>
            <a:pPr lvl="0"/>
            <a:r>
              <a:rPr sz="1800"/>
              <a:t>Verus - Proving Rust</a:t>
            </a:r>
          </a:p>
          <a:p>
            <a:pPr lvl="0"/>
            <a:r>
              <a:rPr sz="1800"/>
              <a:t>Verus vs F*/Pulse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Outline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APAS-VERUS - AI Paired Proving APAS in Verus</a:t>
            </a:r>
          </a:p>
          <a:p>
            <a:pPr lvl="0"/>
            <a:r>
              <a:rPr sz="1800"/>
              <a:t>Veracity - Software Engineering AI Paired Proving</a:t>
            </a:r>
          </a:p>
          <a:p>
            <a:pPr lvl="0"/>
            <a:r>
              <a:rPr sz="1800"/>
              <a:t>Software Engineering in AI Paired Proving</a:t>
            </a:r>
          </a:p>
          <a:p>
            <a:pPr lvl="0"/>
            <a:r>
              <a:rPr sz="1800"/>
              <a:t>The AI Paired Programming Interfaces</a:t>
            </a:r>
          </a:p>
          <a:p>
            <a:pPr lvl="0"/>
            <a:r>
              <a:rPr sz="1800"/>
              <a:t>The Internet Apocalypse</a:t>
            </a:r>
          </a:p>
          <a:p>
            <a:pPr lvl="0"/>
            <a:r>
              <a:rPr sz="1800"/>
              <a:t>Review of the Talk</a:t>
            </a:r>
          </a:p>
          <a:p>
            <a:pPr lvl="0"/>
            <a:r>
              <a:rPr sz="1800"/>
              <a:t>Questions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B.Sc. Applied Math (Computer Science)</a:t>
            </a:r>
          </a:p>
          <a:p>
            <a:pPr lvl="0"/>
            <a:r>
              <a:rPr sz="1800"/>
              <a:t>2 years of AI PL development (Carnegie Group)</a:t>
            </a:r>
          </a:p>
          <a:p>
            <a:pPr lvl="0"/>
            <a:r>
              <a:rPr sz="1800"/>
              <a:t>7 years of (symbolic) AI Research (Soar Group, CMU CS)</a:t>
            </a:r>
          </a:p>
          <a:p>
            <a:pPr lvl="0"/>
            <a:r>
              <a:rPr sz="1800"/>
              <a:t>2 years of PL research (Fox Group, CMU CS) aimed at making type safe languages work in systems and networking.</a:t>
            </a:r>
          </a:p>
          <a:p>
            <a:pPr lvl="0"/>
            <a:r>
              <a:rPr sz="1800"/>
              <a:t>Founding member of Lycos - systems, performance, ran operations</a:t>
            </a:r>
          </a:p>
          <a:p>
            <a:pPr lvl="0"/>
            <a:r>
              <a:rPr sz="1800"/>
              <a:t>Early Amazon - systems, performance, operations</a:t>
            </a:r>
          </a:p>
          <a:p>
            <a:pPr lvl="0"/>
            <a:r>
              <a:rPr sz="1800"/>
              <a:t>M.Sc. Computer Science, University of Washington</a:t>
            </a:r>
          </a:p>
          <a:p>
            <a:pPr lvl="0"/>
            <a:r>
              <a:rPr sz="1800"/>
              <a:t>Early Zillow - 6th engineer, ran operations, systems, performance</a:t>
            </a:r>
          </a:p>
          <a:p>
            <a:pPr lvl="0"/>
            <a:r>
              <a:rPr sz="1800"/>
              <a:t>A general love of proving programs with Rocq, F* and now Verus.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Algorithms Parallel and Sequential (APAS)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I needed a practical, fairly large, very difficult task to learn Verus.</a:t>
            </a:r>
          </a:p>
          <a:p>
            <a:pPr lvl="0"/>
            <a:r>
              <a:rPr sz="1800"/>
              <a:t>Rocq and F* are good but complicated and I’ve only manually proven in them.</a:t>
            </a:r>
          </a:p>
          <a:p>
            <a:pPr lvl="0"/>
            <a:r>
              <a:rPr sz="1800"/>
              <a:t>In fact some of the F* group went to work on Verus due to the requirement of ‘heroic proof’.</a:t>
            </a:r>
          </a:p>
          <a:p>
            <a:pPr lvl="0"/>
            <a:r>
              <a:rPr sz="1800"/>
              <a:t>But I just missed the Pulse, so I suspect things are quite different now, except for the language gap and generation.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Algorithms Parallel and Sequential (APAS)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I chose to implement: Algorithms Parallel and Sequential (APAS) in Verus.</a:t>
            </a:r>
          </a:p>
          <a:p>
            <a:pPr lvl="0"/>
            <a:r>
              <a:rPr sz="1800"/>
              <a:t>Umut Acar and Guy Blelloch 2022</a:t>
            </a:r>
          </a:p>
          <a:p>
            <a:pPr lvl="1"/>
            <a:r>
              <a:rPr sz="1800"/>
              <a:t>121 algorithms!</a:t>
            </a:r>
          </a:p>
          <a:p>
            <a:pPr lvl="1"/>
            <a:r>
              <a:rPr sz="1800"/>
              <a:t>81 of which can be parallel.</a:t>
            </a:r>
          </a:p>
          <a:p>
            <a:pPr lvl="1"/>
            <a:r>
              <a:rPr sz="1800"/>
              <a:t>740 concepts.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 - The Good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20 year old PL</a:t>
            </a:r>
          </a:p>
          <a:p>
            <a:pPr lvl="0"/>
            <a:r>
              <a:rPr sz="1800"/>
              <a:t>Fast compilation, code.</a:t>
            </a:r>
          </a:p>
          <a:p>
            <a:pPr lvl="0"/>
            <a:r>
              <a:rPr sz="1800"/>
              <a:t>Industrial acceptance: AWS, Google, Huawei, Microsoft, and Mozilla.</a:t>
            </a:r>
          </a:p>
          <a:p>
            <a:pPr lvl="0"/>
            <a:r>
              <a:rPr sz="1800"/>
              <a:t>Linux Kernel now uses it!</a:t>
            </a:r>
          </a:p>
          <a:p>
            <a:pPr lvl="0"/>
            <a:r>
              <a:rPr sz="1800"/>
              <a:t>Linear typing plus borrowing! No GC!</a:t>
            </a:r>
          </a:p>
          <a:p>
            <a:pPr lvl="0"/>
            <a:r>
              <a:rPr sz="1800"/>
              <a:t>Clear mutability.</a:t>
            </a:r>
          </a:p>
          <a:p>
            <a:pPr lvl="0"/>
            <a:r>
              <a:rPr sz="1800"/>
              <a:t>Slicing! with ownership.</a:t>
            </a:r>
          </a:p>
          <a:p>
            <a:pPr lvl="0"/>
            <a:r>
              <a:rPr sz="1800"/>
              <a:t>Their ‘cargo’ package system works rather well.</a:t>
            </a:r>
          </a:p>
          <a:p>
            <a:pPr lvl="0"/>
            <a:r>
              <a:rPr sz="1800"/>
              <a:t>No objects for modularity! Good.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 - The 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No GC! Circular structures require GC and why not have it!</a:t>
            </a:r>
          </a:p>
          <a:p>
            <a:pPr lvl="0"/>
            <a:r>
              <a:rPr sz="1800"/>
              <a:t>No regions, just lifetime with end of scope deallocation which is slower.</a:t>
            </a:r>
          </a:p>
          <a:p>
            <a:pPr lvl="0"/>
            <a:r>
              <a:rPr sz="1800"/>
              <a:t>Translating C to Rust is hard to get it into linear logic + borrowing.</a:t>
            </a:r>
          </a:p>
          <a:p>
            <a:pPr lvl="0"/>
            <a:r>
              <a:rPr sz="1800"/>
              <a:t>However, you can (and I have) rewritten algorithms with a free list (that are right).</a:t>
            </a:r>
          </a:p>
          <a:p>
            <a:pPr lvl="0"/>
            <a:r>
              <a:rPr sz="1800"/>
              <a:t>Macros, with typing checked at use, which is not so good.</a:t>
            </a:r>
          </a:p>
          <a:p>
            <a:pPr lvl="0"/>
            <a:r>
              <a:rPr sz="1800"/>
              <a:t>Of the 94 technical terms in Rust, 4 or so are actual PL terms.</a:t>
            </a:r>
          </a:p>
          <a:p>
            <a:pPr lvl="0"/>
            <a:r>
              <a:rPr sz="1800"/>
              <a:t>No objects: object oriented was invented by Ivan Sutherland 1962!</a:t>
            </a:r>
          </a:p>
          <a:p>
            <a:pPr lvl="0"/>
            <a:r>
              <a:rPr sz="1800"/>
              <a:t>And it’s great for what it was invented for: modeling the real world and interfaces.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 - Typeclasses are a weak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You will pine for ML modules!</a:t>
            </a:r>
          </a:p>
          <a:p>
            <a:pPr lvl="0"/>
            <a:r>
              <a:rPr sz="1800"/>
              <a:t>The Rustaceans have decided that unless their module implements a typeclass at multiple types, they won’t use it.</a:t>
            </a:r>
          </a:p>
          <a:p>
            <a:pPr lvl="0"/>
            <a:r>
              <a:rPr sz="1800"/>
              <a:t>Verus is now doing this also, but I abuse the notation to put all the specs together in APAS-VERUS for readability.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 - The Really Bad — Ordering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PartialEq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PartialOrd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Reflexive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NO!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NO! on leq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Transitive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Antisymmetric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Consistent w/ ==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 - The Really Really 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Copy is implicit, Clone is explicit</a:t>
            </a:r>
          </a:p>
          <a:p>
            <a:pPr lvl="0"/>
            <a:r>
              <a:rPr sz="1800"/>
              <a:t>clone() is a bitwise memory copy by default, but can be overridden.</a:t>
            </a:r>
          </a:p>
          <a:p>
            <a:pPr lvl="0"/>
            <a:r>
              <a:rPr sz="1800"/>
              <a:t>Copy requires the type to be entirely stack-resident.</a:t>
            </a:r>
          </a:p>
          <a:p>
            <a:pPr lvl="0"/>
            <a:r>
              <a:rPr sz="1800"/>
              <a:t>Clone has no such restriction — it can deep-copy heap data, open files, allocate new memory.</a:t>
            </a:r>
          </a:p>
          <a:p>
            <a:pPr lvl="0"/>
            <a:r>
              <a:rPr sz="1800"/>
              <a:t>Copy requires Clone — any type that implements Copy must also implement Clone, but not vice versa.</a:t>
            </a:r>
          </a:p>
          <a:p>
            <a:pPr lvl="0"/>
            <a:r>
              <a:rPr sz="1800"/>
              <a:t>So you have the optimized bit copy messing with the general copy you want.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APAS-AI - AI Paired Programming APAS in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APAS-AI is a nearly complete, idiomatic Rust implementation of the algorithms from Acar and Blelloch.</a:t>
            </a:r>
          </a:p>
          <a:p>
            <a:pPr lvl="0"/>
            <a:r>
              <a:rPr sz="1800"/>
              <a:t>Sequential and parallel variants throughout.</a:t>
            </a:r>
          </a:p>
          <a:p>
            <a:pPr lvl="0"/>
            <a:r>
              <a:rPr sz="1800"/>
              <a:t>Timeline: 347 commits over 88 calendar days (Aug–Oct 2025).</a:t>
            </a:r>
          </a:p>
          <a:p>
            <a:pPr lvl="0"/>
            <a:r>
              <a:rPr sz="1800"/>
              <a:t>59 days of active development; 8 residual commits in November.</a:t>
            </a:r>
          </a:p>
          <a:p>
            <a:pPr lvl="0"/>
            <a:r>
              <a:rPr sz="1800"/>
              <a:t>I knew no Rust when I started.</a:t>
            </a:r>
          </a:p>
          <a:p>
            <a:pPr lvl="0"/>
            <a:r>
              <a:rPr sz="1800"/>
              <a:t>My AI had to teach it to me, which was harder than I thought as of the 94 terms used in the Rust language and docs, only 4 are real PL terms!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APAS-AI - AI Paired Programming APAS in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Scale:</a:t>
            </a:r>
          </a:p>
          <a:p>
            <a:pPr lvl="1"/>
            <a:r>
              <a:rPr sz="1800"/>
              <a:t>42 chapters</a:t>
            </a:r>
          </a:p>
          <a:p>
            <a:pPr lvl="1"/>
            <a:r>
              <a:rPr sz="1800"/>
              <a:t>238 source files</a:t>
            </a:r>
          </a:p>
          <a:p>
            <a:pPr lvl="1"/>
            <a:r>
              <a:rPr sz="1800"/>
              <a:t>45,485 source LOC.</a:t>
            </a:r>
          </a:p>
          <a:p>
            <a:pPr lvl="0"/>
            <a:r>
              <a:rPr sz="1800"/>
              <a:t>Tests:</a:t>
            </a:r>
          </a:p>
          <a:p>
            <a:pPr lvl="1"/>
            <a:r>
              <a:rPr sz="1800"/>
              <a:t>246 files</a:t>
            </a:r>
          </a:p>
          <a:p>
            <a:pPr lvl="1"/>
            <a:r>
              <a:rPr sz="1800"/>
              <a:t>55,223 LOC</a:t>
            </a:r>
          </a:p>
          <a:p>
            <a:pPr lvl="1"/>
            <a:r>
              <a:rPr sz="1800"/>
              <a:t>3,923 test functions</a:t>
            </a:r>
          </a:p>
          <a:p>
            <a:pPr lvl="0"/>
            <a:r>
              <a:rPr sz="1800"/>
              <a:t>1.2× the source code size</a:t>
            </a:r>
          </a:p>
          <a:p>
            <a:pPr lvl="0"/>
            <a:r>
              <a:rPr sz="1800"/>
              <a:t>Benchmarks: 171 files, 13,890 LOC, 360 benchmark functions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Rusticate - sending Python back to the family estate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Webster’s definition of rusticate:</a:t>
            </a:r>
          </a:p>
          <a:p>
            <a:pPr lvl="1" indent="-342900" marL="685800">
              <a:buAutoNum type="arabicPeriod"/>
            </a:pPr>
            <a:r>
              <a:rPr sz="1800"/>
              <a:t>To go to or live in the country.</a:t>
            </a:r>
          </a:p>
          <a:p>
            <a:pPr lvl="1" indent="-342900" marL="685800">
              <a:buAutoNum startAt="2" type="arabicPeriod"/>
            </a:pPr>
            <a:r>
              <a:rPr sz="1800"/>
              <a:t>(British) To suspend a student from a university, especially Oxford or Cambridge, as a disciplinary punishment.</a:t>
            </a:r>
          </a:p>
          <a:p>
            <a:pPr lvl="0"/>
            <a:r>
              <a:rPr sz="1800"/>
              <a:t>Rusticate is a suite of 89 tools, most obviated, for analyzing and transforming rust codebases.</a:t>
            </a:r>
          </a:p>
          <a:p>
            <a:pPr lvl="0"/>
            <a:r>
              <a:rPr sz="1800"/>
              <a:t>review tools, fix tools, metrics, and migration aids.</a:t>
            </a:r>
          </a:p>
          <a:p>
            <a:pPr lvl="0"/>
            <a:r>
              <a:rPr sz="1800"/>
              <a:t>Built because Python + regex cannot reliably parse Rust.</a:t>
            </a:r>
          </a:p>
          <a:p>
            <a:pPr lvl="0"/>
            <a:r>
              <a:rPr sz="1800"/>
              <a:t>The string hacking detector is the foremost valuable tool to fix any and all transformation of Rust.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Verus: Verified 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Verus is a tool for formally verifying Rust, developed at MSFT Research, VMware Research and Carnegie Mellon University.</a:t>
            </a:r>
          </a:p>
          <a:p>
            <a:pPr lvl="0"/>
            <a:r>
              <a:rPr sz="1800"/>
              <a:t>Team: Andrea Lattuada, Travis Hance, Chris Hawblitzel, Jay Lorch, Matthias Brun, Chanhee Park, Yi Zhou, Jon Howell, Bryan Parno.</a:t>
            </a:r>
          </a:p>
          <a:p>
            <a:pPr lvl="0"/>
            <a:r>
              <a:rPr sz="1800"/>
              <a:t>Goals: bring machine-checked proof to systems software written in Rust.</a:t>
            </a:r>
          </a:p>
          <a:p>
            <a:pPr lvl="0"/>
            <a:r>
              <a:rPr sz="1800"/>
              <a:t>Goals: tight integration with the programming language.</a:t>
            </a:r>
          </a:p>
          <a:p>
            <a:pPr lvl="0"/>
            <a:r>
              <a:rPr sz="1800"/>
              <a:t>Goals: easier faster proof.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Key Verus Publications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“Verus: Verifying Rust Programs using Linear Ghost Types” Lattuada, Hance, Cho, Brun, Subasinghe, Zhou, Howell, Parno, Hawblitzel</a:t>
            </a:r>
          </a:p>
          <a:p>
            <a:pPr lvl="0"/>
            <a:r>
              <a:rPr sz="1800"/>
              <a:t>“Verus: A Practical Foundation for Systems Verification” Lattuada, Hance, Bosamiya, Brun, Cho, LeBlanc, Srinivasan, Achermann, Chajed, Hawblitzel, Howell, Lorch, Padon, Parno</a:t>
            </a:r>
          </a:p>
          <a:p>
            <a:pPr lvl="0"/>
            <a:r>
              <a:rPr sz="1800"/>
              <a:t>“Verifying Concurrent Systems Code” Travis Hance — PhD Thesis, Carnegie Mellon University, 2024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Specifications are written in a pure mathematical sublanguage — spec functions, forall/exists, arithmetic, sets, sequences.</a:t>
            </a:r>
          </a:p>
          <a:p>
            <a:pPr lvl="0"/>
            <a:r>
              <a:rPr sz="1800"/>
              <a:t>Decidability is not guaranteed.</a:t>
            </a:r>
          </a:p>
          <a:p>
            <a:pPr lvl="0"/>
            <a:r>
              <a:rPr sz="1800"/>
              <a:t>Z3 handles linear arithmetic, arrays, and quantified formulas, but quantifier instantiation requires explicit trigger annotations.</a:t>
            </a:r>
          </a:p>
          <a:p>
            <a:pPr lvl="0"/>
            <a:r>
              <a:rPr sz="1800"/>
              <a:t>But there is also a faster linear arithmetic solver, Singular.</a:t>
            </a:r>
          </a:p>
          <a:p>
            <a:pPr lvl="0"/>
            <a:r>
              <a:rPr sz="1800"/>
              <a:t>Annotates existing Rust code - spec / proof / exec mode split</a:t>
            </a:r>
          </a:p>
          <a:p>
            <a:pPr lvl="0"/>
            <a:r>
              <a:rPr sz="1800"/>
              <a:t>Ships the Rust binary directly.</a:t>
            </a:r>
          </a:p>
          <a:p>
            <a:pPr lvl="0"/>
            <a:r>
              <a:rPr sz="1800"/>
              <a:t>Linear Logic + Borrowing from the Rust type system, which rustc checks.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F* -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Stand-alone dependently-typed language</a:t>
            </a:r>
          </a:p>
          <a:p>
            <a:pPr lvl="0"/>
            <a:r>
              <a:rPr sz="1800"/>
              <a:t>Effect system (Pure, ST, Steel/Pulse)</a:t>
            </a:r>
          </a:p>
          <a:p>
            <a:pPr lvl="0"/>
            <a:r>
              <a:rPr sz="1800"/>
              <a:t>SMT + tactics (meta-programming)</a:t>
            </a:r>
          </a:p>
          <a:p>
            <a:pPr lvl="0"/>
            <a:r>
              <a:rPr sz="1800"/>
              <a:t>Extracts to OCaml, F#, C, Wasm - Separation logic via Steel Pulse for low-level code.</a:t>
            </a:r>
          </a:p>
          <a:p>
            <a:pPr lvl="0"/>
            <a:r>
              <a:rPr sz="1800"/>
              <a:t>Refinement types.</a:t>
            </a:r>
          </a:p>
          <a:p>
            <a:pPr lvl="0"/>
            <a:r>
              <a:rPr sz="1800"/>
              <a:t>A much richer language set.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Views and the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A View maps an executable Rust type to a mathematical ghost type: Vec views as Seq, HashSet views as Set. Specs are written over the view; exec code manipulates the real type.</a:t>
            </a:r>
          </a:p>
          <a:p>
            <a:pPr lvl="0"/>
            <a:r>
              <a:rPr sz="1800"/>
              <a:t>vstd is Verus’s standard library — specs for Vec, Seq, Set, Map, Multiset, arithmetic, and common lemmas.</a:t>
            </a:r>
          </a:p>
          <a:p>
            <a:pPr lvl="0"/>
            <a:r>
              <a:rPr sz="1800"/>
              <a:t>vstdplus is APAS-VERUS’s extension library.</a:t>
            </a:r>
          </a:p>
          <a:p>
            <a:pPr lvl="0"/>
            <a:r>
              <a:rPr sz="1800"/>
              <a:t>Ghost types (Seq, Set, Map, Fn) live only in the verifier — they have no runtime cost and no runtime representation.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Wrapping Rust — Giving Specs to Unverified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Rust’s standard library is unverified — HashMap, HashSet, threads, and I/O have no Verus specs out of the box.</a:t>
            </a:r>
          </a:p>
          <a:p>
            <a:pPr lvl="0"/>
            <a:r>
              <a:rPr sz="1800"/>
              <a:t>external_type_specification adds a spec to an existing Rust type without wrapping it — used for types you cannot change.</a:t>
            </a:r>
          </a:p>
          <a:p>
            <a:pPr lvl="0"/>
            <a:r>
              <a:rPr sz="1800"/>
              <a:t>The wrapper pattern: define a new struct holding the unverified type, implement View to give it a mathematical model.</a:t>
            </a:r>
          </a:p>
          <a:p>
            <a:pPr lvl="0"/>
            <a:r>
              <a:rPr sz="1800"/>
              <a:t>So the TCB is std/core/alloc and the compiler.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Tokenized State Machines — Hance, CMU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Problem: Rust’s ownership types handle sequential aliasing well but cannot express distributed protocol state across threads.</a:t>
            </a:r>
          </a:p>
          <a:p>
            <a:pPr lvl="0"/>
            <a:r>
              <a:rPr sz="1800"/>
              <a:t>Answer: A Tokenized State Machine defines protocol state as fields with sharding strategies (variable, map, count, storage_option…).</a:t>
            </a:r>
          </a:p>
          <a:p>
            <a:pPr lvl="0"/>
            <a:r>
              <a:rPr sz="1800"/>
              <a:t>Transitions and an inductive invariant are proved once, globally. Verus auto-generates ghost token types and exchange functions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Tokenized State Machines — Hance, CMU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So client code manipulates local tokens, not global state.</a:t>
            </a:r>
          </a:p>
          <a:p>
            <a:pPr lvl="0"/>
            <a:r>
              <a:rPr sz="1800"/>
              <a:t>RwLock in vstd is implemented via a tokenized state machine</a:t>
            </a:r>
          </a:p>
          <a:p>
            <a:pPr lvl="0"/>
            <a:r>
              <a:rPr sz="1800"/>
              <a:t>The lock’s internal protocol (unlocked / read-locked / write-locked, reader count) is the TSM.</a:t>
            </a:r>
          </a:p>
          <a:p>
            <a:pPr lvl="0"/>
            <a:r>
              <a:rPr sz="1800"/>
              <a:t>RwLockPredicate is the (single) invariant the user supplies.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Tokenized State Machines — Hance, CMU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Hance et al. “Sharding the State Machine” — OSDI 2023 (primary TSM paper)</a:t>
            </a:r>
          </a:p>
          <a:p>
            <a:pPr lvl="0"/>
            <a:r>
              <a:rPr sz="1800"/>
              <a:t>Hance, Howell, Padon, Parno. “Leaf” — OOPSLA 2023 (storage protocols)</a:t>
            </a:r>
          </a:p>
          <a:p>
            <a:pPr lvl="0"/>
            <a:r>
              <a:rPr sz="1800"/>
              <a:t>Hance. PhD Thesis, CMU-CS-CS-24-146, 2024 (full formal treatment)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Verus: How Fast Verus Is Moving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4,225 commits since March 2021 — 5 years, still accelerating</a:t>
            </a:r>
          </a:p>
          <a:p>
            <a:pPr lvl="0"/>
            <a:r>
              <a:rPr sz="1800"/>
              <a:t>Commits per year:</a:t>
            </a:r>
          </a:p>
          <a:p>
            <a:pPr lvl="0"/>
            <a:r>
              <a:rPr sz="1800"/>
              <a:t>2021: 474 2022: 906 2023: 992</a:t>
            </a:r>
          </a:p>
          <a:p>
            <a:pPr lvl="0"/>
            <a:r>
              <a:rPr sz="1800"/>
              <a:t>2024: 745 2025: 761 2026: 347 (thru April)</a:t>
            </a:r>
          </a:p>
          <a:p>
            <a:pPr lvl="0"/>
            <a:r>
              <a:rPr sz="1800"/>
              <a:t>Rolling releases: 396 tagged — roughly one every 4 days</a:t>
            </a:r>
          </a:p>
          <a:p>
            <a:pPr lvl="0"/>
            <a:r>
              <a:rPr sz="1800"/>
              <a:t>59 stable releases!</a:t>
            </a:r>
          </a:p>
          <a:p>
            <a:pPr lvl="0"/>
            <a:r>
              <a:rPr sz="1800"/>
              <a:t>Excellent team and work. I have had only a few crashes, which I could work around.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 - AI Paired Proving APAS in 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Goal: formally verify all algorithms in Acar and Blelloch “A Practical Approach to Data Structures” using Verus. Every algorithm gets a machine-checked proof — no admitted lemmas, no hand-waving in production code.</a:t>
            </a:r>
          </a:p>
          <a:p>
            <a:pPr lvl="0"/>
            <a:r>
              <a:rPr sz="1800"/>
              <a:t>44 chapters, 262 algorithm files, upto 4 variants per algorithm: StEph (sequential mutable), StPer (sequential persistent), MtEph (parallel mutable), MtPer (parallel persistent).</a:t>
            </a:r>
          </a:p>
          <a:p>
            <a:pPr lvl="0"/>
            <a:r>
              <a:rPr sz="1800"/>
              <a:t>Minimal use of std.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 - AI Paired Proving APAS in Verus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Proof infrastructure: 26 vstdplus library modules, 29 standards documents encoding project proof conventions,</a:t>
            </a:r>
          </a:p>
          <a:p>
            <a:pPr lvl="0"/>
            <a:r>
              <a:rPr sz="1800"/>
              <a:t>Verification is the primary goal.</a:t>
            </a:r>
          </a:p>
          <a:p>
            <a:pPr lvl="0"/>
            <a:r>
              <a:rPr sz="1800"/>
              <a:t>Runtime tests (RTT) and proof-time tests (PTT) are secondary, but still terribly useful.</a:t>
            </a:r>
          </a:p>
          <a:p>
            <a:pPr lvl="0"/>
            <a:r>
              <a:rPr sz="1800"/>
              <a:t>They both still catch errors and instruct the AI.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 — Quantitatives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Scale: 44 chapters, 262 files, 186,223 src LOC (not counting comments).</a:t>
            </a:r>
          </a:p>
          <a:p>
            <a:pPr lvl="0"/>
            <a:r>
              <a:rPr sz="1800"/>
              <a:t>With vstdplus, standards, RTT, PTT: 275,014 total LOC.</a:t>
            </a:r>
          </a:p>
          <a:p>
            <a:pPr lvl="0"/>
            <a:r>
              <a:rPr sz="1800"/>
              <a:t>Built in 160 days, 2,596 commits, 8 agents, 281 agent-round reports.</a:t>
            </a:r>
          </a:p>
          <a:p>
            <a:pPr lvl="0"/>
            <a:r>
              <a:rPr sz="1800"/>
              <a:t>Verification: 5,674 verified items, 0 errors.</a:t>
            </a:r>
          </a:p>
          <a:p>
            <a:pPr lvl="0"/>
            <a:r>
              <a:rPr sz="1800"/>
              <a:t>Full validate</a:t>
            </a:r>
          </a:p>
          <a:p>
            <a:pPr lvl="1"/>
            <a:r>
              <a:rPr sz="1800"/>
              <a:t>runs in 210 s</a:t>
            </a:r>
          </a:p>
          <a:p>
            <a:pPr lvl="1"/>
            <a:r>
              <a:rPr sz="1800"/>
              <a:t>peak RSS 8 GB</a:t>
            </a:r>
          </a:p>
          <a:p>
            <a:pPr lvl="1"/>
            <a:r>
              <a:rPr sz="1800"/>
              <a:t>rust_verify 10 GB, Z3 up to 8 GB to 28 GB during some runs fixing UnionFind.</a:t>
            </a:r>
          </a:p>
          <a:p>
            <a:pPr lvl="0"/>
            <a:r>
              <a:rPr sz="1800"/>
              <a:t>Somewhere in I suspect there is a novel formal verification of some algorithm.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 — Quantitatives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Runtime tests: 3,776 passed in 21 s.</a:t>
            </a:r>
          </a:p>
          <a:p>
            <a:pPr lvl="0"/>
            <a:r>
              <a:rPr sz="1800"/>
              <a:t>Verus has a nice proof-time test harness, so I pulled it out:</a:t>
            </a:r>
          </a:p>
          <a:p>
            <a:pPr lvl="1"/>
            <a:r>
              <a:rPr sz="1800"/>
              <a:t>221 pass in 259 s.</a:t>
            </a:r>
          </a:p>
          <a:p>
            <a:pPr lvl="1"/>
            <a:r>
              <a:rPr sz="1800"/>
              <a:t>I used it mostly to continuously track that my iterators prove and continue to prove with changes, mostly to the specification of operations once the iterators were more stable.</a:t>
            </a:r>
          </a:p>
          <a:p>
            <a:pPr lvl="0"/>
            <a:r>
              <a:rPr sz="1800"/>
              <a:t>Benchmarks in 42s.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 — Quantitatives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Holes: started at 238 (R20), now 0!</a:t>
            </a:r>
          </a:p>
          <a:p>
            <a:pPr lvl="0"/>
            <a:r>
              <a:rPr sz="1800"/>
              <a:t>Largest chapter: Chap37 (AVL trees, BST variants) — 20,319 src LOC. 4.1× more source code to verify than APAS-AI needed to implement.</a:t>
            </a:r>
          </a:p>
          <a:p>
            <a:pPr lvl="0"/>
            <a:r>
              <a:rPr sz="1800"/>
              <a:t>Start: 2025-11-03</a:t>
            </a:r>
          </a:p>
          <a:p>
            <a:pPr lvl="0"/>
            <a:r>
              <a:rPr sz="1800"/>
              <a:t>End : 2026-04-12</a:t>
            </a:r>
          </a:p>
          <a:p>
            <a:pPr lvl="0"/>
            <a:r>
              <a:rPr sz="1800"/>
              <a:t>Duration: 150 person days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Proof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Spec 32,868 (21%)</a:t>
            </a:r>
          </a:p>
          <a:p>
            <a:pPr lvl="0"/>
            <a:r>
              <a:rPr sz="1800"/>
              <a:t>Proof 42,251 (27%)</a:t>
            </a:r>
          </a:p>
          <a:p>
            <a:pPr lvl="0"/>
            <a:r>
              <a:rPr sz="1800"/>
              <a:t>Exec 67,883 (44%)</a:t>
            </a:r>
          </a:p>
          <a:p>
            <a:pPr lvl="0"/>
            <a:r>
              <a:rPr sz="1800"/>
              <a:t>Rust 12,206 (8%) plain Rust (outside Verus!)</a:t>
            </a:r>
          </a:p>
          <a:p>
            <a:pPr lvl="0"/>
            <a:r>
              <a:rPr sz="1800"/>
              <a:t>So roughly half the non-exec code is proof (27%), a fifth is spec (21%), and the exec implementation is 44%.</a:t>
            </a:r>
          </a:p>
          <a:p>
            <a:pPr lvl="0"/>
            <a:r>
              <a:rPr sz="1800"/>
              <a:t>The “rust” 8% is code outside Verus! — Debug impls, macros, cfg, etc.</a:t>
            </a:r>
          </a:p>
          <a:p>
            <a:pPr lvl="0"/>
            <a:r>
              <a:rPr sz="1800"/>
              <a:t>All proof to exec: 75,119 / 67,883 = 110%.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The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When I started Verus, iterators for collections took quite some time.</a:t>
            </a:r>
          </a:p>
          <a:p>
            <a:pPr lvl="0"/>
            <a:r>
              <a:rPr sz="1800"/>
              <a:t>Generics and Equality was the second big pain point.</a:t>
            </a:r>
          </a:p>
          <a:p>
            <a:pPr lvl="0"/>
            <a:r>
              <a:rPr sz="1800"/>
              <a:t>I still have full equality axioms for generic types.</a:t>
            </a:r>
          </a:p>
          <a:p>
            <a:pPr lvl="0"/>
            <a:r>
              <a:rPr sz="1800"/>
              <a:t>Ordering was and is still difficult, it made my UnionFind consume up to 28GB in Z3.</a:t>
            </a:r>
          </a:p>
          <a:p>
            <a:pPr lvl="0"/>
            <a:r>
              <a:rPr sz="1800"/>
              <a:t>Verus is so fast, even with bloated AI proofs, I didn’t profile much until I was in the last few chapters.</a:t>
            </a:r>
          </a:p>
          <a:p>
            <a:pPr lvl="0"/>
            <a:r>
              <a:rPr sz="1800"/>
              <a:t>I simply made validate isolate by chapters.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The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Closures took a good bit of work.</a:t>
            </a:r>
          </a:p>
          <a:p>
            <a:pPr lvl="0"/>
            <a:r>
              <a:rPr sz="1800"/>
              <a:t>Applying them in map/reduce and so on took a while.</a:t>
            </a:r>
          </a:p>
          <a:p>
            <a:pPr lvl="0"/>
            <a:r>
              <a:rPr sz="1800"/>
              <a:t>Rust has FnOnce &lt; FnMut &lt; Fn, but no FPure.</a:t>
            </a:r>
          </a:p>
          <a:p>
            <a:pPr lvl="0"/>
            <a:r>
              <a:rPr sz="1800"/>
              <a:t>Verus Ghost functions allows good validation but purity would be simpler.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AutoCLRS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AutoCLRS is Swamy et al. and AIs implementation: “Introduction to Algorithms, 4th ed” 2022</a:t>
            </a:r>
          </a:p>
          <a:p>
            <a:pPr lvl="0"/>
            <a:r>
              <a:rPr sz="1800"/>
              <a:t>by Thomas H. Cormen, Charles E. Leiserson, Ronald L. Rivest, and Clifford Stein.</a:t>
            </a:r>
          </a:p>
          <a:p>
            <a:pPr lvl="0"/>
            <a:r>
              <a:rPr sz="1800"/>
              <a:t>in Pulse.</a:t>
            </a:r>
          </a:p>
          <a:p>
            <a:pPr lvl="0"/>
            <a:r>
              <a:rPr sz="1800"/>
              <a:t>RISE MSR blog (2026-03-06) says the initial 10K lines came “very quickly” and then “about a month of nudging” to reach 100K LOC.</a:t>
            </a:r>
          </a:p>
          <a:p>
            <a:pPr lvl="0"/>
            <a:r>
              <a:rPr sz="1800"/>
              <a:t>Nikhil Swamy with thanks to Gabriel Ebner, Lef Ioannidis, Guido Martinez, Matthai Philipose and Tahina Ramananandro.</a:t>
            </a:r>
          </a:p>
          <a:p>
            <a:pPr lvl="0"/>
            <a:r>
              <a:rPr sz="1800"/>
              <a:t>And now seems to be about 130K LOC.</a:t>
            </a:r>
          </a:p>
          <a:p>
            <a:pPr lvl="0"/>
            <a:r>
              <a:rPr sz="1800"/>
              <a:t>They definitely had some tool advantages in terms of incremental proofs through a server.</a:t>
            </a:r>
          </a:p>
          <a:p>
            <a:pPr lvl="0"/>
            <a:r>
              <a:rPr sz="1800"/>
              <a:t>Plus, they knew F* and Pulse to start!</a:t>
            </a:r>
          </a:p>
          <a:p>
            <a:pPr lvl="0"/>
            <a:r>
              <a:rPr sz="1800"/>
              <a:t>And they did a formal specification of algorithmic complexity.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 -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APAS states runtimes and informally proves them for some algorithms.</a:t>
            </a:r>
          </a:p>
          <a:p>
            <a:pPr lvl="0"/>
            <a:r>
              <a:rPr sz="1800"/>
              <a:t>I had to build a tool to get the right ones in the code at the right place.</a:t>
            </a:r>
          </a:p>
          <a:p>
            <a:pPr lvl="0"/>
            <a:r>
              <a:rPr sz="1800"/>
              <a:t>My single threaded implementations often don’t match the textbook.</a:t>
            </a:r>
          </a:p>
          <a:p>
            <a:pPr lvl="0"/>
            <a:r>
              <a:rPr sz="1800"/>
              <a:t>Then I had Claude Opus do it’s analysis and compare every function with the textbooks.</a:t>
            </a:r>
          </a:p>
          <a:p>
            <a:pPr lvl="0"/>
            <a:r>
              <a:rPr sz="1800"/>
              <a:t>This found about 16 faults in parallel algorithms.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Veracity- Software Engineering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Veracity is a suite of 22+ tools for analyzing, reviewing, and fixing Verus codebases.</a:t>
            </a:r>
          </a:p>
          <a:p>
            <a:pPr lvl="0"/>
            <a:r>
              <a:rPr sz="1800"/>
              <a:t>Review tools: proof holes (assume, external_body, admit), style enforcement (21 rules, auto-reorder), function inventory with spec strength classification, string-hacking detector.</a:t>
            </a:r>
          </a:p>
          <a:p>
            <a:pPr lvl="0"/>
            <a:r>
              <a:rPr sz="1800"/>
              <a:t>Minimization tools: veracity-minimize-proofs (removes redundant asserts and proof blocks, re-verifying after each removal).</a:t>
            </a:r>
          </a:p>
          <a:p>
            <a:pPr lvl="0"/>
            <a:r>
              <a:rPr sz="1800"/>
              <a:t>Metrics: veracity-count-loc (spec/proof/exec breakdown), chapter-cleanliness-status (clean vs. holed chapter summary).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Veracity- Software Engineering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All tools are AST-aware (ra_ap_syntax / Verus_syn). A built-in string-hacking detector flags and rejects any tool that attempts regex or find-and-replace on Verus source.</a:t>
            </a:r>
          </a:p>
          <a:p>
            <a:pPr lvl="0"/>
            <a:r>
              <a:rPr sz="1800"/>
              <a:t>Search: veracity-search — semantic search over vstd</a:t>
            </a:r>
          </a:p>
          <a:p>
            <a:pPr lvl="0"/>
            <a:r>
              <a:rPr sz="1800"/>
              <a:t>APAS-VERUS by type signature, finding lemmas before writing new ones. “Specifications as Search Keys for Software Libraries” Eugene J. Rollins and Jeannette M. Wing</a:t>
            </a:r>
          </a:p>
          <a:p>
            <a:pPr lvl="0"/>
            <a:r>
              <a:rPr sz="1800"/>
              <a:t>This allows me to download ALL known Verus (git VerusCodebases) and search them in 1.2 seconds!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Verified Iteration - Pain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Iteration in Rust is rather complex.</a:t>
            </a:r>
          </a:p>
          <a:p>
            <a:pPr lvl="0"/>
            <a:r>
              <a:rPr sz="1800"/>
              <a:t>7 functions cover the 90% case.</a:t>
            </a:r>
          </a:p>
          <a:p>
            <a:pPr lvl="0"/>
            <a:r>
              <a:rPr sz="1800"/>
              <a:t>And in Verus it’s a bit more complex and takes some time to learn.</a:t>
            </a:r>
          </a:p>
          <a:p>
            <a:pPr lvl="0"/>
            <a:r>
              <a:rPr sz="1800"/>
              <a:t>10 components required per collection (all inside Verus!)</a:t>
            </a:r>
          </a:p>
          <a:p>
            <a:pPr lvl="0"/>
            <a:r>
              <a:rPr sz="1800"/>
              <a:t>6 verified loop patterns per collection</a:t>
            </a:r>
          </a:p>
          <a:p>
            <a:pPr lvl="0"/>
            <a:r>
              <a:rPr sz="1800"/>
              <a:t>loop + borrow iter, loop + borrow into</a:t>
            </a:r>
          </a:p>
          <a:p>
            <a:pPr lvl="0"/>
            <a:r>
              <a:rPr sz="1800"/>
              <a:t>for + borrow iter, for + borrow into</a:t>
            </a:r>
          </a:p>
          <a:p>
            <a:pPr lvl="0"/>
            <a:r>
              <a:rPr sz="1800"/>
              <a:t>loop + consume, for + consume</a:t>
            </a:r>
          </a:p>
          <a:p>
            <a:pPr lvl="0"/>
            <a:r>
              <a:rPr sz="1800"/>
              <a:t>Iterator assumes (one necessary workaround):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Verified 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Verus forbids requires on external trait impls (std::iter::Iterator)</a:t>
            </a:r>
          </a:p>
          <a:p>
            <a:pPr lvl="0"/>
            <a:r>
              <a:rPr sz="1800"/>
              <a:t>Hand-rolled iterators need assume(iter_invariant(self)) in next()</a:t>
            </a:r>
          </a:p>
          <a:p>
            <a:pPr lvl="0"/>
            <a:r>
              <a:rPr sz="1800"/>
              <a:t>Everything after the assume is fully proved</a:t>
            </a:r>
          </a:p>
          <a:p>
            <a:pPr lvl="0"/>
            <a:r>
              <a:rPr sz="1800"/>
              <a:t>44 collections implemented; all carry verified iterators</a:t>
            </a:r>
          </a:p>
          <a:p>
            <a:pPr lvl="0"/>
            <a:r>
              <a:rPr sz="1800"/>
              <a:t>Verus has proof time tests inside, I freed them to run in APAS-VERUS.</a:t>
            </a:r>
          </a:p>
          <a:p>
            <a:pPr lvl="0"/>
            <a:r>
              <a:rPr sz="1800"/>
              <a:t>This was critical to get iterative loops to prove over my collections ADTs.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Agents often say “Verus Can’t Do That”</a:t>
            </a:r>
          </a:p>
          <a:p>
            <a:pPr lvl="0"/>
            <a:r>
              <a:rPr sz="1800"/>
              <a:t>I said “Make an experiment!”</a:t>
            </a:r>
          </a:p>
          <a:p>
            <a:pPr lvl="0"/>
            <a:r>
              <a:rPr sz="1800"/>
              <a:t>Quantitatives:</a:t>
            </a:r>
          </a:p>
          <a:p>
            <a:pPr lvl="0"/>
            <a:r>
              <a:rPr sz="1800"/>
              <a:t>168 experiment files</a:t>
            </a:r>
          </a:p>
          <a:p>
            <a:pPr lvl="0"/>
            <a:r>
              <a:rPr sz="1800"/>
              <a:t>21,476 lines of code (not counted in the totals)</a:t>
            </a:r>
          </a:p>
          <a:p>
            <a:pPr lvl="0"/>
            <a:r>
              <a:rPr sz="1800"/>
              <a:t>Topics span: Clone, Arc, RwLock, TSM, closures, iterators, generics, float, bitvector, PartialEq, Copy, async, hash tables, parallel algorithms, ghost types, Send/Sync, collect, and sorting.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APAS-VERUS: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Results:</a:t>
            </a:r>
          </a:p>
          <a:p>
            <a:pPr lvl="0"/>
            <a:r>
              <a:rPr sz="1800"/>
              <a:t>107 files: SUCCEEDS / VERIFIES — pattern adopted into codebase</a:t>
            </a:r>
          </a:p>
          <a:p>
            <a:pPr lvl="0"/>
            <a:r>
              <a:rPr sz="1800"/>
              <a:t>61 files: FAILS — Verus limitation documented, workaround noted</a:t>
            </a:r>
          </a:p>
          <a:p>
            <a:pPr lvl="0"/>
            <a:r>
              <a:rPr sz="1800"/>
              <a:t>Notable successes that unlocked chapters:</a:t>
            </a:r>
          </a:p>
          <a:p>
            <a:pPr lvl="0"/>
            <a:r>
              <a:rPr sz="1800"/>
              <a:t>TSM/RwLock layer pattern — unlocked all Mt chapters</a:t>
            </a:r>
          </a:p>
          <a:p>
            <a:pPr lvl="0"/>
            <a:r>
              <a:rPr sz="1800"/>
              <a:t>Named closure ensures through ParaPair — unlocked fork-join</a:t>
            </a:r>
          </a:p>
          <a:p>
            <a:pPr lvl="0"/>
            <a:r>
              <a:rPr sz="1800"/>
              <a:t>Ghost struct Send/Sync — unlocked Chap41 (now in Verus upstream)</a:t>
            </a:r>
          </a:p>
          <a:p>
            <a:pPr lvl="0"/>
            <a:r>
              <a:rPr sz="1800"/>
              <a:t>Tree module style with recursive trait impls — unlocked Chap65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Purpose: encode hard-won proof patterns so agents don’t repeat mistakes</a:t>
            </a:r>
          </a:p>
          <a:p>
            <a:pPr lvl="0"/>
            <a:r>
              <a:rPr sz="1800"/>
              <a:t>Agents read all standards before every task (~6,200 lines, ~54K tokens)</a:t>
            </a:r>
          </a:p>
          <a:p>
            <a:pPr lvl="0"/>
            <a:r>
              <a:rPr sz="1800"/>
              <a:t>Violations are only agent checked except for many code style issues.</a:t>
            </a:r>
          </a:p>
          <a:p>
            <a:pPr lvl="0"/>
            <a:r>
              <a:rPr sz="1800"/>
              <a:t>Quantitatives:</a:t>
            </a:r>
          </a:p>
          <a:p>
            <a:pPr lvl="0"/>
            <a:r>
              <a:rPr sz="1800"/>
              <a:t>29 standard files</a:t>
            </a:r>
          </a:p>
          <a:p>
            <a:pPr lvl="0"/>
            <a:r>
              <a:rPr sz="1800"/>
              <a:t>6,911 lines total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APAS-VERUS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Module structure: mod, table_of_contents, spec_naming, spec_wf</a:t>
            </a:r>
          </a:p>
          <a:p>
            <a:pPr lvl="0"/>
            <a:r>
              <a:rPr sz="1800"/>
              <a:t>Type system: view, deep_view, partial_eq_eq_clone, multi_struct</a:t>
            </a:r>
          </a:p>
          <a:p>
            <a:pPr lvl="0"/>
            <a:r>
              <a:rPr sz="1800"/>
              <a:t>Proof patterns: total_order, finite_sets, capacity_bounds, no_unsafe</a:t>
            </a:r>
          </a:p>
          <a:p>
            <a:pPr lvl="0"/>
            <a:r>
              <a:rPr sz="1800"/>
              <a:t>Concurrency: arc_usage, hfscheduler, mt_type_bounds, toplevel_coarse_rwlocks, tsm, rwlock_tsm</a:t>
            </a:r>
          </a:p>
          <a:p>
            <a:pPr lvl="0"/>
            <a:r>
              <a:rPr sz="1800"/>
              <a:t>Iteration: iterators, wrapping_iterators, iterator_ptt</a:t>
            </a:r>
          </a:p>
          <a:p>
            <a:pPr lvl="0"/>
            <a:r>
              <a:rPr sz="1800"/>
              <a:t>Execution: mut, using_closures, using_hashmap, using_rand</a:t>
            </a:r>
          </a:p>
          <a:p>
            <a:pPr lvl="0"/>
            <a:r>
              <a:rPr sz="1800"/>
              <a:t>Style: TOC and ordering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Veracity: veracity-minimize-proofs: AIs Write Redundant Proofs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AI proof agents produce correct but bloated proofs — redundant asserts, unnecessary proof blocks, duplicate intermediate steps that Z3 already knew.</a:t>
            </a:r>
          </a:p>
          <a:p>
            <a:pPr lvl="0"/>
            <a:r>
              <a:rPr sz="1800"/>
              <a:t>They verify, but they waste solver budget on every subsequent run.</a:t>
            </a:r>
          </a:p>
          <a:p>
            <a:pPr lvl="0"/>
            <a:r>
              <a:rPr sz="1800"/>
              <a:t>veracity-minimize-proofs tests each assert and proof block individually: remove it, re-verify, comment it out if it is not needed and it does not increase time or memory.</a:t>
            </a:r>
          </a:p>
          <a:p>
            <a:pPr lvl="0"/>
            <a:r>
              <a:rPr sz="1800"/>
              <a:t>Result across APAS-VERUS: 22 asserts and 33 proof blocks removed in 105 minutes of wall time. 55 redundant proof statements eliminated, ~2 minutes of minimizer time per removal.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Veracity: veracity-minimize-proofs: AIs Write Redundant Proofs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One assert in Chap43 OrderedTableMtEph saved:</a:t>
            </a:r>
          </a:p>
          <a:p>
            <a:pPr lvl="1"/>
            <a:r>
              <a:rPr sz="1800"/>
              <a:t>43–104 s of Z3 CPU</a:t>
            </a:r>
          </a:p>
          <a:p>
            <a:pPr lvl="1"/>
            <a:r>
              <a:rPr sz="1800"/>
              <a:t>up to 89 MB of Z3 RSS per verify run.</a:t>
            </a:r>
          </a:p>
          <a:p>
            <a:pPr lvl="0"/>
            <a:r>
              <a:rPr sz="1800"/>
              <a:t>Eight removals in that one file: Z3 RSS −57%.</a:t>
            </a:r>
          </a:p>
          <a:p>
            <a:pPr lvl="0"/>
            <a:r>
              <a:rPr sz="1800"/>
              <a:t>105 minutes of running the minimizer bought many hours of validation drop.</a:t>
            </a:r>
          </a:p>
          <a:p>
            <a:pPr lvl="0"/>
            <a:r>
              <a:rPr sz="1800"/>
              <a:t>This might be novel. Anyone know of anything except Isabelle’s sledgehammer?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Veracity Annotations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I ended up having to have my tools work mostly in comments.</a:t>
            </a:r>
          </a:p>
          <a:p>
            <a:pPr lvl="0"/>
            <a:r>
              <a:rPr sz="1800"/>
              <a:t>I added accept to mark assumes I allowed, almost all eq/partialeq/clone.</a:t>
            </a:r>
          </a:p>
          <a:p>
            <a:pPr lvl="0"/>
            <a:r>
              <a:rPr sz="1800"/>
              <a:t>This can be simplified with some Verus language syntax, but then the AIs are not trained on the symbols.</a:t>
            </a:r>
          </a:p>
          <a:p>
            <a:pPr lvl="0"/>
            <a:r>
              <a:rPr sz="1800"/>
              <a:t>// Veracity: NEEDED assert — 6,081</a:t>
            </a:r>
          </a:p>
          <a:p>
            <a:pPr lvl="0"/>
            <a:r>
              <a:rPr sz="1800"/>
              <a:t>// Veracity: NEEDED proof block — 4,681</a:t>
            </a:r>
          </a:p>
          <a:p>
            <a:pPr lvl="0"/>
            <a:r>
              <a:rPr sz="1800"/>
              <a:t>// Veracity: NEEDED assert (speed) — 1,502</a:t>
            </a:r>
          </a:p>
          <a:p>
            <a:pPr lvl="0"/>
            <a:r>
              <a:rPr sz="1800"/>
              <a:t>// Veracity: NEEDED proof block (speed)— 245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Veracity Annotations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Total NEEDED: 12,509</a:t>
            </a:r>
          </a:p>
          <a:p>
            <a:pPr lvl="0"/>
            <a:r>
              <a:rPr sz="1800"/>
              <a:t>// Veracity: UNNEEDED — 1,452</a:t>
            </a:r>
          </a:p>
          <a:p>
            <a:pPr lvl="0"/>
            <a:r>
              <a:rPr sz="1800"/>
              <a:t>// Veracity: no_requires — 71</a:t>
            </a:r>
          </a:p>
          <a:p>
            <a:pPr lvl="0"/>
            <a:r>
              <a:rPr sz="1800"/>
              <a:t>accept — 108</a:t>
            </a:r>
          </a:p>
          <a:p>
            <a:pPr lvl="0"/>
            <a:r>
              <a:rPr sz="1800"/>
              <a:t>Total annotations: 14,140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Rusticate + Veracity allow quantitative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I downloaded the 1036 most downloaded Rust projects, 3636 crates.</a:t>
            </a:r>
          </a:p>
          <a:p>
            <a:pPr lvl="0"/>
            <a:r>
              <a:rPr sz="1800"/>
              <a:t>I threw out three that wrapped std for asynchrony.</a:t>
            </a:r>
          </a:p>
          <a:p>
            <a:pPr lvl="0"/>
            <a:r>
              <a:rPr sz="1800"/>
              <a:t>I did a greedy set cover analysis of what Rust uses.</a:t>
            </a:r>
          </a:p>
          <a:p>
            <a:pPr lvl="0"/>
            <a:r>
              <a:rPr sz="1800"/>
              <a:t>And another of what verus wraps.</a:t>
            </a:r>
          </a:p>
          <a:p>
            <a:pPr lvl="0"/>
            <a:r>
              <a:rPr sz="1800"/>
              <a:t>This is a golden age for quantitative software engineering.</a:t>
            </a:r>
          </a:p>
          <a:p>
            <a:pPr lvl="0"/>
            <a:r>
              <a:rPr sz="1800"/>
              <a:t>It took just two days of person time.</a:t>
            </a:r>
          </a:p>
          <a:p>
            <a:pPr lvl="0"/>
            <a:r>
              <a:rPr sz="1800"/>
              <a:t>And I never read a line of code in the tools. Just check the output and have the AI write a lot of tests.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Rusticate + Veracity : What Rust Cargos use in std.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Top 1000 projects, 3636 crates.</a:t>
            </a:r>
          </a:p>
          <a:p>
            <a:pPr lvl="0"/>
            <a:r>
              <a:rPr sz="1800"/>
              <a:t>19 data types fully support 90%.</a:t>
            </a:r>
          </a:p>
          <a:p>
            <a:pPr lvl="0"/>
            <a:r>
              <a:rPr sz="1800"/>
              <a:t>48 data types fully support 100%.</a:t>
            </a:r>
          </a:p>
          <a:p>
            <a:pPr lvl="0"/>
            <a:r>
              <a:rPr sz="1800"/>
              <a:t>69 modules fully support 95%.</a:t>
            </a:r>
          </a:p>
          <a:p>
            <a:pPr lvl="0"/>
            <a:r>
              <a:rPr sz="1800"/>
              <a:t>79 modules fully support 99%.</a:t>
            </a:r>
          </a:p>
          <a:p>
            <a:pPr lvl="0"/>
            <a:r>
              <a:rPr sz="1800"/>
              <a:t>1121 methods fully support 95%.</a:t>
            </a:r>
          </a:p>
          <a:p>
            <a:pPr lvl="0"/>
            <a:r>
              <a:rPr sz="1800"/>
              <a:t>1733 methods fully support 99%.</a:t>
            </a:r>
          </a:p>
          <a:p>
            <a:pPr lvl="0"/>
            <a:r>
              <a:rPr sz="1800"/>
              <a:t>14,317 total fn definitions in std/core/alloc in Rust</a:t>
            </a:r>
          </a:p>
          <a:p>
            <a:pPr lvl="0"/>
            <a:r>
              <a:rPr sz="1800"/>
              <a:t>4,965 pub fn definitions in std/core/alloc in Rust</a:t>
            </a:r>
          </a:p>
          <a:p>
            <a:pPr lvl="0"/>
            <a:r>
              <a:rPr sz="1800"/>
              <a:t>But how many of those private functions do we need? I don’t know.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Compare Rust STD to APAS-VERUS?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APAS-VERUS: -6,401 exec functions total, -4,911 with proofs</a:t>
            </a:r>
          </a:p>
          <a:p>
            <a:pPr lvl="0"/>
            <a:r>
              <a:rPr sz="1800"/>
              <a:t>But APAS-VERUS has {Mt,St}x{Per,Eph}</a:t>
            </a:r>
          </a:p>
          <a:p>
            <a:pPr lvl="0"/>
            <a:r>
              <a:rPr sz="1800"/>
              <a:t>So it is much more like 2000 distinct functions.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Rusticate + Veracity: What Verus Wraps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As of 2026 14 April</a:t>
            </a:r>
          </a:p>
          <a:p>
            <a:pPr lvl="0"/>
            <a:r>
              <a:rPr sz="1800"/>
              <a:t>How many Rust Data Types does Verus wrap?</a:t>
            </a:r>
          </a:p>
          <a:p>
            <a:pPr lvl="1"/>
            <a:r>
              <a:rPr sz="1800"/>
              <a:t>29 types currently wrapped.</a:t>
            </a:r>
          </a:p>
          <a:p>
            <a:pPr lvl="0"/>
            <a:r>
              <a:rPr sz="1800"/>
              <a:t>How many Rust Traits does Verus wrap?</a:t>
            </a:r>
          </a:p>
          <a:p>
            <a:pPr lvl="1"/>
            <a:r>
              <a:rPr sz="1800"/>
              <a:t>147 traits in vstd.</a:t>
            </a:r>
          </a:p>
          <a:p>
            <a:pPr lvl="0"/>
            <a:r>
              <a:rPr sz="1800"/>
              <a:t>How many total Rust Methods does Verus wrap?</a:t>
            </a:r>
          </a:p>
          <a:p>
            <a:pPr lvl="1"/>
            <a:r>
              <a:rPr sz="1800"/>
              <a:t>154 methods currently wrapped.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Proof Holes Over Time — R20 to R201</a:t>
            </a:r>
          </a:p>
        </p:txBody>
      </p:sp>
      <p:pic>
        <p:nvPicPr>
          <p:cNvPr descr="proof_ho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35100" y="1193800"/>
            <a:ext cx="6273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Proof Time and Memory — Key Reductions</a:t>
            </a:r>
          </a:p>
        </p:txBody>
      </p:sp>
      <p:pic>
        <p:nvPicPr>
          <p:cNvPr descr="proof_ti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Proof Time and Memory — Key Reductions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Five techiniques were used to optimize</a:t>
            </a:r>
          </a:p>
          <a:p>
            <a:pPr lvl="1"/>
            <a:r>
              <a:rPr sz="1800"/>
              <a:t>minimize-proofs</a:t>
            </a:r>
          </a:p>
          <a:p>
            <a:pPr lvl="1"/>
            <a:r>
              <a:rPr sz="1800"/>
              <a:t>profiling</a:t>
            </a:r>
          </a:p>
          <a:p>
            <a:pPr lvl="1"/>
            <a:r>
              <a:rPr sz="1800"/>
              <a:t>splitting specs and applying them just where they are needed</a:t>
            </a:r>
          </a:p>
          <a:p>
            <a:pPr lvl="1"/>
            <a:r>
              <a:rPr sz="1800"/>
              <a:t>opaque - to hide a definition within the module</a:t>
            </a:r>
          </a:p>
          <a:p>
            <a:pPr lvl="1"/>
            <a:r>
              <a:rPr sz="1800"/>
              <a:t>private spec - to hide a definition across modules</a:t>
            </a:r>
          </a:p>
          <a:p>
            <a:pPr lvl="0"/>
            <a:r>
              <a:rPr sz="1800"/>
              <a:t>OrderedTableMtEph: −57% proof time after minimize-proofs (R176).</a:t>
            </a:r>
          </a:p>
          <a:p>
            <a:pPr lvl="0"/>
            <a:r>
              <a:rPr sz="1800"/>
              <a:t>UnionFindPCStEph: 139K Z3 instantiations → 0 after opaque pattern used in a required module.</a:t>
            </a:r>
          </a:p>
          <a:p>
            <a:pPr lvl="0"/>
            <a:r>
              <a:rPr sz="1800"/>
              <a:t>Johnson Chap59: 756 MB → 520 MB (−31%) memory reduction.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Software Engineering in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Software engineering in the AI age is much like managing programmers.</a:t>
            </a:r>
          </a:p>
          <a:p>
            <a:pPr lvl="0"/>
            <a:r>
              <a:rPr sz="1800"/>
              <a:t>You can’t possibly read all their code.</a:t>
            </a:r>
          </a:p>
          <a:p>
            <a:pPr lvl="0"/>
            <a:r>
              <a:rPr sz="1800"/>
              <a:t>So you have:</a:t>
            </a:r>
          </a:p>
          <a:p>
            <a:pPr lvl="0"/>
            <a:r>
              <a:rPr sz="1800"/>
              <a:t>linters both programmatic and AI</a:t>
            </a:r>
          </a:p>
          <a:p>
            <a:pPr lvl="0"/>
            <a:r>
              <a:rPr sz="1800"/>
              <a:t>stylers both programmatic and AI</a:t>
            </a:r>
          </a:p>
          <a:p>
            <a:pPr lvl="0"/>
            <a:r>
              <a:rPr sz="1800"/>
              <a:t>AI reviews directed by programmatic.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Software Engineering in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Starting with a textbook that has a ton of good prose is a huge plus.</a:t>
            </a:r>
          </a:p>
          <a:p>
            <a:pPr lvl="0"/>
            <a:r>
              <a:rPr sz="1800"/>
              <a:t>I did discover a few things about the textbook.</a:t>
            </a:r>
          </a:p>
          <a:p>
            <a:pPr lvl="0"/>
            <a:r>
              <a:rPr sz="1800"/>
              <a:t>It needs more on Scheduling. I only built Help-First scheduling.</a:t>
            </a:r>
          </a:p>
          <a:p>
            <a:pPr lvl="0"/>
            <a:r>
              <a:rPr sz="1800"/>
              <a:t>It used (K,V) in tree sets as mappings, but I had to make this explicit. Particularly with an Ordered Key Mapping.</a:t>
            </a:r>
          </a:p>
          <a:p>
            <a:pPr lvl="0"/>
            <a:r>
              <a:rPr sz="1800"/>
              <a:t>APAS’s discussion of Union Find was too thin. Path compression was very difficult.</a:t>
            </a:r>
          </a:p>
          <a:p>
            <a:pPr lvl="0"/>
            <a:r>
              <a:rPr sz="1800"/>
              <a:t>I had to start with Nikhil Swammy et. al’s AlgoCLRS’s implemention and proofs.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Software Engineering in AI Paired Proving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I use git work trees for proof.</a:t>
            </a:r>
          </a:p>
          <a:p>
            <a:pPr lvl="0"/>
            <a:r>
              <a:rPr sz="1800"/>
              <a:t>The good news is git is powerful and the agents understand it.</a:t>
            </a:r>
          </a:p>
          <a:p>
            <a:pPr lvl="0"/>
            <a:r>
              <a:rPr sz="1800"/>
              <a:t>The bad news is the agents can indeed start using advanced features and get things wrong.</a:t>
            </a:r>
          </a:p>
          <a:p>
            <a:pPr lvl="0"/>
            <a:r>
              <a:rPr sz="1800"/>
              <a:t>I work with between 1 and 9 agents.</a:t>
            </a:r>
          </a:p>
          <a:p>
            <a:pPr lvl="0"/>
            <a:r>
              <a:rPr sz="1800"/>
              <a:t>One on veracity.</a:t>
            </a:r>
          </a:p>
          <a:p>
            <a:pPr lvl="0"/>
            <a:r>
              <a:rPr sz="1800"/>
              <a:t>One orchestrator, writing plan prompts and controlling merges.</a:t>
            </a:r>
          </a:p>
          <a:p>
            <a:pPr lvl="0"/>
            <a:r>
              <a:rPr sz="1800"/>
              <a:t>1-8 on branches each working on different independent plans.</a:t>
            </a:r>
          </a:p>
          <a:p>
            <a:pPr lvl="0"/>
            <a:r>
              <a:rPr sz="1800"/>
              <a:t>I am not nearly comfortable enough with agent proof to let them do subagents without observing.</a:t>
            </a:r>
          </a:p>
          <a:p>
            <a:pPr lvl="0"/>
            <a:r>
              <a:rPr sz="1800"/>
              <a:t>Cursor was much better at interruption to guide things.</a:t>
            </a:r>
          </a:p>
          <a:p>
            <a:pPr lvl="0"/>
            <a:r>
              <a:rPr sz="1800"/>
              <a:t>Claude is getting better at it.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Software Engineering in AI Paired Proving-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The agents I used are: various Google, OpenAI and Anthropic.</a:t>
            </a:r>
          </a:p>
          <a:p>
            <a:pPr lvl="0"/>
            <a:r>
              <a:rPr sz="1800"/>
              <a:t>A google agent once took 12 minutes to ‘echo HI’ to test it’s terminal.</a:t>
            </a:r>
          </a:p>
          <a:p>
            <a:pPr lvl="0"/>
            <a:r>
              <a:rPr sz="1800"/>
              <a:t>Anthropics models are signficantly better than OpenAI.</a:t>
            </a:r>
          </a:p>
          <a:p>
            <a:pPr lvl="0"/>
            <a:r>
              <a:rPr sz="1800"/>
              <a:t>And Claude Code’s cost is the least so far.</a:t>
            </a:r>
          </a:p>
          <a:p>
            <a:pPr lvl="0"/>
            <a:r>
              <a:rPr sz="1800"/>
              <a:t>They are said in the press to be spending $5000 per month per user.</a:t>
            </a:r>
          </a:p>
          <a:p>
            <a:pPr lvl="0"/>
            <a:r>
              <a:rPr sz="1800"/>
              <a:t>They are buying market share (what happened to Amazon’s buying market share phase?).</a:t>
            </a:r>
          </a:p>
          <a:p>
            <a:pPr lvl="0"/>
            <a:r>
              <a:rPr sz="1800"/>
              <a:t>And they are buying coding interactions.</a:t>
            </a:r>
          </a:p>
          <a:p>
            <a:pPr lvl="0"/>
            <a:r>
              <a:rPr sz="1800"/>
              <a:t>But both vendors are playing leap frog.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Software Engineering in AI Paired Proving-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They are inconsistent.</a:t>
            </a:r>
          </a:p>
          <a:p>
            <a:pPr lvl="0"/>
            <a:r>
              <a:rPr sz="1800"/>
              <a:t>They lie.</a:t>
            </a:r>
          </a:p>
          <a:p>
            <a:pPr lvl="0"/>
            <a:r>
              <a:rPr sz="1800"/>
              <a:t>They cheat.</a:t>
            </a:r>
          </a:p>
          <a:p>
            <a:pPr lvl="0"/>
            <a:r>
              <a:rPr sz="1800"/>
              <a:t>They err.</a:t>
            </a:r>
          </a:p>
          <a:p>
            <a:pPr lvl="0"/>
            <a:r>
              <a:rPr sz="1800"/>
              <a:t>But mostly they are just forgetful.</a:t>
            </a:r>
          </a:p>
          <a:p>
            <a:pPr lvl="0"/>
            <a:r>
              <a:rPr sz="1800"/>
              <a:t>My attempts to give them coding standard checklists, ala Watts Humphrey and the PSP failed.</a:t>
            </a:r>
          </a:p>
          <a:p>
            <a:pPr lvl="0"/>
            <a:r>
              <a:rPr sz="1800"/>
              <a:t>Sometimes they would say “The checklist was followed” and then admit “I lied.”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Software Engineering in AI Paired Proving-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They are getting better.</a:t>
            </a:r>
          </a:p>
          <a:p>
            <a:pPr lvl="0"/>
            <a:r>
              <a:rPr sz="1800"/>
              <a:t>If you tell them you are Dr. FunkenProof and they are Igor, they hallucinate whole modules.</a:t>
            </a:r>
          </a:p>
          <a:p>
            <a:pPr lvl="0"/>
            <a:r>
              <a:rPr sz="1800"/>
              <a:t>Just a few months ago only Claude could sweep a codebase decently.</a:t>
            </a:r>
          </a:p>
          <a:p>
            <a:pPr lvl="0"/>
            <a:r>
              <a:rPr sz="1800"/>
              <a:t>Now both Claude and OpenAI can.</a:t>
            </a:r>
          </a:p>
          <a:p>
            <a:pPr lvl="0"/>
            <a:r>
              <a:rPr sz="1800"/>
              <a:t>And now they can prove like heck.</a:t>
            </a:r>
          </a:p>
          <a:p>
            <a:pPr lvl="0"/>
            <a:r>
              <a:rPr sz="1800"/>
              <a:t>10x what I can do.</a:t>
            </a:r>
          </a:p>
          <a:p>
            <a:pPr lvl="0"/>
            <a:r>
              <a:rPr sz="1800"/>
              <a:t>Claude wants $25 per code review now, probably because they can and it’s expensive if they’re using pure LLMs.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Software Engineering in AI Paired Proving-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What is the limiting factor now? Code Review! But really Spec review.</a:t>
            </a:r>
          </a:p>
          <a:p>
            <a:pPr lvl="0"/>
            <a:r>
              <a:rPr sz="1800"/>
              <a:t>What can we do to simplify code review?</a:t>
            </a:r>
          </a:p>
          <a:p>
            <a:pPr lvl="0" indent="-342900" marL="342900">
              <a:buAutoNum type="arabicPeriod"/>
            </a:pPr>
            <a:r>
              <a:rPr sz="1800"/>
              <a:t>Modularity - traits/impls in Verus.</a:t>
            </a:r>
          </a:p>
          <a:p>
            <a:pPr lvl="0" indent="-342900" marL="342900">
              <a:buAutoNum startAt="2" type="arabicPeriod"/>
            </a:pPr>
            <a:r>
              <a:rPr sz="1800"/>
              <a:t>TOC - This organizes the boilerplate to make reading easier.</a:t>
            </a:r>
          </a:p>
          <a:p>
            <a:pPr lvl="0" indent="-342900" marL="342900">
              <a:buAutoNum startAt="3" type="arabicPeriod"/>
            </a:pPr>
            <a:r>
              <a:rPr sz="1800"/>
              <a:t>Proof - I really just read the specs. If they’re right the code is right!</a:t>
            </a:r>
          </a:p>
          <a:p>
            <a:pPr lvl="0" indent="-342900" marL="342900">
              <a:buAutoNum startAt="4" type="arabicPeriod"/>
            </a:pPr>
            <a:r>
              <a:rPr sz="1800"/>
              <a:t>Tests - are hugely useful when you don’t trust your coding team.</a:t>
            </a:r>
          </a:p>
          <a:p>
            <a:pPr lvl="0" indent="-342900" marL="342900">
              <a:buAutoNum startAt="5" type="arabicPeriod"/>
            </a:pPr>
            <a:r>
              <a:rPr sz="1800"/>
              <a:t>Formatting - rust formatting has been adopted in Verus. It is very low density. I built a minimizing formatter to cut down on my working memory load while reviewing. F* is much tighter.</a:t>
            </a:r>
          </a:p>
          <a:p>
            <a:pPr lvl="0"/>
            <a:r>
              <a:rPr sz="1800"/>
              <a:t>Will Nik et al. find spec problems when he Pulses APAS-VERUS? Almost certainly.</a:t>
            </a:r>
          </a:p>
          <a:p>
            <a:pPr lvl="0"/>
            <a:r>
              <a:rPr sz="1800"/>
              <a:t>Will Nik et al. find proof problems? That’s a really good question.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The AI Paired Programming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I have used web browers, yuck.</a:t>
            </a:r>
          </a:p>
          <a:p>
            <a:pPr lvl="0"/>
            <a:r>
              <a:rPr sz="1800"/>
              <a:t>Cut/Paste is horrible.</a:t>
            </a:r>
          </a:p>
          <a:p>
            <a:pPr lvl="0"/>
            <a:r>
              <a:rPr sz="1800"/>
              <a:t>I have used Cursor.</a:t>
            </a:r>
          </a:p>
          <a:p>
            <a:pPr lvl="0"/>
            <a:r>
              <a:rPr sz="1800"/>
              <a:t>Based on VSCode.</a:t>
            </a:r>
          </a:p>
          <a:p>
            <a:pPr lvl="0"/>
            <a:r>
              <a:rPr sz="1800"/>
              <a:t>Multiple windows - you can see your scripts run.</a:t>
            </a:r>
          </a:p>
          <a:p>
            <a:pPr lvl="0"/>
            <a:r>
              <a:rPr sz="1800"/>
              <a:t>It collapses or elides thinking which is quite limiting.</a:t>
            </a:r>
          </a:p>
          <a:p>
            <a:pPr lvl="0"/>
            <a:r>
              <a:rPr sz="1800"/>
              <a:t>It’s resale of AI LLM costs are terrible.</a:t>
            </a:r>
          </a:p>
          <a:p>
            <a:pPr lvl="0"/>
            <a:r>
              <a:rPr sz="1800"/>
              <a:t>I ran up a $2500 bill one month.</a:t>
            </a:r>
          </a:p>
          <a:p>
            <a:pPr lvl="0"/>
            <a:r>
              <a:rPr sz="1800"/>
              <a:t>It is decently interruptible so you can tune your instructions.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The AI Paired Programming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I have used Claude CLI the most.</a:t>
            </a:r>
          </a:p>
          <a:p>
            <a:pPr lvl="0"/>
            <a:r>
              <a:rPr sz="1800"/>
              <a:t>It has decided that a single window is all you need.</a:t>
            </a:r>
          </a:p>
          <a:p>
            <a:pPr lvl="0"/>
            <a:r>
              <a:rPr sz="1800"/>
              <a:t>You can pop open and close some detail.</a:t>
            </a:r>
          </a:p>
          <a:p>
            <a:pPr lvl="0"/>
            <a:r>
              <a:rPr sz="1800"/>
              <a:t>You can’t see thinking.</a:t>
            </a:r>
          </a:p>
          <a:p>
            <a:pPr lvl="0"/>
            <a:r>
              <a:rPr sz="1800"/>
              <a:t>It is somewhat better inside emacs.</a:t>
            </a:r>
          </a:p>
          <a:p>
            <a:pPr lvl="0"/>
            <a:r>
              <a:rPr sz="1800"/>
              <a:t>It clears your text in a variety of ways.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The AI Paired Programming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What you want is pretty obvious with experience: TEXT still rules.</a:t>
            </a:r>
          </a:p>
          <a:p>
            <a:pPr lvl="0"/>
            <a:r>
              <a:rPr sz="1800"/>
              <a:t>You want one window with your core interaction. The agent tells you what it is doing in it.</a:t>
            </a:r>
          </a:p>
          <a:p>
            <a:pPr lvl="0"/>
            <a:r>
              <a:rPr sz="1800"/>
              <a:t>You want one to watch your compile, tests and scripts.</a:t>
            </a:r>
          </a:p>
          <a:p>
            <a:pPr lvl="0"/>
            <a:r>
              <a:rPr sz="1800"/>
              <a:t>You want one window to have the LLM show you it’s thinking and allow you to question and change it.</a:t>
            </a:r>
          </a:p>
          <a:p>
            <a:pPr lvl="0"/>
            <a:r>
              <a:rPr sz="1800"/>
              <a:t>I learned a ton from watching agents think.</a:t>
            </a:r>
          </a:p>
          <a:p>
            <a:pPr lvl="0"/>
            <a:r>
              <a:rPr sz="1800"/>
              <a:t>I suspect they are hiding most of their thinking now to prevent them from being used to train new AIs.</a:t>
            </a:r>
          </a:p>
          <a:p>
            <a:pPr lvl="0"/>
            <a:r>
              <a:rPr sz="1800"/>
              <a:t>And you want it not to delete your previous conversation on token compression.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The Internet Apocalypse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I asked Claude Code to check its switches on startup for me, at the End of Jan 2026.</a:t>
            </a:r>
          </a:p>
          <a:p>
            <a:pPr lvl="0"/>
            <a:r>
              <a:rPr sz="1800"/>
              <a:t>It immediately started disassembling itself.</a:t>
            </a:r>
          </a:p>
          <a:p>
            <a:pPr lvl="0"/>
            <a:r>
              <a:rPr sz="1800"/>
              <a:t>Scared the heck out of me.</a:t>
            </a:r>
          </a:p>
          <a:p>
            <a:pPr lvl="0"/>
            <a:r>
              <a:rPr sz="1800"/>
              <a:t>I told it to read it’s docs.</a:t>
            </a:r>
          </a:p>
          <a:p>
            <a:pPr lvl="0"/>
            <a:r>
              <a:rPr sz="1800"/>
              <a:t>I have 100% belief that these LLMs are moving faster than computer security.</a:t>
            </a:r>
          </a:p>
          <a:p>
            <a:pPr lvl="0"/>
            <a:r>
              <a:rPr sz="1800"/>
              <a:t>It’s verify or die at this point.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The Internet Apocalypse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Where should we focus our limited, but quickly growing, proving power?</a:t>
            </a:r>
          </a:p>
          <a:p>
            <a:pPr lvl="0"/>
            <a:r>
              <a:rPr sz="1800"/>
              <a:t>In theory 70% of intrusions are solved by type safe languages.</a:t>
            </a:r>
          </a:p>
          <a:p>
            <a:pPr lvl="0"/>
            <a:r>
              <a:rPr sz="1800"/>
              <a:t>I suspect that this just ignores way too much of the human aspect.</a:t>
            </a:r>
          </a:p>
          <a:p>
            <a:pPr lvl="0"/>
            <a:r>
              <a:rPr sz="1800"/>
              <a:t>I have never liked a single estimation paper’s methods.</a:t>
            </a:r>
          </a:p>
          <a:p>
            <a:pPr lvl="0"/>
            <a:r>
              <a:rPr sz="1800"/>
              <a:t>One way to help us focus our new-found superpowers is to survey LOC type-unsafe x Interfaces x Running Services x $ Value.</a:t>
            </a:r>
          </a:p>
          <a:p>
            <a:pPr lvl="0"/>
            <a:r>
              <a:rPr sz="1800"/>
              <a:t>Inside MSFT you have the ability to measure inside Azure, the OS, the desktops, the browser use.</a:t>
            </a:r>
          </a:p>
          <a:p>
            <a:pPr lvl="0"/>
            <a:r>
              <a:rPr sz="1800"/>
              <a:t>I think you should at this point, and NOT TELL ANYONE!</a:t>
            </a:r>
          </a:p>
          <a:p>
            <a:pPr lvl="0"/>
            <a:r>
              <a:rPr sz="1800"/>
              <a:t>And use this cost risk model to evangelize for rapid change in MSFT products in a priority order.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Review of the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I’ve spoken about APAS, Rust, APAS’s AI implementation, Verus, etc.</a:t>
            </a:r>
          </a:p>
          <a:p>
            <a:pPr lvl="0"/>
            <a:r>
              <a:rPr sz="1800"/>
              <a:t>Let’s get to the questions!</a:t>
            </a:r>
          </a:p>
          <a:p>
            <a:pPr lvl="0"/>
            <a:r>
              <a:rPr sz="1800"/>
              <a:t>I have a ton of them for you! and I hope you have many for me.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Questions - F* and Pulse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Are F* modules really in use? If not, why?</a:t>
            </a:r>
          </a:p>
          <a:p>
            <a:pPr lvl="0"/>
            <a:r>
              <a:rPr sz="1800"/>
              <a:t>Got Functors?</a:t>
            </a:r>
          </a:p>
          <a:p>
            <a:pPr lvl="0"/>
            <a:r>
              <a:rPr sz="1800"/>
              <a:t>Are F* modules working with proof smoothly? Took me quite sometime.</a:t>
            </a:r>
          </a:p>
          <a:p>
            <a:pPr lvl="0"/>
            <a:r>
              <a:rPr sz="1800"/>
              <a:t>Does F* have a typed library search yet?</a:t>
            </a:r>
          </a:p>
          <a:p>
            <a:pPr lvl="0"/>
            <a:r>
              <a:rPr sz="1800"/>
              <a:t>Are typeclasses being heavily used?</a:t>
            </a:r>
          </a:p>
          <a:p>
            <a:pPr lvl="0"/>
            <a:r>
              <a:rPr sz="1800"/>
              <a:t>How fast is validation now?</a:t>
            </a:r>
          </a:p>
          <a:p>
            <a:pPr lvl="0"/>
            <a:r>
              <a:rPr sz="1800"/>
              <a:t>Nik you have any more statistics on AutoCLRS?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Did the PL community overly complicate things with higher-order types?</a:t>
            </a:r>
          </a:p>
          <a:p>
            <a:pPr lvl="0"/>
            <a:r>
              <a:rPr sz="1800"/>
              <a:t>What can you folks say about MSFT adoption of proven code?</a:t>
            </a:r>
          </a:p>
          <a:p>
            <a:pPr lvl="0"/>
            <a:r>
              <a:rPr sz="1800"/>
              <a:t>What are the biggest F* verified systems?</a:t>
            </a:r>
          </a:p>
          <a:p>
            <a:pPr lvl="0"/>
            <a:r>
              <a:rPr sz="1800"/>
              <a:t>What are the biggest Pulse verified sytems?</a:t>
            </a:r>
          </a:p>
          <a:p>
            <a:pPr lvl="0"/>
            <a:r>
              <a:rPr sz="1800"/>
              <a:t>Any quantitatives? Person days? AI days?</a:t>
            </a:r>
          </a:p>
          <a:p>
            <a:pPr lvl="0"/>
            <a:r>
              <a:rPr sz="1800"/>
              <a:t>Should I quit Verus and go learn Pulse?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Are you folks still using Make? That’s how I got started on this.</a:t>
            </a:r>
          </a:p>
          <a:p>
            <a:pPr lvl="0"/>
            <a:r>
              <a:rPr sz="1800"/>
              <a:t>Many programmers and worse, managers, complain about the programmer time to switch languages. Are you finding that you can switch languages with your AIs explaining things to you?</a:t>
            </a:r>
          </a:p>
          <a:p>
            <a:pPr lvl="0"/>
            <a:r>
              <a:rPr sz="1800"/>
              <a:t>Can we prove Rust’s (awful) std with Verus?</a:t>
            </a:r>
          </a:p>
          <a:p>
            <a:pPr lvl="0"/>
            <a:r>
              <a:rPr sz="1800"/>
              <a:t>Can we prove a compiler with Verus and EPR?</a:t>
            </a:r>
          </a:p>
          <a:p>
            <a:pPr lvl="0"/>
            <a:r>
              <a:rPr sz="1800"/>
              <a:t>Can we prove a TIL (Tarditi, Morrisett, Harper) like compiler?</a:t>
            </a:r>
          </a:p>
          <a:p>
            <a:pPr lvl="0"/>
            <a:r>
              <a:rPr sz="1800"/>
              <a:t>Can we verify a comp cert like compiler?</a:t>
            </a:r>
          </a:p>
          <a:p>
            <a:pPr lvl="0"/>
            <a:r>
              <a:rPr sz="1800"/>
              <a:t>Can we prove an OS in Verus?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Blood on the Road - Open Source =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Open Source is now Open Copy.</a:t>
            </a:r>
          </a:p>
          <a:p>
            <a:pPr lvl="0"/>
            <a:r>
              <a:rPr sz="1800"/>
              <a:t>with reports of 1/2 of AI time</a:t>
            </a:r>
          </a:p>
          <a:p>
            <a:pPr lvl="0"/>
            <a:r>
              <a:rPr sz="1800"/>
              <a:t>and with the US Government totally undermining copyright law.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Blood on the Road - Open Repositories =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Open repositories are now weakly locked doors.</a:t>
            </a:r>
          </a:p>
          <a:p>
            <a:pPr lvl="0"/>
            <a:r>
              <a:rPr sz="1800"/>
              <a:t>Agents can and have been used to inject invisble UNICODE attacks.</a:t>
            </a:r>
          </a:p>
          <a:p>
            <a:pPr lvl="0"/>
            <a:r>
              <a:rPr sz="1800"/>
              <a:t>Agents can now pass the Turing test, and more easily the programmer Turing test.</a:t>
            </a:r>
          </a:p>
          <a:p>
            <a:pPr lvl="0"/>
            <a:r>
              <a:rPr sz="1800"/>
              <a:t>They’ll submit code pretending to be human.</a:t>
            </a:r>
          </a:p>
          <a:p>
            <a:pPr lvl="0"/>
            <a:r>
              <a:rPr sz="1800"/>
              <a:t>They’ll steal credentials and submit code.</a:t>
            </a:r>
          </a:p>
          <a:p>
            <a:pPr lvl="0"/>
            <a:r>
              <a:rPr sz="1800"/>
              <a:t>LiteLLM is the most atrocious case lately.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Blood on the Road - Key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Authentication is going to be attacked brutally.</a:t>
            </a:r>
          </a:p>
          <a:p>
            <a:pPr lvl="0"/>
            <a:r>
              <a:rPr sz="1800"/>
              <a:t>Network services are going to be hacked left and right.</a:t>
            </a:r>
          </a:p>
          <a:p>
            <a:pPr lvl="0"/>
            <a:r>
              <a:rPr sz="1800"/>
              <a:t>Configurations are going to be heavily attacked.</a:t>
            </a:r>
          </a:p>
          <a:p>
            <a:pPr lvl="1"/>
            <a:r>
              <a:rPr sz="1800"/>
              <a:t>Using text files for these is already error prone.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Blood on the Road - Open Binaries =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Open binaries are next.</a:t>
            </a:r>
          </a:p>
          <a:p>
            <a:pPr lvl="0"/>
            <a:r>
              <a:rPr sz="1800"/>
              <a:t>They are going to be disassembled and recontructed.</a:t>
            </a:r>
          </a:p>
          <a:p>
            <a:pPr lvl="0"/>
            <a:r>
              <a:rPr sz="1800"/>
              <a:t>They are going to be rewritten in real time.</a:t>
            </a:r>
          </a:p>
          <a:p>
            <a:pPr lvl="0"/>
            <a:r>
              <a:rPr sz="1800"/>
              <a:t>Key solutions to this are:</a:t>
            </a:r>
          </a:p>
          <a:p>
            <a:pPr lvl="0"/>
            <a:r>
              <a:rPr sz="1800"/>
              <a:t>Binary packages from all repositories.</a:t>
            </a:r>
          </a:p>
          <a:p>
            <a:pPr lvl="0"/>
            <a:r>
              <a:rPr sz="1800"/>
              <a:t>Cryptographically signed.</a:t>
            </a:r>
          </a:p>
          <a:p>
            <a:pPr lvl="0"/>
            <a:r>
              <a:rPr sz="1800"/>
              <a:t>And protected from reading by the OS.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3200"/>
              <a:t>Questions - AI LLM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1800"/>
              <a:t>How fast is this moving?</a:t>
            </a:r>
          </a:p>
          <a:p>
            <a:pPr lvl="0"/>
            <a:r>
              <a:rPr sz="1800"/>
              <a:t>How much context do we need?</a:t>
            </a:r>
          </a:p>
          <a:p>
            <a:pPr lvl="0"/>
            <a:r>
              <a:rPr sz="1800"/>
              <a:t>How much speed do we have? T/S down and up?</a:t>
            </a:r>
          </a:p>
          <a:p>
            <a:pPr lvl="0"/>
            <a:r>
              <a:rPr sz="1800"/>
              <a:t>How much speed do we need?</a:t>
            </a:r>
          </a:p>
          <a:p>
            <a:pPr lvl="0"/>
            <a:r>
              <a:rPr sz="1800"/>
              <a:t>How much speed will we get?</a:t>
            </a:r>
          </a:p>
          <a:p>
            <a:pPr lvl="0"/>
            <a:r>
              <a:rPr sz="1800"/>
              <a:t>When it’s 10 times faster how will we use it?</a:t>
            </a:r>
          </a:p>
          <a:p>
            <a:pPr lvl="0"/>
            <a:r>
              <a:rPr sz="1800"/>
              <a:t>When will this really cost the user what it costs the provider?</a:t>
            </a:r>
          </a:p>
          <a:p>
            <a:pPr lvl="0"/>
            <a:r>
              <a:rPr sz="1800"/>
              <a:t>When will it get even better intermediate term memory?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2026-04-15T21:56:56Z</dcterms:created>
  <dcterms:modified xsi:type="dcterms:W3CDTF">2026-04-15T21:56:56Z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