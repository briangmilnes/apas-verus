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4" Type="http://schemas.openxmlformats.org/officeDocument/2006/relationships/viewProps" Target="viewProps.xml" /><Relationship Id="rId8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6" Type="http://schemas.openxmlformats.org/officeDocument/2006/relationships/tableStyles" Target="tableStyles.xml" /><Relationship Id="rId8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Its a pleasure to speak here at Micrsoft Research RISE Group.</a:t>
            </a:r>
          </a:p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No objects: it’s great for what it was invented for: modeling the real world and interfaces. by Ivan Sutherland 1962!</a:t>
            </a:r>
          </a:p>
          <a:p>
            <a:pPr lvl="0"/>
            <a:r>
              <a:rPr sz="1800"/>
              <a:t>Terminology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So reading Rust is every bit as scattered as reading C.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Clone</a:t>
            </a:r>
          </a:p>
          <a:p>
            <a:pPr lvl="1"/>
            <a:r>
              <a:rPr sz="1800"/>
              <a:t>fn clone(&amp;self) -&gt; Self</a:t>
            </a:r>
          </a:p>
          <a:p>
            <a:pPr lvl="1"/>
            <a:r>
              <a:rPr sz="1800"/>
              <a:t>Informal contract: returns a value equal to *self</a:t>
            </a:r>
          </a:p>
          <a:p>
            <a:pPr lvl="1"/>
            <a:r>
              <a:rPr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sz="1800"/>
              <a:t>Copy: Clone</a:t>
            </a:r>
          </a:p>
          <a:p>
            <a:pPr lvl="0"/>
            <a:r>
              <a:rPr sz="1800"/>
              <a:t>Copy is a subtrait of Clone — every Copy type must implement Clone</a:t>
            </a:r>
          </a:p>
          <a:p>
            <a:pPr lvl="0"/>
            <a:r>
              <a:rPr sz="1800"/>
              <a:t>Hard contract: clone() must be equivalent to a bitwise copy, i.e., clone() == *self</a:t>
            </a:r>
          </a:p>
          <a:p>
            <a:pPr lvl="0"/>
            <a:r>
              <a:rPr sz="1800"/>
              <a:t>This is documented in std: “if T: Copy, T::clone(&amp;x) must be equivalent to copying x”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Ugly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Roughly: – Clone::clone(&amp;self) -&gt; Self – ensures result == *self // convention for all Clone – Copy (marker, no methods) – requires T: Clone – ensures self.clone() == self // bitwise copy semantics</a:t>
            </a:r>
          </a:p>
          <a:p>
            <a:pPr lvl="0"/>
            <a:r>
              <a:rPr sz="1800"/>
              <a:t>What you really want is Rust to generate an == agreeing Copy and</a:t>
            </a:r>
          </a:p>
          <a:p>
            <a:pPr lvl="0"/>
            <a:r>
              <a:rPr sz="1800"/>
              <a:t>tell you if it can implement a clone for you that respects ==.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AI paired programming when I started.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1"/>
            <a:r>
              <a:rPr sz="1800"/>
              <a:t>1.2× the source code size which is heavy.</a:t>
            </a:r>
          </a:p>
          <a:p>
            <a:pPr lvl="1"/>
            <a:r>
              <a:rPr sz="1800"/>
              <a:t>But tests are cheap now.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</a:t>
            </a:r>
          </a:p>
          <a:p>
            <a:pPr lvl="0"/>
            <a:r>
              <a:rPr sz="1800"/>
              <a:t>spec functions, forall/exists, arithmetic, sets, sequences.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solver, Singular.</a:t>
            </a:r>
          </a:p>
          <a:p>
            <a:pPr lvl="0"/>
            <a:r>
              <a:rPr sz="1800"/>
              <a:t>Annotates existing Rust code - spec / proof / requires / ensures on fns</a:t>
            </a:r>
          </a:p>
          <a:p>
            <a:pPr lvl="0"/>
            <a:r>
              <a:rPr sz="1800"/>
              <a:t>Ships the Rust binary directly.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Generates OCaml, F#, C, Wasm</a:t>
            </a:r>
          </a:p>
          <a:p>
            <a:pPr lvl="0"/>
            <a:r>
              <a:rPr sz="1800"/>
              <a:t>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“Vec views as Seq”, “HashSet views as Set”.</a:t>
            </a:r>
          </a:p>
          <a:p>
            <a:pPr lvl="0"/>
            <a:r>
              <a:rPr sz="1800"/>
              <a:t>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common lemmas, Fns …</a:t>
            </a:r>
          </a:p>
          <a:p>
            <a:pPr lvl="0"/>
            <a:r>
              <a:rPr sz="1800"/>
              <a:t>Ghost types live only in the verifier — they have no runtime cost and no runtime representation.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Three specification constructs are used to give specs to Rust stdlib.</a:t>
            </a:r>
          </a:p>
          <a:p>
            <a:pPr lvl="0"/>
            <a:r>
              <a:rPr sz="1800"/>
              <a:t>A proxy struct that introduces a spec for a foreign type.</a:t>
            </a:r>
          </a:p>
          <a:p>
            <a:pPr lvl="0"/>
            <a:r>
              <a:rPr sz="1800"/>
              <a:t>The proxy struct name is conventionally ExTypeName.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proxy function with the same signature as the foreign function, carrying the requires/ensures.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external_fn_specification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ex_vec_push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(v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mut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Vec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T</a:t>
            </a:r>
            <a:r>
              <a:rPr sz="1800">
                <a:solidFill>
                  <a:srgbClr val="666666"/>
                </a:solidFill>
                <a:latin typeface="Courier"/>
              </a:rPr>
              <a:t>&gt;,</a:t>
            </a:r>
            <a:r>
              <a:rPr sz="1800">
                <a:latin typeface="Courier"/>
              </a:rPr>
              <a:t> value</a:t>
            </a:r>
            <a:r>
              <a:rPr sz="1800">
                <a:solidFill>
                  <a:srgbClr val="666666"/>
                </a:solidFill>
                <a:latin typeface="Courier"/>
              </a:rPr>
              <a:t>:</a:t>
            </a:r>
            <a:r>
              <a:rPr sz="1800">
                <a:latin typeface="Courier"/>
              </a:rPr>
              <a:t> T)</a:t>
            </a:r>
            <a:br/>
            <a:r>
              <a:rPr sz="1800">
                <a:latin typeface="Courier"/>
              </a:rPr>
              <a:t>      requires v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len() 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902000"/>
                </a:solidFill>
                <a:latin typeface="Courier"/>
              </a:rPr>
              <a:t>usize</a:t>
            </a:r>
            <a:r>
              <a:rPr sz="1800">
                <a:solidFill>
                  <a:srgbClr val="BC7A00"/>
                </a:solidFill>
                <a:latin typeface="Courier"/>
              </a:rPr>
              <a:t>::</a:t>
            </a:r>
            <a:r>
              <a:rPr sz="1800">
                <a:solidFill>
                  <a:srgbClr val="880000"/>
                </a:solidFill>
                <a:latin typeface="Courier"/>
              </a:rPr>
              <a:t>MAX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    ensures  v</a:t>
            </a:r>
            <a:r>
              <a:rPr sz="1800">
                <a:solidFill>
                  <a:srgbClr val="666666"/>
                </a:solidFill>
                <a:latin typeface="Courier"/>
              </a:rPr>
              <a:t>@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==</a:t>
            </a:r>
            <a:r>
              <a:rPr sz="1800">
                <a:latin typeface="Courier"/>
              </a:rPr>
              <a:t> old(v)</a:t>
            </a:r>
            <a:r>
              <a:rPr sz="1800">
                <a:solidFill>
                  <a:srgbClr val="666666"/>
                </a:solidFill>
                <a:latin typeface="Courier"/>
              </a:rPr>
              <a:t>@.</a:t>
            </a:r>
            <a:r>
              <a:rPr sz="1800">
                <a:latin typeface="Courier"/>
              </a:rPr>
              <a:t>push(value)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br/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.</a:t>
            </a:r>
            <a:r>
              <a:rPr sz="1800">
                <a:latin typeface="Courier"/>
              </a:rPr>
              <a:t>push(value) </a:t>
            </a:r>
            <a:r>
              <a:rPr sz="1800">
                <a:solidFill>
                  <a:srgbClr val="666666"/>
                </a:solidFill>
                <a:latin typeface="Courier"/>
              </a:rPr>
              <a:t>}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Declaring an external function/method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Add a View and specs to a foreign type.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</a:t>
            </a:r>
            <a:r>
              <a:rPr sz="1800">
                <a:solidFill>
                  <a:srgbClr val="7D9029"/>
                </a:solidFill>
                <a:latin typeface="Courier"/>
              </a:rPr>
              <a:t>#[</a:t>
            </a:r>
            <a:r>
              <a:rPr sz="1800">
                <a:solidFill>
                  <a:srgbClr val="BC7A00"/>
                </a:solidFill>
                <a:latin typeface="Courier"/>
              </a:rPr>
              <a:t>verifier::</a:t>
            </a:r>
            <a:r>
              <a:rPr sz="1800">
                <a:latin typeface="Courier"/>
              </a:rPr>
              <a:t>external_type_specification</a:t>
            </a:r>
            <a:r>
              <a:rPr sz="1800">
                <a:solidFill>
                  <a:srgbClr val="7D9029"/>
                </a:solidFill>
                <a:latin typeface="Courier"/>
              </a:rPr>
              <a:t>]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pub</a:t>
            </a:r>
            <a:r>
              <a:rPr sz="1800">
                <a:latin typeface="Courier"/>
              </a:rPr>
              <a:t> </a:t>
            </a:r>
            <a:r>
              <a:rPr sz="1800" b="1">
                <a:solidFill>
                  <a:srgbClr val="007020"/>
                </a:solidFill>
                <a:latin typeface="Courier"/>
              </a:rPr>
              <a:t>struct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(HashMap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)</a:t>
            </a:r>
            <a:r>
              <a:rPr sz="1800"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sz="1800">
                <a:latin typeface="Courier"/>
              </a:rPr>
              <a:t>  </a:t>
            </a:r>
            <a:r>
              <a:rPr sz="1800" b="1">
                <a:solidFill>
                  <a:srgbClr val="007020"/>
                </a:solidFill>
                <a:latin typeface="Courier"/>
              </a:rPr>
              <a:t>impl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View </a:t>
            </a:r>
            <a:r>
              <a:rPr sz="1800" b="1">
                <a:solidFill>
                  <a:srgbClr val="007020"/>
                </a:solidFill>
                <a:latin typeface="Courier"/>
              </a:rPr>
              <a:t>for</a:t>
            </a:r>
            <a:r>
              <a:rPr sz="1800">
                <a:latin typeface="Courier"/>
              </a:rPr>
              <a:t> ExHashMap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latin typeface="Courier"/>
              </a:rPr>
              <a:t>K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 sz="1800">
                <a:latin typeface="Courier"/>
              </a:rPr>
              <a:t>       </a:t>
            </a:r>
            <a:r>
              <a:rPr sz="1800" b="1">
                <a:solidFill>
                  <a:srgbClr val="007020"/>
                </a:solidFill>
                <a:latin typeface="Courier"/>
              </a:rPr>
              <a:t>type</a:t>
            </a:r>
            <a:r>
              <a:rPr sz="1800">
                <a:latin typeface="Courier"/>
              </a:rPr>
              <a:t> V </a:t>
            </a:r>
            <a:r>
              <a:rPr sz="1800">
                <a:solidFill>
                  <a:srgbClr val="666666"/>
                </a:solidFill>
                <a:latin typeface="Courier"/>
              </a:rPr>
              <a:t>=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</a:t>
            </a:r>
            <a:br/>
            <a:r>
              <a:rPr sz="1800">
                <a:latin typeface="Courier"/>
              </a:rPr>
              <a:t>       spec </a:t>
            </a:r>
            <a:r>
              <a:rPr sz="1800" b="1">
                <a:solidFill>
                  <a:srgbClr val="007020"/>
                </a:solidFill>
                <a:latin typeface="Courier"/>
              </a:rPr>
              <a:t>fn</a:t>
            </a:r>
            <a:r>
              <a:rPr sz="1800">
                <a:latin typeface="Courier"/>
              </a:rPr>
              <a:t> view(</a:t>
            </a:r>
            <a:r>
              <a:rPr sz="1800">
                <a:solidFill>
                  <a:srgbClr val="666666"/>
                </a:solidFill>
                <a:latin typeface="Courier"/>
              </a:rPr>
              <a:t>&amp;</a:t>
            </a:r>
            <a:r>
              <a:rPr sz="1800" b="1">
                <a:solidFill>
                  <a:srgbClr val="007020"/>
                </a:solidFill>
                <a:latin typeface="Courier"/>
              </a:rPr>
              <a:t>self</a:t>
            </a:r>
            <a:r>
              <a:rPr sz="1800">
                <a:latin typeface="Courier"/>
              </a:rPr>
              <a:t>) </a:t>
            </a:r>
            <a:r>
              <a:rPr sz="1800">
                <a:solidFill>
                  <a:srgbClr val="666666"/>
                </a:solidFill>
                <a:latin typeface="Courier"/>
              </a:rPr>
              <a:t>-&gt;</a:t>
            </a:r>
            <a:r>
              <a:rPr sz="1800">
                <a:latin typeface="Courier"/>
              </a:rPr>
              <a:t> Map</a:t>
            </a:r>
            <a:r>
              <a:rPr sz="1800">
                <a:solidFill>
                  <a:srgbClr val="666666"/>
                </a:solidFill>
                <a:latin typeface="Courier"/>
              </a:rPr>
              <a:t>&lt;</a:t>
            </a:r>
            <a:r>
              <a:rPr sz="1800">
                <a:solidFill>
                  <a:srgbClr val="BC7A00"/>
                </a:solidFill>
                <a:latin typeface="Courier"/>
              </a:rPr>
              <a:t>K::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,</a:t>
            </a:r>
            <a:r>
              <a:rPr sz="1800">
                <a:latin typeface="Courier"/>
              </a:rPr>
              <a:t> </a:t>
            </a:r>
            <a:r>
              <a:rPr sz="1800">
                <a:solidFill>
                  <a:srgbClr val="BC7A00"/>
                </a:solidFill>
                <a:latin typeface="Courier"/>
              </a:rPr>
              <a:t>V::</a:t>
            </a:r>
            <a:r>
              <a:rPr sz="1800">
                <a:latin typeface="Courier"/>
              </a:rPr>
              <a:t>V</a:t>
            </a:r>
            <a:r>
              <a:rPr sz="1800">
                <a:solidFill>
                  <a:srgbClr val="666666"/>
                </a:solidFill>
                <a:latin typeface="Courier"/>
              </a:rPr>
              <a:t>&gt;;}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sz="1800"/>
              <a:t>Transitions and an inductive invariant are proved once, globally.</a:t>
            </a:r>
          </a:p>
          <a:p>
            <a:pPr lvl="0"/>
            <a:r>
              <a:rPr sz="1800"/>
              <a:t>Verus auto-generates ghost token types and exchange functions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</a:t>
            </a:r>
          </a:p>
          <a:p>
            <a:pPr lvl="1"/>
            <a:r>
              <a:rPr sz="1800"/>
              <a:t>Every algorithm gets a machine-checked proof</a:t>
            </a:r>
          </a:p>
          <a:p>
            <a:pPr lvl="1"/>
            <a:r>
              <a:rPr sz="1800"/>
              <a:t>no admitted lemmas,</a:t>
            </a:r>
          </a:p>
          <a:p>
            <a:pPr lvl="1"/>
            <a:r>
              <a:rPr sz="1800"/>
              <a:t>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Rust std.</a:t>
            </a:r>
          </a:p>
          <a:p>
            <a:pPr lvl="0"/>
            <a:r>
              <a:rPr sz="1800"/>
              <a:t>But as you’ll see I had to write some axioms and admit a class of functions.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26 vstdplus library modules, mostly making Views.</a:t>
            </a:r>
          </a:p>
          <a:p>
            <a:pPr lvl="0"/>
            <a:r>
              <a:rPr sz="1800"/>
              <a:t>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proof obligations, 0 errors.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Full Validation Cost (2026-04-12)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Elapsed: 210s</a:t>
            </a:r>
          </a:p>
          <a:p>
            <a:pPr lvl="0"/>
            <a:r>
              <a:rPr sz="1800"/>
              <a:t>rust_verify RSS: 10,278 MB (~10 GB)</a:t>
            </a:r>
          </a:p>
          <a:p>
            <a:pPr lvl="0"/>
            <a:r>
              <a:rPr sz="1800"/>
              <a:t>Z3 RSS: 6,874 MB (~6.7 GB)</a:t>
            </a:r>
          </a:p>
          <a:p>
            <a:pPr lvl="0"/>
            <a:r>
              <a:rPr sz="1800"/>
              <a:t>rust_verify CPU: 216s</a:t>
            </a:r>
          </a:p>
          <a:p>
            <a:pPr lvl="0"/>
            <a:r>
              <a:rPr sz="1800"/>
              <a:t>Z3 CPU: 265s</a:t>
            </a:r>
          </a:p>
          <a:p>
            <a:pPr lvl="0"/>
            <a:r>
              <a:rPr sz="1800"/>
              <a:t>But I have had Z3 jump up to as much as 28 GB when I write bad proofs.</a:t>
            </a:r>
          </a:p>
          <a:p>
            <a:pPr lvl="0"/>
            <a:r>
              <a:rPr sz="1800"/>
              <a:t>Somewhere in it I suspect there is a novel formal verification of some algorithm.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</a:t>
            </a:r>
          </a:p>
          <a:p>
            <a:pPr lvl="1"/>
            <a:r>
              <a:rPr sz="1800"/>
              <a:t>221 pass in 259 s.</a:t>
            </a:r>
          </a:p>
          <a:p>
            <a:pPr lvl="1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</a:t>
            </a:r>
          </a:p>
          <a:p>
            <a:pPr lvl="0"/>
            <a:r>
              <a:rPr sz="1800"/>
              <a:t>2 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That’s another verus pain point but not too bad.</a:t>
            </a:r>
          </a:p>
          <a:p>
            <a:pPr lvl="0"/>
            <a:r>
              <a:rPr sz="1800"/>
              <a:t>Plus, they knew F* and Pulse to start!</a:t>
            </a:r>
          </a:p>
          <a:p>
            <a:pPr lvl="0"/>
            <a:r>
              <a:rPr sz="1800"/>
              <a:t>And they did a formal specification of algorithmic complexity!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</a:t>
            </a:r>
          </a:p>
          <a:p>
            <a:pPr lvl="0"/>
            <a:r>
              <a:rPr sz="1800"/>
              <a:t>Metrics: veracity-count-loc (spec/proof/exec breakdown),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 chapter-cleanliness-status (clean vs. holed chapter summary).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All tools are AST-aware (ra_ap_syntax / Verus_syn).</a:t>
            </a:r>
          </a:p>
          <a:p>
            <a:pPr lvl="0"/>
            <a:r>
              <a:rPr sz="1800"/>
              <a:t>A string-hacking detector flags usage of string manipulation instead of AST work.</a:t>
            </a:r>
          </a:p>
          <a:p>
            <a:pPr lvl="0"/>
            <a:r>
              <a:rPr sz="1800"/>
              <a:t>And when bugs appeared they were mostly string hacking.</a:t>
            </a:r>
          </a:p>
          <a:p>
            <a:pPr lvl="0"/>
            <a:r>
              <a:rPr sz="1800"/>
              <a:t>Because no matter what I said to my AIs they LOVE string hacking shortcuts.</a:t>
            </a:r>
          </a:p>
          <a:p>
            <a:pPr lvl="0"/>
            <a:r>
              <a:rPr sz="1800"/>
              <a:t>Heck, I had to run the string hacking detector on the string hacking detector.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Search: veracity-search — type directed search over vstd</a:t>
            </a:r>
          </a:p>
          <a:p>
            <a:pPr lvl="0"/>
            <a:r>
              <a:rPr sz="1800"/>
              <a:t>APAS-VERUS by type signature, finding lemmas before writing new ones.</a:t>
            </a:r>
          </a:p>
          <a:p>
            <a:pPr lvl="0"/>
            <a:r>
              <a:rPr sz="1800"/>
              <a:t>“Specifications as Search Keys for Software Libraries” Eugene J. Rollins and Jeannette M. Wing</a:t>
            </a:r>
          </a:p>
          <a:p>
            <a:pPr lvl="0"/>
            <a:r>
              <a:rPr sz="1800"/>
              <a:t>Written for my sins of asking why does vstd not have X, when it did!</a:t>
            </a:r>
          </a:p>
          <a:p>
            <a:pPr lvl="0"/>
            <a:r>
              <a:rPr sz="1800"/>
              <a:t>Even more useful for my AI’s sins.</a:t>
            </a:r>
          </a:p>
          <a:p>
            <a:pPr lvl="0"/>
            <a:r>
              <a:rPr sz="1800"/>
              <a:t>This allowed me to download ALL known Verus (git VerusCodebases) and have my AI search them in 1.2 seconds!</a:t>
            </a:r>
          </a:p>
          <a:p>
            <a:pPr lvl="0"/>
            <a:r>
              <a:rPr sz="1800"/>
              <a:t>Does F*/Pulse have one yet?</a:t>
            </a:r>
          </a:p>
          <a:p>
            <a:pPr lvl="0"/>
            <a:r>
              <a:rPr sz="1800"/>
              <a:t>It only took about a day.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complexity and informally proves many of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 intentionally.</a:t>
            </a:r>
          </a:p>
          <a:p>
            <a:pPr lvl="0"/>
            <a:r>
              <a:rPr sz="1800"/>
              <a:t>Then I wrote a programmatic tool to find and list mismatches.</a:t>
            </a:r>
          </a:p>
          <a:p>
            <a:pPr lvl="0"/>
            <a:r>
              <a:rPr sz="1800"/>
              <a:t>Then I had Claude Opus do it’s analysis and compare every function with the textbook’s.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Iteration in Rust is rather complex.</a:t>
            </a:r>
          </a:p>
          <a:p>
            <a:pPr lvl="0"/>
            <a:r>
              <a:rPr sz="1800"/>
              <a:t>70 functions on iterator but only 7 functions cover the 90% case.</a:t>
            </a:r>
          </a:p>
          <a:p>
            <a:pPr lvl="0"/>
            <a:r>
              <a:rPr sz="1800"/>
              <a:t>And in Verus it’s a bit more complex and takes some time to learn.</a:t>
            </a:r>
          </a:p>
          <a:p>
            <a:pPr lvl="0"/>
            <a:r>
              <a:rPr sz="1800"/>
              <a:t>10 components required per collection (all inside Verus!)</a:t>
            </a:r>
          </a:p>
          <a:p>
            <a:pPr lvl="0"/>
            <a:r>
              <a:rPr sz="1800"/>
              <a:t>6 verified loop patterns per collection</a:t>
            </a:r>
          </a:p>
          <a:p>
            <a:pPr lvl="0"/>
            <a:r>
              <a:rPr sz="1800"/>
              <a:t>{loop, for} X {borrow iter, borrow into, consume}</a:t>
            </a:r>
          </a:p>
          <a:p>
            <a:pPr lvl="0"/>
            <a:r>
              <a:rPr sz="1800"/>
              <a:t>Iterators requires one assume!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adding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but that one assume is fully proved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 over my collections ADTs.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168 experiment files</a:t>
            </a:r>
          </a:p>
          <a:p>
            <a:pPr lvl="0"/>
            <a:r>
              <a:rPr sz="1800"/>
              <a:t>21,476 lines of code (not counted in the totals)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107 files: SUCCEEDS / VERIFIES — pattern adopted into codebase</a:t>
            </a:r>
          </a:p>
          <a:p>
            <a:pPr lvl="0"/>
            <a:r>
              <a:rPr sz="1800"/>
              <a:t>61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finally built a set of coding standards in Verus Rust and in comments.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are mostly AI checked except an extensive code styling checker in Veracity.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29 standard files</a:t>
            </a:r>
          </a:p>
          <a:p>
            <a:pPr lvl="1"/>
            <a:r>
              <a:rPr sz="1800"/>
              <a:t>6,911 lines total</a:t>
            </a:r>
          </a:p>
          <a:p>
            <a:pPr lvl="0"/>
            <a:r>
              <a:rPr sz="1800"/>
              <a:t>Doing this earlier would have really sped things up.</a:t>
            </a:r>
          </a:p>
          <a:p>
            <a:pPr lvl="0"/>
            <a:r>
              <a:rPr sz="1800"/>
              <a:t>My CLAUDE.md would just not do enough even with 50KB and 13K tokens.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And for readability table of contents with an ordering.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Question what are your favorite AI rules?</a:t>
            </a:r>
          </a:p>
          <a:p>
            <a:pPr lvl="0"/>
            <a:r>
              <a:rPr sz="1800"/>
              <a:t>Mine are Don’t Over Think, DISCUSS and</a:t>
            </a:r>
          </a:p>
          <a:p>
            <a:pPr lvl="0"/>
            <a:r>
              <a:rPr sz="1800"/>
              <a:t>PBOGH: Prove Big or Go HOME!</a:t>
            </a:r>
          </a:p>
          <a:p>
            <a:pPr lvl="0"/>
            <a:r>
              <a:rPr sz="1800"/>
              <a:t>You just have to tell the agents keep on proving!</a:t>
            </a:r>
          </a:p>
          <a:p>
            <a:pPr lvl="0"/>
            <a:r>
              <a:rPr sz="1800"/>
              <a:t>Are you building big CLAUDE.md?</a:t>
            </a:r>
          </a:p>
          <a:p>
            <a:pPr lvl="0"/>
            <a:r>
              <a:rPr sz="1800"/>
              <a:t>Or Cursor Rules?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many correct but bloated proofs</a:t>
            </a:r>
          </a:p>
          <a:p>
            <a:pPr lvl="1"/>
            <a:r>
              <a:rPr sz="1800"/>
              <a:t>redundant asserts, unnecessary proof blocks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So I wrote a proof minimizer: veracity-minimize-proofs.</a:t>
            </a:r>
          </a:p>
          <a:p>
            <a:pPr lvl="0"/>
            <a:r>
              <a:rPr sz="1800"/>
              <a:t>It tests each assert and proof block individually: removes it, re-verify, comment it out if it is not needed and it does not increase time or memory.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dropped by 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accept(P)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6,081 // Veracity: NEEDED assert</a:t>
            </a:r>
          </a:p>
          <a:p>
            <a:pPr lvl="0"/>
            <a:r>
              <a:rPr sz="1800"/>
              <a:t>4,681 // Veracity: NEEDED proof block</a:t>
            </a:r>
          </a:p>
          <a:p>
            <a:pPr lvl="0"/>
            <a:r>
              <a:rPr sz="1800"/>
              <a:t>1,502 // Veracity: NEEDED assert (speed)</a:t>
            </a:r>
          </a:p>
          <a:p>
            <a:pPr lvl="0"/>
            <a:r>
              <a:rPr sz="1800"/>
              <a:t>245 // Veracity: NEEDED proof block (speed)—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1,452 // Veracity: UNNEEDED and commented out!</a:t>
            </a:r>
          </a:p>
          <a:p>
            <a:pPr lvl="0"/>
            <a:r>
              <a:rPr sz="1800"/>
              <a:t>71 // Veracity: no_requires marked when looking for missing specs.</a:t>
            </a:r>
          </a:p>
          <a:p>
            <a:pPr lvl="0"/>
            <a:r>
              <a:rPr sz="1800"/>
              <a:t>108 accept(P)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  <a:p>
            <a:pPr lvl="0"/>
            <a:r>
              <a:rPr sz="1800"/>
              <a:t>14,317 total fn definitions in std/core/alloc in Rust</a:t>
            </a:r>
          </a:p>
          <a:p>
            <a:pPr lvl="0"/>
            <a:r>
              <a:rPr sz="1800"/>
              <a:t>4,965 pub fn definitions in std/core/alloc in Rust</a:t>
            </a:r>
          </a:p>
          <a:p>
            <a:pPr lvl="0"/>
            <a:r>
              <a:rPr sz="1800"/>
              <a:t>But how many of those private functions do we need? I don’t know.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is much more like 2000 distinct functions.</a:t>
            </a:r>
          </a:p>
          <a:p>
            <a:pPr lvl="0"/>
            <a:r>
              <a:rPr sz="1800"/>
              <a:t>And I wrote this in 160 days while learning Verus.</a:t>
            </a:r>
          </a:p>
          <a:p>
            <a:pPr lvl="0"/>
            <a:r>
              <a:rPr sz="1800"/>
              <a:t>At least 30 of those days were understanding and working around pain points.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Five techiniques were used to optimize</a:t>
            </a:r>
          </a:p>
          <a:p>
            <a:pPr lvl="1"/>
            <a:r>
              <a:rPr sz="1800"/>
              <a:t>minimize-proofs</a:t>
            </a:r>
          </a:p>
          <a:p>
            <a:pPr lvl="1"/>
            <a:r>
              <a:rPr sz="1800"/>
              <a:t>profiling</a:t>
            </a:r>
          </a:p>
          <a:p>
            <a:pPr lvl="1"/>
            <a:r>
              <a:rPr sz="1800"/>
              <a:t>splitting specs and applying them just where they are needed</a:t>
            </a:r>
          </a:p>
          <a:p>
            <a:pPr lvl="1"/>
            <a:r>
              <a:rPr sz="1800"/>
              <a:t>opaque - to hide a definition within the module</a:t>
            </a:r>
          </a:p>
          <a:p>
            <a:pPr lvl="1"/>
            <a:r>
              <a:rPr sz="1800"/>
              <a:t>private spec - to hide a definition across modules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used in a required module.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 tools.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With this Ordered Tables, which are not too complex, were much easier to prove.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plans,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say I can’t prove that!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 Code Review! But really Spec review.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sz="1800"/>
              <a:t>Formatting - rust formatting has been adopted in Verus. It is very low density. I built a minimizing formatter to cut down on my working memory load while reviewing. F* is much tighter.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Installation protected in the OS.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about three days to get a proving model (Treap) with modules.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2026-04-16T03:53:05Z</dcterms:created>
  <dcterms:modified xsi:type="dcterms:W3CDTF">2026-04-16T03:53:05Z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